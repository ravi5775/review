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65" r:id="rId13"/>
    <p:sldId id="266" r:id="rId14"/>
    <p:sldId id="267" r:id="rId15"/>
    <p:sldId id="268" r:id="rId16"/>
    <p:sldId id="269" r:id="rId17"/>
    <p:sldId id="270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86EAD-8522-460D-87A1-8717058DC3F8}" v="4" dt="2026-03-27T18:01:56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C8BD0E-8BE4-4EE1-B339-BC4162D99FE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A6D53-78AF-401C-88B5-547841049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726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0b155d503_2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3c0b155d503_2_27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c0b155d503_2_27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0b155d503_2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3c0b155d503_2_35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c0b155d503_2_35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78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1645920"/>
            <a:ext cx="7772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CampusWise Smart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8CAE4"/>
                </a:solidFill>
                <a:latin typeface="Calibri"/>
              </a:rPr>
              <a:t>Integrated Campus Resource &amp; Workforce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Final Review (3rd Review)  ·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5943600" cy="2606040"/>
          </a:xfrm>
          <a:prstGeom prst="rect">
            <a:avLst/>
          </a:prstGeom>
          <a:solidFill>
            <a:srgbClr val="132A52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alibri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BTAP4502 – Project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472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alibri"/>
              </a:rPr>
              <a:t>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4472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B.Tech – CSE (AI&amp;DS)  |  Semester VIII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313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alibri"/>
              </a:rPr>
              <a:t>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8313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Computer Science &amp; Engineering – AI&amp;DS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1538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alibri"/>
              </a:rPr>
              <a:t>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2153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The Apollo University, Chittoor, 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994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alibri"/>
              </a:rPr>
              <a:t>Supervisor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5994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Vivekanandan.T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alibri"/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9834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Pavan Adabala  |  Reg. No: 122210701103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371600"/>
            <a:ext cx="3291840" cy="1051560"/>
          </a:xfrm>
          <a:prstGeom prst="rect">
            <a:avLst/>
          </a:prstGeom>
          <a:solidFill>
            <a:srgbClr val="132A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5087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299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Core
Modules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606040"/>
            <a:ext cx="3291840" cy="1051560"/>
          </a:xfrm>
          <a:prstGeom prst="rect">
            <a:avLst/>
          </a:prstGeom>
          <a:solidFill>
            <a:srgbClr val="132A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27432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644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User
Roles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840480"/>
            <a:ext cx="3291840" cy="1051560"/>
          </a:xfrm>
          <a:prstGeom prst="rect">
            <a:avLst/>
          </a:prstGeom>
          <a:solidFill>
            <a:srgbClr val="132A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977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98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DB
Migrations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5074920"/>
            <a:ext cx="3291840" cy="1051560"/>
          </a:xfrm>
          <a:prstGeom prst="rect">
            <a:avLst/>
          </a:prstGeom>
          <a:solidFill>
            <a:srgbClr val="132A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52120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7332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Abstract &amp;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What is CampusWise Smart Hub?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CampusWise Smart Hub is a comprehensive, role-based campus management platform that unifies venue booking, staff workload tracking, energy &amp; water monitoring, equipment maintenance, and training into one integrated web application with real-time WebSocket synchronization, 7-level RBAC, and enterprise-grade security.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03120"/>
            <a:ext cx="5669280" cy="1828800"/>
          </a:xfrm>
          <a:prstGeom prst="rect">
            <a:avLst/>
          </a:prstGeom>
          <a:solidFill>
            <a:srgbClr val="132A52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91440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  <a:latin typeface="Calibri"/>
              </a:rPr>
              <a:t>Full-Stack Web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React 18 + TypeScript frontend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Node.js + Express REST API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PostgreSQL relational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03120"/>
            <a:ext cx="5669280" cy="1828800"/>
          </a:xfrm>
          <a:prstGeom prst="rect">
            <a:avLst/>
          </a:prstGeom>
          <a:solidFill>
            <a:srgbClr val="132A52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103120"/>
            <a:ext cx="91440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  <a:latin typeface="Calibri"/>
              </a:rPr>
              <a:t>Educational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06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Addresses inefficiencies in Indian HEIs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Aligns with NAAC / NBA accreditation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Post-pandemic hybrid resource allocation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14800"/>
            <a:ext cx="5669280" cy="1828800"/>
          </a:xfrm>
          <a:prstGeom prst="rect">
            <a:avLst/>
          </a:prstGeom>
          <a:solidFill>
            <a:srgbClr val="132A52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114800"/>
            <a:ext cx="91440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  <a:latin typeface="Calibri"/>
              </a:rPr>
              <a:t>Enterprise Resource Plan.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177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Replaces 5+ fragmented tools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Unified ERP with real-time analytics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Automated approval workflows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114800"/>
            <a:ext cx="5669280" cy="1828800"/>
          </a:xfrm>
          <a:prstGeom prst="rect">
            <a:avLst/>
          </a:prstGeom>
          <a:solidFill>
            <a:srgbClr val="132A52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4114800"/>
            <a:ext cx="91440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  <a:latin typeface="Calibri"/>
              </a:rPr>
              <a:t>Security-First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177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JWT + bcrypt + WAF protection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7-level RBAC hierarchy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0F4F8"/>
                </a:solidFill>
                <a:latin typeface="Calibri"/>
              </a:rPr>
              <a:t>▸  Immutable audit trail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Operational Inefficiencies in Campus Resource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Educational institutions face significant operational inefficiencies due to manual, fragmented resource management — resulting in resource underutilization, energy wastage, scheduling conflicts, and slow approval workflows.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2176272" cy="1417320"/>
          </a:xfrm>
          <a:prstGeom prst="rect">
            <a:avLst/>
          </a:prstGeom>
          <a:solidFill>
            <a:srgbClr val="132A52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874519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146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Resource
Utilization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718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₹4.2L annual waste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828800"/>
            <a:ext cx="2176272" cy="1417320"/>
          </a:xfrm>
          <a:prstGeom prst="rect">
            <a:avLst/>
          </a:prstGeom>
          <a:solidFill>
            <a:srgbClr val="132A52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33472" y="1874519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5146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Above Optimal
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29718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₹3.8L excess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6904" y="1828800"/>
            <a:ext cx="2176272" cy="1417320"/>
          </a:xfrm>
          <a:prstGeom prst="rect">
            <a:avLst/>
          </a:prstGeom>
          <a:solidFill>
            <a:srgbClr val="132A52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46904" y="1874519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25146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Conflicts
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6904" y="29718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156 hrs rescheduling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1828800"/>
            <a:ext cx="2176272" cy="1417320"/>
          </a:xfrm>
          <a:prstGeom prst="rect">
            <a:avLst/>
          </a:prstGeom>
          <a:solidFill>
            <a:srgbClr val="132A52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0336" y="1874519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3–5d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25146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Approval
Turnaround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29718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Event planning delays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73768" y="1828800"/>
            <a:ext cx="2176272" cy="1417320"/>
          </a:xfrm>
          <a:prstGeom prst="rect">
            <a:avLst/>
          </a:prstGeom>
          <a:solidFill>
            <a:srgbClr val="132A52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73768" y="1874519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24.5h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25146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Workload
Variance 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297180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Burnout &amp; attrition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520440"/>
            <a:ext cx="11521440" cy="2560320"/>
          </a:xfrm>
          <a:prstGeom prst="rect">
            <a:avLst/>
          </a:prstGeom>
          <a:solidFill>
            <a:srgbClr val="132A52"/>
          </a:solidFill>
          <a:ln w="63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  <a:latin typeface="Calibri"/>
              </a:rPr>
              <a:t>Why a Unified Solution is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950208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0F4F8"/>
                </a:solidFill>
                <a:latin typeface="Calibri"/>
              </a:rPr>
              <a:t>▸  Unified Platform — Single system replacing 5+ fragmented tools with shared data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0F4F8"/>
                </a:solidFill>
                <a:latin typeface="Calibri"/>
              </a:rPr>
              <a:t>▸  Real-Time Visibility — Instant updates via WebSocket, eliminating stale data conflicts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0F4F8"/>
                </a:solidFill>
                <a:latin typeface="Calibri"/>
              </a:rPr>
              <a:t>▸  Automated Workflows — Approval chains with escalation, reducing human intervention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0F4F8"/>
                </a:solidFill>
                <a:latin typeface="Calibri"/>
              </a:rPr>
              <a:t>▸  Data-Driven Decisions — Analytics dashboards for proactive, not reactive, management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0F4F8"/>
                </a:solidFill>
                <a:latin typeface="Calibri"/>
              </a:rPr>
              <a:t>▸  Security-First Design — JWT + session enforcement + WAF protection from day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SMART Framework — 8 Primary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623560" cy="114300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0292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216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Unified Management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Single dashboard for all 11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143000"/>
            <a:ext cx="5623560" cy="114300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143000"/>
            <a:ext cx="50292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6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216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Real-Time Booking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&lt;100ms WebSocket update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5623560" cy="114300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50292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2743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496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HR Workload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26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100% staff tracked with stress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423160"/>
            <a:ext cx="5623560" cy="114300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80760" y="2423160"/>
            <a:ext cx="50292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2743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O4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496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Energy Monitoring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926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Real-time meters + anomaly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03320"/>
            <a:ext cx="5623560" cy="114300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703320"/>
            <a:ext cx="50292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4023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O5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7764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Water Management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Leak detection alerts + location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069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3703320"/>
            <a:ext cx="5623560" cy="114300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80760" y="3703320"/>
            <a:ext cx="50292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80760" y="4023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O6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7764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7-Level RBAC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Student → Management hierarchy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4069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983480"/>
            <a:ext cx="5623560" cy="114300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4983480"/>
            <a:ext cx="50292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5303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O7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0566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Enterprise-Grade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486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JWT + session + WAF + immutable audit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3212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4983480"/>
            <a:ext cx="5623560" cy="114300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80760" y="4983480"/>
            <a:ext cx="50292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80760" y="5303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O8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0566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PostgreSQL Migration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486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Zero localStorage data dependency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Review of 12 Key Research Papers — Research Gap Addressed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0574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17957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Author &amp;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143000"/>
            <a:ext cx="24231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117957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Focus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143000"/>
            <a:ext cx="30632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5192" y="11795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Key Finding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143000"/>
            <a:ext cx="28803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74152" y="117957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Research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90472"/>
            <a:ext cx="205740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" y="154533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CAE4"/>
                </a:solidFill>
                <a:latin typeface="Calibri"/>
              </a:rPr>
              <a:t>Chen et al., 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1490472"/>
            <a:ext cx="242316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96312" y="1545336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IoT Campus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1490472"/>
            <a:ext cx="306324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65192" y="1545336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30% energy waste reduction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1490472"/>
            <a:ext cx="288036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74152" y="1545336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No booking/HR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057400"/>
            <a:ext cx="2057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2112264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CAE4"/>
                </a:solidFill>
                <a:latin typeface="Calibri"/>
              </a:rPr>
              <a:t>Kumar &amp; Singh, 2022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2057400"/>
            <a:ext cx="242316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96312" y="2112264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Real-Time Booking (WS)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2057400"/>
            <a:ext cx="306324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65192" y="211226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60% faster response vs. polling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2057400"/>
            <a:ext cx="288036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74152" y="211226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Single-purpose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624328"/>
            <a:ext cx="205740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3192" y="267919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CAE4"/>
                </a:solidFill>
                <a:latin typeface="Calibri"/>
              </a:rPr>
              <a:t>Johnson et al., 2023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2624328"/>
            <a:ext cx="242316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96312" y="2679192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RBAC Enterprise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2624328"/>
            <a:ext cx="306324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65192" y="26791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45% fewer security incidents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2624328"/>
            <a:ext cx="288036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74152" y="2679192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Not for academic hierarchies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191256"/>
            <a:ext cx="2057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3192" y="3246120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CAE4"/>
                </a:solidFill>
                <a:latin typeface="Calibri"/>
              </a:rPr>
              <a:t>Wang &amp; Lee, 2022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23160" y="3191256"/>
            <a:ext cx="242316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96312" y="3246120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Predictive Maintenance (ML)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3191256"/>
            <a:ext cx="306324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65192" y="32461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85% failure prediction accuracy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1000" y="3191256"/>
            <a:ext cx="288036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74152" y="324612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Siloed from HR/scheduling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758184"/>
            <a:ext cx="205740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3192" y="3813048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CAE4"/>
                </a:solidFill>
                <a:latin typeface="Calibri"/>
              </a:rPr>
              <a:t>Patel et al., 2023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3758184"/>
            <a:ext cx="242316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96312" y="3813048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Energy Management Systems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3758184"/>
            <a:ext cx="306324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65192" y="381304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25% consumption reduction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3758184"/>
            <a:ext cx="288036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74152" y="381304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No workflow integration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325112"/>
            <a:ext cx="2057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3192" y="437997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CAE4"/>
                </a:solidFill>
                <a:latin typeface="Calibri"/>
              </a:rPr>
              <a:t>Anderson, 2022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23160" y="4325112"/>
            <a:ext cx="242316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496312" y="4379976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Smart Water Metering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92040" y="4325112"/>
            <a:ext cx="306324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65192" y="4379976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10× faster leak detection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01000" y="4325112"/>
            <a:ext cx="288036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74152" y="4379976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Standalone, no campus link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892040"/>
            <a:ext cx="205740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3192" y="4946904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CAE4"/>
                </a:solidFill>
                <a:latin typeface="Calibri"/>
              </a:rPr>
              <a:t>Thompson, 2023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23160" y="4892040"/>
            <a:ext cx="242316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496312" y="4946904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HR Workload Optimization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92040" y="4892040"/>
            <a:ext cx="306324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965192" y="494690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40% burnout reduction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01000" y="4892040"/>
            <a:ext cx="2880360" cy="530352"/>
          </a:xfrm>
          <a:prstGeom prst="rect">
            <a:avLst/>
          </a:prstGeom>
          <a:solidFill>
            <a:srgbClr val="132A52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074152" y="494690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No real-time monitoring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458968"/>
            <a:ext cx="205740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93192" y="551383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CAE4"/>
                </a:solidFill>
                <a:latin typeface="Calibri"/>
              </a:rPr>
              <a:t>Davis et al., 2023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23160" y="5458968"/>
            <a:ext cx="242316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496312" y="5513832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PostgreSQL Performance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92040" y="5458968"/>
            <a:ext cx="306324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65192" y="551383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Calibri"/>
              </a:rPr>
              <a:t>70% query speed improvement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01000" y="5458968"/>
            <a:ext cx="2880360" cy="530352"/>
          </a:xfrm>
          <a:prstGeom prst="rect">
            <a:avLst/>
          </a:prstGeom>
          <a:solidFill>
            <a:srgbClr val="1E293B"/>
          </a:solidFill>
          <a:ln w="381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074152" y="5513832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App-specific tuning needed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6144768"/>
            <a:ext cx="1152144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  <a:latin typeface="Calibri"/>
              </a:rPr>
              <a:t>Our Contribution: Single integrated platform bridging ALL research gaps — unified auth, cross-module analytics, real-time sync, enterprise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Existing vs.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Why CampusWise Outperforms Current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40" y="1143000"/>
            <a:ext cx="4114800" cy="36576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95160" y="1143000"/>
            <a:ext cx="4846320" cy="3657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188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0A0"/>
                </a:solidFill>
                <a:latin typeface="Calibri"/>
              </a:rPr>
              <a:t>❌  Existing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188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Calibri"/>
              </a:rPr>
              <a:t>✅  CampusWise Smart 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508760"/>
            <a:ext cx="246888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34640" y="1508760"/>
            <a:ext cx="411480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95160" y="1508760"/>
            <a:ext cx="484632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Data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600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Calibri"/>
              </a:rPr>
              <a:t>Manual refresh / polling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alibri"/>
              </a:rPr>
              <a:t>Real-time WebSocket push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75688"/>
            <a:ext cx="246888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34640" y="2075688"/>
            <a:ext cx="411480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995160" y="2075688"/>
            <a:ext cx="484632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2167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1671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Calibri"/>
              </a:rPr>
              <a:t>localStorage tokens, no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1671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alibri"/>
              </a:rPr>
              <a:t>JWT + bcrypt + session + WAF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642616"/>
            <a:ext cx="246888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834640" y="2642616"/>
            <a:ext cx="411480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95160" y="2642616"/>
            <a:ext cx="484632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27340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27340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Calibri"/>
              </a:rPr>
              <a:t>Single generic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73405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alibri"/>
              </a:rPr>
              <a:t>7 role-based dashboards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09544"/>
            <a:ext cx="246888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34640" y="3209544"/>
            <a:ext cx="411480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95160" y="3209544"/>
            <a:ext cx="484632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3300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3009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Calibri"/>
              </a:rPr>
              <a:t>Basic static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30098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alibri"/>
              </a:rPr>
              <a:t>Real-time analytics + trends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776472"/>
            <a:ext cx="246888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834640" y="3776472"/>
            <a:ext cx="411480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95160" y="3776472"/>
            <a:ext cx="484632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3867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3867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Calibri"/>
              </a:rPr>
              <a:t>Siloed, fragmented tools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8679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alibri"/>
              </a:rPr>
              <a:t>Unified platform, shared 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343400"/>
            <a:ext cx="246888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34640" y="4343400"/>
            <a:ext cx="411480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995160" y="4343400"/>
            <a:ext cx="484632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Scalability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4434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Calibri"/>
              </a:rPr>
              <a:t>Limited to single user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4434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alibri"/>
              </a:rPr>
              <a:t>500+ concurrent users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910328"/>
            <a:ext cx="246888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834640" y="4910328"/>
            <a:ext cx="411480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95160" y="4910328"/>
            <a:ext cx="4846320" cy="530352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5001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Access Control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0" y="50017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Calibri"/>
              </a:rPr>
              <a:t>Simple admin / user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500176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alibri"/>
              </a:rPr>
              <a:t>7-level RBAC hierarchy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477256"/>
            <a:ext cx="246888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834640" y="5477256"/>
            <a:ext cx="411480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995160" y="5477256"/>
            <a:ext cx="4846320" cy="530352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55686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Audit Trail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26080" y="556869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Calibri"/>
              </a:rP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55686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F3D0"/>
                </a:solidFill>
                <a:latin typeface="Calibri"/>
              </a:rPr>
              <a:t>Immutable logs, soft-delete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4-Layer Architecture with WAF &amp; WebSocket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8138160" cy="1143000"/>
          </a:xfrm>
          <a:prstGeom prst="rect">
            <a:avLst/>
          </a:prstGeom>
          <a:solidFill>
            <a:srgbClr val="132A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9144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361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 18 + TypeScript +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Admin · Faculty · HOD · Student · PC · Facilities · Management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3317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50592"/>
            <a:ext cx="8138160" cy="1143000"/>
          </a:xfrm>
          <a:prstGeom prst="rect">
            <a:avLst/>
          </a:prstGeom>
          <a:solidFill>
            <a:srgbClr val="132A5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450592"/>
            <a:ext cx="91440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496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SECURITY &amp; LOAD BALANCER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9806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balancer.cjs  |  Port 80 / Admin Port 9000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363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WAF (SQLi + XSS Filter)  ·  Rate Limiting  ·  IP Whitelist  ·  Health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5935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12464"/>
            <a:ext cx="8138160" cy="1143000"/>
          </a:xfrm>
          <a:prstGeom prst="rect">
            <a:avLst/>
          </a:prstGeom>
          <a:solidFill>
            <a:srgbClr val="132A52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712464"/>
            <a:ext cx="91440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7581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APPLICATION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599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Node.js + Express  |  REST API + WebSocket  (Port 5000)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9826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Auth · Resource · HR · Energy · Water · Booking · Audit Controllers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8554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8138160" cy="1143000"/>
          </a:xfrm>
          <a:prstGeom prst="rect">
            <a:avLst/>
          </a:prstGeom>
          <a:solidFill>
            <a:srgbClr val="132A52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91440" cy="1143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020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DATA &amp; SERVICES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3218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PostgreSQL 15 (59 migrations) + Email + WebSocket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6013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PostgreSQL DB (akc_campus)  ·  Nodemailer + Handlebars  ·  WebSocket Broadcast  ·  node-cron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1188720"/>
            <a:ext cx="3200400" cy="5029200"/>
          </a:xfrm>
          <a:prstGeom prst="rect">
            <a:avLst/>
          </a:prstGeom>
          <a:solidFill>
            <a:srgbClr val="1E293B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32520" y="1234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Middleware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1600200"/>
            <a:ext cx="2926080" cy="411480"/>
          </a:xfrm>
          <a:prstGeom prst="rect">
            <a:avLst/>
          </a:prstGeom>
          <a:solidFill>
            <a:srgbClr val="132A52"/>
          </a:solidFill>
          <a:ln w="508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23960" y="16642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requestLogger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201168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2130552"/>
            <a:ext cx="2926080" cy="411480"/>
          </a:xfrm>
          <a:prstGeom prst="rect">
            <a:avLst/>
          </a:prstGeom>
          <a:solidFill>
            <a:srgbClr val="132A52"/>
          </a:solidFill>
          <a:ln w="508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23960" y="2194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rateLimiter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254203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660904"/>
            <a:ext cx="2926080" cy="411480"/>
          </a:xfrm>
          <a:prstGeom prst="rect">
            <a:avLst/>
          </a:prstGeom>
          <a:solidFill>
            <a:srgbClr val="132A52"/>
          </a:solidFill>
          <a:ln w="508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23960" y="27249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JWT verify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3072384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91256"/>
            <a:ext cx="2926080" cy="411480"/>
          </a:xfrm>
          <a:prstGeom prst="rect">
            <a:avLst/>
          </a:prstGeom>
          <a:solidFill>
            <a:srgbClr val="132A52"/>
          </a:solidFill>
          <a:ln w="508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23960" y="32552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sessionValidator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360273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2520" y="3721608"/>
            <a:ext cx="2926080" cy="411480"/>
          </a:xfrm>
          <a:prstGeom prst="rect">
            <a:avLst/>
          </a:prstGeom>
          <a:solidFill>
            <a:srgbClr val="132A52"/>
          </a:solidFill>
          <a:ln w="508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23960" y="378561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rbacMiddleware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413308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4251960"/>
            <a:ext cx="2926080" cy="411480"/>
          </a:xfrm>
          <a:prstGeom prst="rect">
            <a:avLst/>
          </a:prstGeom>
          <a:solidFill>
            <a:srgbClr val="132A52"/>
          </a:solidFill>
          <a:ln w="508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23960" y="43159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inputValidator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4120" y="466344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20" y="4782312"/>
            <a:ext cx="2926080" cy="411480"/>
          </a:xfrm>
          <a:prstGeom prst="rect">
            <a:avLst/>
          </a:prstGeom>
          <a:solidFill>
            <a:srgbClr val="132A52"/>
          </a:solidFill>
          <a:ln w="508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23960" y="4846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[Controller]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4120" y="519379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32520" y="5312664"/>
            <a:ext cx="2926080" cy="411480"/>
          </a:xfrm>
          <a:prstGeom prst="rect">
            <a:avLst/>
          </a:prstGeom>
          <a:solidFill>
            <a:srgbClr val="132A52"/>
          </a:solidFill>
          <a:ln w="508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23960" y="53766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errorHandler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PostgreSQL 15 — 59 Sequential Migrations Across 9 Table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3794760" cy="1554480"/>
          </a:xfrm>
          <a:prstGeom prst="rect">
            <a:avLst/>
          </a:prstGeom>
          <a:solidFill>
            <a:srgbClr val="132A52"/>
          </a:solidFill>
          <a:ln w="889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73152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243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alibri"/>
              </a:rPr>
              <a:t>Auth &amp;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37944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users, user_roles, role_definitions, user_sessions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70432"/>
            <a:ext cx="3794760" cy="1554480"/>
          </a:xfrm>
          <a:prstGeom prst="rect">
            <a:avLst/>
          </a:prstGeom>
          <a:solidFill>
            <a:srgbClr val="132A52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170432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8" y="1243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Booking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alibri"/>
              </a:rPr>
              <a:t>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837944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bookings, venues, booking_comments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170432"/>
            <a:ext cx="3794760" cy="1554480"/>
          </a:xfrm>
          <a:prstGeom prst="rect">
            <a:avLst/>
          </a:prstGeom>
          <a:solidFill>
            <a:srgbClr val="132A52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80" y="1170432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9328" y="1243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alibri"/>
              </a:rPr>
              <a:t>Workforce mgmt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837944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staff_profiles, leave_requests, hr_approvals, hr_approval_history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34640"/>
            <a:ext cx="3794760" cy="1554480"/>
          </a:xfrm>
          <a:prstGeom prst="rect">
            <a:avLst/>
          </a:prstGeom>
          <a:solidFill>
            <a:srgbClr val="132A52"/>
          </a:solidFill>
          <a:ln w="889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834640"/>
            <a:ext cx="73152" cy="1554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29077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Energy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2186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alibri"/>
              </a:rPr>
              <a:t>Energy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350215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energy_meters, energy_readings, energy_settings, energy_users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2834640"/>
            <a:ext cx="3794760" cy="1554480"/>
          </a:xfrm>
          <a:prstGeom prst="rect">
            <a:avLst/>
          </a:prstGeom>
          <a:solidFill>
            <a:srgbClr val="132A52"/>
          </a:solidFill>
          <a:ln w="889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51960" y="2834640"/>
            <a:ext cx="73152" cy="15544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7408" y="29077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  <a:latin typeface="Calibri"/>
              </a:rPr>
              <a:t>Water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32186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alibri"/>
              </a:rPr>
              <a:t>Water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50215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water_locations, water_readings, water_users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2834640"/>
            <a:ext cx="3794760" cy="1554480"/>
          </a:xfrm>
          <a:prstGeom prst="rect">
            <a:avLst/>
          </a:prstGeom>
          <a:solidFill>
            <a:srgbClr val="132A52"/>
          </a:solidFill>
          <a:ln w="889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83880" y="2834640"/>
            <a:ext cx="73152" cy="15544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39328" y="29077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  <a:latin typeface="Calibri"/>
              </a:rPr>
              <a:t>Resources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2186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alibri"/>
              </a:rPr>
              <a:t>Asset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350215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equipment, maintenance_tickets, venue_status_cache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498848"/>
            <a:ext cx="3794760" cy="1554480"/>
          </a:xfrm>
          <a:prstGeom prst="rect">
            <a:avLst/>
          </a:prstGeom>
          <a:solidFill>
            <a:srgbClr val="132A52"/>
          </a:solidFill>
          <a:ln w="889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4498848"/>
            <a:ext cx="73152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48828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alibri"/>
              </a:rPr>
              <a:t>Staff development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5166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training_programs, training_attendance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4498848"/>
            <a:ext cx="3794760" cy="1554480"/>
          </a:xfrm>
          <a:prstGeom prst="rect">
            <a:avLst/>
          </a:prstGeom>
          <a:solidFill>
            <a:srgbClr val="132A52"/>
          </a:solidFill>
          <a:ln w="889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51960" y="4498848"/>
            <a:ext cx="73152" cy="15544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07408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Calibri"/>
              </a:rPr>
              <a:t>Audit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48828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5166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audit_logs, activity_logs, login_history, staff_audit_logs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3880" y="4498848"/>
            <a:ext cx="3794760" cy="1554480"/>
          </a:xfrm>
          <a:prstGeom prst="rect">
            <a:avLst/>
          </a:prstGeom>
          <a:solidFill>
            <a:srgbClr val="132A52"/>
          </a:solidFill>
          <a:ln w="889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80" y="4498848"/>
            <a:ext cx="73152" cy="15544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8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Settings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8" y="48828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alibri"/>
              </a:rPr>
              <a:t>Configuration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8" y="5166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system_settings, user_preferences, resource/hr settings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6144768"/>
            <a:ext cx="1152144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  <a:latin typeface="Calibri"/>
              </a:rPr>
              <a:t>Key DB Features: FK Cascade  ·  DB Triggers for Audit  ·  Unique Constraints for Sessions  ·  Connection Pooling (max 20)  ·  Immutable Rules on audit_logs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JWT + bcrypt + WAF + Immutable Audit + 7-Level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303520" cy="5029200"/>
          </a:xfrm>
          <a:prstGeom prst="rect">
            <a:avLst/>
          </a:prstGeom>
          <a:solidFill>
            <a:srgbClr val="132A52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  <a:latin typeface="Calibri"/>
              </a:rPr>
              <a:t>7-Level RBAC Hierarchy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27632"/>
            <a:ext cx="384048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45720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190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  <a:latin typeface="Calibri"/>
              </a:rPr>
              <a:t>L7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6733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Super Auditor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1901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Read-only + Full Export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94560"/>
            <a:ext cx="358444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194560"/>
            <a:ext cx="457200" cy="47548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2860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  <a:latin typeface="Calibri"/>
              </a:rPr>
              <a:t>L6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2402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Ops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46888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Read-only Operational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61488"/>
            <a:ext cx="3328416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761488"/>
            <a:ext cx="4572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85292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  <a:latin typeface="Calibri"/>
              </a:rPr>
              <a:t>L5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8072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Super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03580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Full Administrative Oversight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28416"/>
            <a:ext cx="3072384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328416"/>
            <a:ext cx="45720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41985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  <a:latin typeface="Calibri"/>
              </a:rPr>
              <a:t>L4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3741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Admin / 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60273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Departmental CRUD +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895344"/>
            <a:ext cx="2816352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895344"/>
            <a:ext cx="457200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98678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  <a:latin typeface="Calibri"/>
              </a:rPr>
              <a:t>L3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39410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Faculty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4169664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Module-Specific Management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462272"/>
            <a:ext cx="256032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4462272"/>
            <a:ext cx="457200" cy="47548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55371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  <a:latin typeface="Calibri"/>
              </a:rPr>
              <a:t>L2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4507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Non-Teaching Staff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73659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Operational + Dept 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029200"/>
            <a:ext cx="23042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5029200"/>
            <a:ext cx="457200" cy="4754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1206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  <a:latin typeface="Calibri"/>
              </a:rPr>
              <a:t>L1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0749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 Entry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3035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Create Only, Own 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1143000"/>
            <a:ext cx="6035040" cy="2331720"/>
          </a:xfrm>
          <a:prstGeom prst="rect">
            <a:avLst/>
          </a:prstGeom>
          <a:solidFill>
            <a:srgbClr val="132A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4360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WAF Protection (Load Balancer)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1627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99"/>
                </a:solidFill>
                <a:latin typeface="Calibri"/>
              </a:rPr>
              <a:t>⛔ SQL Injection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1627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UNION/SELECT/DROP pattern → Block + 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99"/>
                </a:solidFill>
                <a:latin typeface="Calibri"/>
              </a:rPr>
              <a:t>⛔ XSS Attacks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Script/event handler detection → Block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22128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99"/>
                </a:solidFill>
                <a:latin typeface="Calibri"/>
              </a:rPr>
              <a:t>⛔ Path Traversal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22128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../ pattern detection → Block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25054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99"/>
                </a:solidFill>
                <a:latin typeface="Calibri"/>
              </a:rPr>
              <a:t>⛔ Command Injection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79" y="25054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Shell metacharacter → Block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27980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99"/>
                </a:solidFill>
                <a:latin typeface="Calibri"/>
              </a:rPr>
              <a:t>⛔ HTTP Flood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79" y="2798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100 req/min per IP → Throttle + ban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30906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99"/>
                </a:solidFill>
                <a:latin typeface="Calibri"/>
              </a:rPr>
              <a:t>⛔ Oversized Body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9" y="30906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10MB limit → Reject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3611880"/>
            <a:ext cx="6035040" cy="2560320"/>
          </a:xfrm>
          <a:prstGeom prst="rect">
            <a:avLst/>
          </a:prstGeom>
          <a:solidFill>
            <a:srgbClr val="132A52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0" y="3657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Authentication Flow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4096512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1. Client sends {email, password} via POST /api/auth/login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4425696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2. bcrypt.compare() — verify password against stored hash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4754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3. Invalidate existing sessions (DB — unique constraint)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084064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4. Create new session record with 24hr / 2hr timeout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5413248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5. Sign JWT token {userId, role, sessionId}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0" y="5742432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6. Return {token, user, session} to client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/>
        </p:nvSpPr>
        <p:spPr>
          <a:xfrm>
            <a:off x="-1" y="893"/>
            <a:ext cx="12188825" cy="103605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19" name="Google Shape;319;p24"/>
          <p:cNvSpPr/>
          <p:nvPr/>
        </p:nvSpPr>
        <p:spPr>
          <a:xfrm>
            <a:off x="-1" y="893"/>
            <a:ext cx="304721" cy="103605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20" name="Google Shape;320;p24"/>
          <p:cNvSpPr/>
          <p:nvPr/>
        </p:nvSpPr>
        <p:spPr>
          <a:xfrm>
            <a:off x="487552" y="98403"/>
            <a:ext cx="8532178" cy="79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200"/>
            </a:pPr>
            <a:r>
              <a:rPr lang="en" sz="29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487552" y="634712"/>
            <a:ext cx="10969943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6B6D4"/>
              </a:buClr>
              <a:buSzPts val="1000"/>
            </a:pPr>
            <a:r>
              <a:rPr lang="en" sz="1333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4-Layer Architecture with WAF &amp; WebSocket Integration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-1" y="6582859"/>
            <a:ext cx="12188825" cy="268154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23" name="Google Shape;323;p24"/>
          <p:cNvSpPr/>
          <p:nvPr/>
        </p:nvSpPr>
        <p:spPr>
          <a:xfrm>
            <a:off x="243776" y="6582859"/>
            <a:ext cx="11701272" cy="268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IN" sz="1000" dirty="0" err="1">
                <a:solidFill>
                  <a:srgbClr val="94A3B8"/>
                </a:solidFill>
              </a:rPr>
              <a:t>CampusWise</a:t>
            </a:r>
            <a:r>
              <a:rPr lang="en-IN" sz="1000" dirty="0">
                <a:solidFill>
                  <a:srgbClr val="94A3B8"/>
                </a:solidFill>
              </a:rPr>
              <a:t> Smart Hub  |  Final Review (3rd Review)  |  March 2026  |  The Apollo University  |  CSE – AI&amp;DS</a:t>
            </a:r>
          </a:p>
        </p:txBody>
      </p:sp>
      <p:sp>
        <p:nvSpPr>
          <p:cNvPr id="324" name="Google Shape;324;p24"/>
          <p:cNvSpPr/>
          <p:nvPr/>
        </p:nvSpPr>
        <p:spPr>
          <a:xfrm>
            <a:off x="365664" y="1219776"/>
            <a:ext cx="11457496" cy="115793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25" name="Google Shape;325;p24"/>
          <p:cNvSpPr/>
          <p:nvPr/>
        </p:nvSpPr>
        <p:spPr>
          <a:xfrm>
            <a:off x="365664" y="1219776"/>
            <a:ext cx="2559653" cy="1157938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26" name="Google Shape;326;p24"/>
          <p:cNvSpPr/>
          <p:nvPr/>
        </p:nvSpPr>
        <p:spPr>
          <a:xfrm>
            <a:off x="426608" y="1317286"/>
            <a:ext cx="2437765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r>
              <a:rPr lang="en" sz="1066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LAYER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426608" y="1707329"/>
            <a:ext cx="2437765" cy="54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C0D8F0"/>
              </a:buClr>
              <a:buSzPts val="700"/>
            </a:pPr>
            <a:r>
              <a:rPr lang="en" sz="933" i="1">
                <a:solidFill>
                  <a:srgbClr val="C0D8F0"/>
                </a:solidFill>
                <a:latin typeface="Calibri"/>
                <a:ea typeface="Calibri"/>
                <a:cs typeface="Calibri"/>
                <a:sym typeface="Calibri"/>
              </a:rPr>
              <a:t>React 18 + TypeScript + Vite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3108150" y="1317286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29" name="Google Shape;329;p24"/>
          <p:cNvSpPr/>
          <p:nvPr/>
        </p:nvSpPr>
        <p:spPr>
          <a:xfrm>
            <a:off x="3108150" y="1317286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5265572" y="1317286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31" name="Google Shape;331;p24"/>
          <p:cNvSpPr/>
          <p:nvPr/>
        </p:nvSpPr>
        <p:spPr>
          <a:xfrm>
            <a:off x="5265572" y="1317286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Faculty Dashboard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7422994" y="1317286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33" name="Google Shape;333;p24"/>
          <p:cNvSpPr/>
          <p:nvPr/>
        </p:nvSpPr>
        <p:spPr>
          <a:xfrm>
            <a:off x="7422994" y="1317286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HOD Dashboard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9580416" y="1317286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35" name="Google Shape;335;p24"/>
          <p:cNvSpPr/>
          <p:nvPr/>
        </p:nvSpPr>
        <p:spPr>
          <a:xfrm>
            <a:off x="9580416" y="1317286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Student Dashboard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3108150" y="1829217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37" name="Google Shape;337;p24"/>
          <p:cNvSpPr/>
          <p:nvPr/>
        </p:nvSpPr>
        <p:spPr>
          <a:xfrm>
            <a:off x="3108150" y="1829217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PC Dashboard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5265572" y="1829217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39" name="Google Shape;339;p24"/>
          <p:cNvSpPr/>
          <p:nvPr/>
        </p:nvSpPr>
        <p:spPr>
          <a:xfrm>
            <a:off x="5265572" y="1829217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Facilities Dashboard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7422994" y="1829217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41" name="Google Shape;341;p24"/>
          <p:cNvSpPr/>
          <p:nvPr/>
        </p:nvSpPr>
        <p:spPr>
          <a:xfrm>
            <a:off x="7422994" y="1829217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Management Dashboard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24"/>
          <p:cNvCxnSpPr/>
          <p:nvPr/>
        </p:nvCxnSpPr>
        <p:spPr>
          <a:xfrm>
            <a:off x="5850636" y="2377714"/>
            <a:ext cx="0" cy="158455"/>
          </a:xfrm>
          <a:prstGeom prst="straightConnector1">
            <a:avLst/>
          </a:prstGeom>
          <a:noFill/>
          <a:ln w="254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3" name="Google Shape;343;p24"/>
          <p:cNvSpPr/>
          <p:nvPr/>
        </p:nvSpPr>
        <p:spPr>
          <a:xfrm>
            <a:off x="365664" y="2536169"/>
            <a:ext cx="11457496" cy="115793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44" name="Google Shape;344;p24"/>
          <p:cNvSpPr/>
          <p:nvPr/>
        </p:nvSpPr>
        <p:spPr>
          <a:xfrm>
            <a:off x="365664" y="2536169"/>
            <a:ext cx="2559653" cy="115793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45" name="Google Shape;345;p24"/>
          <p:cNvSpPr/>
          <p:nvPr/>
        </p:nvSpPr>
        <p:spPr>
          <a:xfrm>
            <a:off x="426608" y="2633679"/>
            <a:ext cx="2437765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r>
              <a:rPr lang="en" sz="1066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&amp; LOAD BALANCER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426608" y="3023722"/>
            <a:ext cx="2437765" cy="54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C0D8F0"/>
              </a:buClr>
              <a:buSzPts val="700"/>
            </a:pPr>
            <a:r>
              <a:rPr lang="en" sz="933" i="1">
                <a:solidFill>
                  <a:srgbClr val="C0D8F0"/>
                </a:solidFill>
                <a:latin typeface="Calibri"/>
                <a:ea typeface="Calibri"/>
                <a:cs typeface="Calibri"/>
                <a:sym typeface="Calibri"/>
              </a:rPr>
              <a:t>balancer.cjs — Port 80 / Admin Port 9000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3108150" y="2633679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48" name="Google Shape;348;p24"/>
          <p:cNvSpPr/>
          <p:nvPr/>
        </p:nvSpPr>
        <p:spPr>
          <a:xfrm>
            <a:off x="3108150" y="2633679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WAF (SQLi + XSS Filter)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5265572" y="2633679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50" name="Google Shape;350;p24"/>
          <p:cNvSpPr/>
          <p:nvPr/>
        </p:nvSpPr>
        <p:spPr>
          <a:xfrm>
            <a:off x="5265572" y="2633679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Rate Limiting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7422994" y="2633679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52" name="Google Shape;352;p24"/>
          <p:cNvSpPr/>
          <p:nvPr/>
        </p:nvSpPr>
        <p:spPr>
          <a:xfrm>
            <a:off x="7422994" y="2633679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IP Whitelist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9580416" y="2633679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54" name="Google Shape;354;p24"/>
          <p:cNvSpPr/>
          <p:nvPr/>
        </p:nvSpPr>
        <p:spPr>
          <a:xfrm>
            <a:off x="9580416" y="2633679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Health Checks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24"/>
          <p:cNvCxnSpPr/>
          <p:nvPr/>
        </p:nvCxnSpPr>
        <p:spPr>
          <a:xfrm>
            <a:off x="5850636" y="3694107"/>
            <a:ext cx="0" cy="158455"/>
          </a:xfrm>
          <a:prstGeom prst="straightConnector1">
            <a:avLst/>
          </a:prstGeom>
          <a:noFill/>
          <a:ln w="254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6" name="Google Shape;356;p24"/>
          <p:cNvSpPr/>
          <p:nvPr/>
        </p:nvSpPr>
        <p:spPr>
          <a:xfrm>
            <a:off x="365664" y="3852562"/>
            <a:ext cx="11457496" cy="115793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57" name="Google Shape;357;p24"/>
          <p:cNvSpPr/>
          <p:nvPr/>
        </p:nvSpPr>
        <p:spPr>
          <a:xfrm>
            <a:off x="365664" y="3852562"/>
            <a:ext cx="2559653" cy="1157938"/>
          </a:xfrm>
          <a:prstGeom prst="rect">
            <a:avLst/>
          </a:prstGeom>
          <a:solidFill>
            <a:srgbClr val="1A3A8F"/>
          </a:solidFill>
          <a:ln w="12700" cap="flat" cmpd="sng">
            <a:solidFill>
              <a:srgbClr val="1A3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58" name="Google Shape;358;p24"/>
          <p:cNvSpPr/>
          <p:nvPr/>
        </p:nvSpPr>
        <p:spPr>
          <a:xfrm>
            <a:off x="426608" y="3950072"/>
            <a:ext cx="2437765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r>
              <a:rPr lang="en" sz="1066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426608" y="4340115"/>
            <a:ext cx="2437765" cy="54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C0D8F0"/>
              </a:buClr>
              <a:buSzPts val="700"/>
            </a:pPr>
            <a:r>
              <a:rPr lang="en" sz="933" i="1">
                <a:solidFill>
                  <a:srgbClr val="C0D8F0"/>
                </a:solidFill>
                <a:latin typeface="Calibri"/>
                <a:ea typeface="Calibri"/>
                <a:cs typeface="Calibri"/>
                <a:sym typeface="Calibri"/>
              </a:rPr>
              <a:t>Node.js + Express — REST API + WebSocket (Port 5000)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3108150" y="3950072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61" name="Google Shape;361;p24"/>
          <p:cNvSpPr/>
          <p:nvPr/>
        </p:nvSpPr>
        <p:spPr>
          <a:xfrm>
            <a:off x="3108150" y="3950072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Auth Controller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5265572" y="3950072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63" name="Google Shape;363;p24"/>
          <p:cNvSpPr/>
          <p:nvPr/>
        </p:nvSpPr>
        <p:spPr>
          <a:xfrm>
            <a:off x="5265572" y="3950072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Resource Controller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7422994" y="3950072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65" name="Google Shape;365;p24"/>
          <p:cNvSpPr/>
          <p:nvPr/>
        </p:nvSpPr>
        <p:spPr>
          <a:xfrm>
            <a:off x="7422994" y="3950072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HR Controller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9580416" y="3950072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67" name="Google Shape;367;p24"/>
          <p:cNvSpPr/>
          <p:nvPr/>
        </p:nvSpPr>
        <p:spPr>
          <a:xfrm>
            <a:off x="9580416" y="3950072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Energy Controller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3108150" y="4462003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69" name="Google Shape;369;p24"/>
          <p:cNvSpPr/>
          <p:nvPr/>
        </p:nvSpPr>
        <p:spPr>
          <a:xfrm>
            <a:off x="3108150" y="4462003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Water Controller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5265572" y="4462003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71" name="Google Shape;371;p24"/>
          <p:cNvSpPr/>
          <p:nvPr/>
        </p:nvSpPr>
        <p:spPr>
          <a:xfrm>
            <a:off x="5265572" y="4462003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Booking Controller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7422994" y="4462003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73" name="Google Shape;373;p24"/>
          <p:cNvSpPr/>
          <p:nvPr/>
        </p:nvSpPr>
        <p:spPr>
          <a:xfrm>
            <a:off x="7422994" y="4462003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Audit Controller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24"/>
          <p:cNvCxnSpPr/>
          <p:nvPr/>
        </p:nvCxnSpPr>
        <p:spPr>
          <a:xfrm>
            <a:off x="5850636" y="5010500"/>
            <a:ext cx="0" cy="158455"/>
          </a:xfrm>
          <a:prstGeom prst="straightConnector1">
            <a:avLst/>
          </a:prstGeom>
          <a:noFill/>
          <a:ln w="254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p24"/>
          <p:cNvSpPr/>
          <p:nvPr/>
        </p:nvSpPr>
        <p:spPr>
          <a:xfrm>
            <a:off x="365664" y="5168955"/>
            <a:ext cx="11457496" cy="115793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76" name="Google Shape;376;p24"/>
          <p:cNvSpPr/>
          <p:nvPr/>
        </p:nvSpPr>
        <p:spPr>
          <a:xfrm>
            <a:off x="365664" y="5168955"/>
            <a:ext cx="2559653" cy="115793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77" name="Google Shape;377;p24"/>
          <p:cNvSpPr/>
          <p:nvPr/>
        </p:nvSpPr>
        <p:spPr>
          <a:xfrm>
            <a:off x="426608" y="5266465"/>
            <a:ext cx="2437765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r>
              <a:rPr lang="en" sz="1066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SERVICES LAYER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426608" y="5656508"/>
            <a:ext cx="2437765" cy="54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C0D8F0"/>
              </a:buClr>
              <a:buSzPts val="700"/>
            </a:pPr>
            <a:r>
              <a:rPr lang="en" sz="933" i="1">
                <a:solidFill>
                  <a:srgbClr val="C0D8F0"/>
                </a:solidFill>
                <a:latin typeface="Calibri"/>
                <a:ea typeface="Calibri"/>
                <a:cs typeface="Calibri"/>
                <a:sym typeface="Calibri"/>
              </a:rPr>
              <a:t>PostgreSQL 15 (59 migrations) + Email + WebSocket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3108150" y="5266466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80" name="Google Shape;380;p24"/>
          <p:cNvSpPr/>
          <p:nvPr/>
        </p:nvSpPr>
        <p:spPr>
          <a:xfrm>
            <a:off x="3108150" y="5266466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PostgreSQL DB (akc_campus)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5265572" y="5266466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82" name="Google Shape;382;p24"/>
          <p:cNvSpPr/>
          <p:nvPr/>
        </p:nvSpPr>
        <p:spPr>
          <a:xfrm>
            <a:off x="5265572" y="5266466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Nodemailer + Handlebars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7422994" y="5266466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84" name="Google Shape;384;p24"/>
          <p:cNvSpPr/>
          <p:nvPr/>
        </p:nvSpPr>
        <p:spPr>
          <a:xfrm>
            <a:off x="7422994" y="5266466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WebSocket Broadcast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9580416" y="5266466"/>
            <a:ext cx="2011156" cy="39004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86" name="Google Shape;386;p24"/>
          <p:cNvSpPr/>
          <p:nvPr/>
        </p:nvSpPr>
        <p:spPr>
          <a:xfrm>
            <a:off x="9580416" y="5266466"/>
            <a:ext cx="2011156" cy="3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node-cron Scheduler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365664" y="6278138"/>
            <a:ext cx="11457496" cy="243777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88" name="Google Shape;388;p24"/>
          <p:cNvSpPr/>
          <p:nvPr/>
        </p:nvSpPr>
        <p:spPr>
          <a:xfrm>
            <a:off x="487553" y="6278138"/>
            <a:ext cx="11213719" cy="24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750"/>
            </a:pPr>
            <a:r>
              <a:rPr lang="en" sz="1000" i="1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Middleware Pipeline: requestLogger → rateLimiter → JWT verify → sessionValidator → rbacMiddleware → inputValidator → [Controller] → errorHandler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/>
          <p:nvPr/>
        </p:nvSpPr>
        <p:spPr>
          <a:xfrm>
            <a:off x="-1" y="893"/>
            <a:ext cx="12188825" cy="1036050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95" name="Google Shape;395;p25"/>
          <p:cNvSpPr/>
          <p:nvPr/>
        </p:nvSpPr>
        <p:spPr>
          <a:xfrm>
            <a:off x="-1" y="893"/>
            <a:ext cx="304721" cy="103605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396" name="Google Shape;396;p25"/>
          <p:cNvSpPr/>
          <p:nvPr/>
        </p:nvSpPr>
        <p:spPr>
          <a:xfrm>
            <a:off x="487552" y="98403"/>
            <a:ext cx="8532178" cy="79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200"/>
            </a:pPr>
            <a:r>
              <a:rPr lang="en" sz="29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487552" y="634712"/>
            <a:ext cx="10969943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6B6D4"/>
              </a:buClr>
              <a:buSzPts val="1000"/>
            </a:pPr>
            <a:r>
              <a:rPr lang="en" sz="1333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Agile Iterative Development Workflow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-1" y="6582859"/>
            <a:ext cx="12188825" cy="268154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 dirty="0"/>
          </a:p>
        </p:txBody>
      </p:sp>
      <p:sp>
        <p:nvSpPr>
          <p:cNvPr id="399" name="Google Shape;399;p25"/>
          <p:cNvSpPr/>
          <p:nvPr/>
        </p:nvSpPr>
        <p:spPr>
          <a:xfrm>
            <a:off x="243776" y="6582859"/>
            <a:ext cx="11701272" cy="268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IN" sz="1000" dirty="0" err="1">
                <a:solidFill>
                  <a:srgbClr val="94A3B8"/>
                </a:solidFill>
              </a:rPr>
              <a:t>CampusWise</a:t>
            </a:r>
            <a:r>
              <a:rPr lang="en-IN" sz="1000" dirty="0">
                <a:solidFill>
                  <a:srgbClr val="94A3B8"/>
                </a:solidFill>
              </a:rPr>
              <a:t> Smart Hub  |  Final Review (3rd Review)  |  March 2026  |  The Apollo University  |  CSE – AI&amp;DS</a:t>
            </a:r>
          </a:p>
        </p:txBody>
      </p:sp>
      <p:cxnSp>
        <p:nvCxnSpPr>
          <p:cNvPr id="400" name="Google Shape;400;p25"/>
          <p:cNvCxnSpPr/>
          <p:nvPr/>
        </p:nvCxnSpPr>
        <p:spPr>
          <a:xfrm>
            <a:off x="1828323" y="1890161"/>
            <a:ext cx="219399" cy="0"/>
          </a:xfrm>
          <a:prstGeom prst="straightConnector1">
            <a:avLst/>
          </a:prstGeom>
          <a:noFill/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1" name="Google Shape;401;p25"/>
          <p:cNvSpPr/>
          <p:nvPr/>
        </p:nvSpPr>
        <p:spPr>
          <a:xfrm>
            <a:off x="426608" y="1219775"/>
            <a:ext cx="1340771" cy="243776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02" name="Google Shape;402;p25"/>
          <p:cNvSpPr/>
          <p:nvPr/>
        </p:nvSpPr>
        <p:spPr>
          <a:xfrm>
            <a:off x="426608" y="1219775"/>
            <a:ext cx="1340771" cy="73133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03" name="Google Shape;403;p25"/>
          <p:cNvSpPr/>
          <p:nvPr/>
        </p:nvSpPr>
        <p:spPr>
          <a:xfrm>
            <a:off x="828840" y="1317286"/>
            <a:ext cx="536308" cy="536308"/>
          </a:xfrm>
          <a:prstGeom prst="ellipse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04" name="Google Shape;404;p25"/>
          <p:cNvSpPr/>
          <p:nvPr/>
        </p:nvSpPr>
        <p:spPr>
          <a:xfrm>
            <a:off x="828840" y="1317286"/>
            <a:ext cx="536308" cy="53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600"/>
            </a:pPr>
            <a:r>
              <a:rPr lang="en" sz="21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487552" y="1951105"/>
            <a:ext cx="1218883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800"/>
            </a:pPr>
            <a:r>
              <a:rPr lang="en" sz="1066" b="1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Requirements Analysis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487552" y="2682435"/>
            <a:ext cx="1218883" cy="87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700"/>
            </a:pPr>
            <a:r>
              <a:rPr lang="en" sz="9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Stakeholder interviews, gap identification, use-case documentation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25"/>
          <p:cNvCxnSpPr/>
          <p:nvPr/>
        </p:nvCxnSpPr>
        <p:spPr>
          <a:xfrm>
            <a:off x="3449437" y="1890161"/>
            <a:ext cx="219399" cy="0"/>
          </a:xfrm>
          <a:prstGeom prst="straightConnector1">
            <a:avLst/>
          </a:prstGeom>
          <a:noFill/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" name="Google Shape;408;p25"/>
          <p:cNvSpPr/>
          <p:nvPr/>
        </p:nvSpPr>
        <p:spPr>
          <a:xfrm>
            <a:off x="2047722" y="1219775"/>
            <a:ext cx="1340771" cy="243776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09" name="Google Shape;409;p25"/>
          <p:cNvSpPr/>
          <p:nvPr/>
        </p:nvSpPr>
        <p:spPr>
          <a:xfrm>
            <a:off x="2047722" y="1219775"/>
            <a:ext cx="1340771" cy="73133"/>
          </a:xfrm>
          <a:prstGeom prst="rect">
            <a:avLst/>
          </a:prstGeom>
          <a:solidFill>
            <a:srgbClr val="1A3A8F"/>
          </a:solidFill>
          <a:ln w="12700" cap="flat" cmpd="sng">
            <a:solidFill>
              <a:srgbClr val="1A3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10" name="Google Shape;410;p25"/>
          <p:cNvSpPr/>
          <p:nvPr/>
        </p:nvSpPr>
        <p:spPr>
          <a:xfrm>
            <a:off x="2449953" y="1317286"/>
            <a:ext cx="536308" cy="536308"/>
          </a:xfrm>
          <a:prstGeom prst="ellipse">
            <a:avLst/>
          </a:prstGeom>
          <a:solidFill>
            <a:srgbClr val="1A3A8F"/>
          </a:solidFill>
          <a:ln w="12700" cap="flat" cmpd="sng">
            <a:solidFill>
              <a:srgbClr val="1A3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11" name="Google Shape;411;p25"/>
          <p:cNvSpPr/>
          <p:nvPr/>
        </p:nvSpPr>
        <p:spPr>
          <a:xfrm>
            <a:off x="2449953" y="1317286"/>
            <a:ext cx="536308" cy="53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600"/>
            </a:pPr>
            <a:r>
              <a:rPr lang="en" sz="21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2108666" y="1951105"/>
            <a:ext cx="1218883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800"/>
            </a:pPr>
            <a:r>
              <a:rPr lang="en" sz="1066" b="1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2108666" y="2682435"/>
            <a:ext cx="1218883" cy="87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700"/>
            </a:pPr>
            <a:r>
              <a:rPr lang="en" sz="9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Architecture, DB schema (27 migrations), API design (40+ endpoints)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25"/>
          <p:cNvCxnSpPr/>
          <p:nvPr/>
        </p:nvCxnSpPr>
        <p:spPr>
          <a:xfrm>
            <a:off x="5070551" y="1890161"/>
            <a:ext cx="219399" cy="0"/>
          </a:xfrm>
          <a:prstGeom prst="straightConnector1">
            <a:avLst/>
          </a:prstGeom>
          <a:noFill/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5" name="Google Shape;415;p25"/>
          <p:cNvSpPr/>
          <p:nvPr/>
        </p:nvSpPr>
        <p:spPr>
          <a:xfrm>
            <a:off x="3668836" y="1219775"/>
            <a:ext cx="1340771" cy="243776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16" name="Google Shape;416;p25"/>
          <p:cNvSpPr/>
          <p:nvPr/>
        </p:nvSpPr>
        <p:spPr>
          <a:xfrm>
            <a:off x="3668836" y="1219775"/>
            <a:ext cx="1340771" cy="73133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17" name="Google Shape;417;p25"/>
          <p:cNvSpPr/>
          <p:nvPr/>
        </p:nvSpPr>
        <p:spPr>
          <a:xfrm>
            <a:off x="4071067" y="1317286"/>
            <a:ext cx="536308" cy="536308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18" name="Google Shape;418;p25"/>
          <p:cNvSpPr/>
          <p:nvPr/>
        </p:nvSpPr>
        <p:spPr>
          <a:xfrm>
            <a:off x="4071067" y="1317286"/>
            <a:ext cx="536308" cy="53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600"/>
            </a:pPr>
            <a:r>
              <a:rPr lang="en" sz="21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3729780" y="1951105"/>
            <a:ext cx="1218883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800"/>
            </a:pPr>
            <a:r>
              <a:rPr lang="en" sz="1066" b="1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Module Development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3729780" y="2682435"/>
            <a:ext cx="1218883" cy="87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700"/>
            </a:pPr>
            <a:r>
              <a:rPr lang="en" sz="9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Parallel development of 11 modules with component-based architecture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25"/>
          <p:cNvCxnSpPr/>
          <p:nvPr/>
        </p:nvCxnSpPr>
        <p:spPr>
          <a:xfrm>
            <a:off x="6691664" y="1890161"/>
            <a:ext cx="219399" cy="0"/>
          </a:xfrm>
          <a:prstGeom prst="straightConnector1">
            <a:avLst/>
          </a:prstGeom>
          <a:noFill/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2" name="Google Shape;422;p25"/>
          <p:cNvSpPr/>
          <p:nvPr/>
        </p:nvSpPr>
        <p:spPr>
          <a:xfrm>
            <a:off x="5289949" y="1219775"/>
            <a:ext cx="1340771" cy="243776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23" name="Google Shape;423;p25"/>
          <p:cNvSpPr/>
          <p:nvPr/>
        </p:nvSpPr>
        <p:spPr>
          <a:xfrm>
            <a:off x="5289949" y="1219775"/>
            <a:ext cx="1340771" cy="73133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24" name="Google Shape;424;p25"/>
          <p:cNvSpPr/>
          <p:nvPr/>
        </p:nvSpPr>
        <p:spPr>
          <a:xfrm>
            <a:off x="5692181" y="1317286"/>
            <a:ext cx="536308" cy="536308"/>
          </a:xfrm>
          <a:prstGeom prst="ellipse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25" name="Google Shape;425;p25"/>
          <p:cNvSpPr/>
          <p:nvPr/>
        </p:nvSpPr>
        <p:spPr>
          <a:xfrm>
            <a:off x="5692181" y="1317286"/>
            <a:ext cx="536308" cy="53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600"/>
            </a:pPr>
            <a:r>
              <a:rPr lang="en" sz="21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5350893" y="1951105"/>
            <a:ext cx="1218883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800"/>
            </a:pPr>
            <a:r>
              <a:rPr lang="en" sz="1066" b="1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Database Migration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5350893" y="2682435"/>
            <a:ext cx="1218883" cy="87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700"/>
            </a:pPr>
            <a:r>
              <a:rPr lang="en" sz="9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localStorage → PostgreSQL migration with transaction safety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25"/>
          <p:cNvCxnSpPr/>
          <p:nvPr/>
        </p:nvCxnSpPr>
        <p:spPr>
          <a:xfrm>
            <a:off x="8312778" y="1890161"/>
            <a:ext cx="219399" cy="0"/>
          </a:xfrm>
          <a:prstGeom prst="straightConnector1">
            <a:avLst/>
          </a:prstGeom>
          <a:noFill/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9" name="Google Shape;429;p25"/>
          <p:cNvSpPr/>
          <p:nvPr/>
        </p:nvSpPr>
        <p:spPr>
          <a:xfrm>
            <a:off x="6911063" y="1219775"/>
            <a:ext cx="1340771" cy="243776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30" name="Google Shape;430;p25"/>
          <p:cNvSpPr/>
          <p:nvPr/>
        </p:nvSpPr>
        <p:spPr>
          <a:xfrm>
            <a:off x="6911063" y="1219775"/>
            <a:ext cx="1340771" cy="73133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31" name="Google Shape;431;p25"/>
          <p:cNvSpPr/>
          <p:nvPr/>
        </p:nvSpPr>
        <p:spPr>
          <a:xfrm>
            <a:off x="7313295" y="1317286"/>
            <a:ext cx="536308" cy="536308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32" name="Google Shape;432;p25"/>
          <p:cNvSpPr/>
          <p:nvPr/>
        </p:nvSpPr>
        <p:spPr>
          <a:xfrm>
            <a:off x="7313295" y="1317286"/>
            <a:ext cx="536308" cy="53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600"/>
            </a:pPr>
            <a:r>
              <a:rPr lang="en" sz="21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6972007" y="1951105"/>
            <a:ext cx="1218883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800"/>
            </a:pPr>
            <a:r>
              <a:rPr lang="en" sz="1066" b="1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Security Hardening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6972007" y="2682435"/>
            <a:ext cx="1218883" cy="87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700"/>
            </a:pPr>
            <a:r>
              <a:rPr lang="en" sz="9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WAF, session enforcement, immutable audit, soft-delete architecture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25"/>
          <p:cNvCxnSpPr/>
          <p:nvPr/>
        </p:nvCxnSpPr>
        <p:spPr>
          <a:xfrm>
            <a:off x="9933892" y="1890161"/>
            <a:ext cx="219399" cy="0"/>
          </a:xfrm>
          <a:prstGeom prst="straightConnector1">
            <a:avLst/>
          </a:prstGeom>
          <a:noFill/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6" name="Google Shape;436;p25"/>
          <p:cNvSpPr/>
          <p:nvPr/>
        </p:nvSpPr>
        <p:spPr>
          <a:xfrm>
            <a:off x="8532177" y="1219775"/>
            <a:ext cx="1340771" cy="243776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37" name="Google Shape;437;p25"/>
          <p:cNvSpPr/>
          <p:nvPr/>
        </p:nvSpPr>
        <p:spPr>
          <a:xfrm>
            <a:off x="8532177" y="1219775"/>
            <a:ext cx="1340771" cy="73133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38" name="Google Shape;438;p25"/>
          <p:cNvSpPr/>
          <p:nvPr/>
        </p:nvSpPr>
        <p:spPr>
          <a:xfrm>
            <a:off x="8934408" y="1317286"/>
            <a:ext cx="536308" cy="536308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39" name="Google Shape;439;p25"/>
          <p:cNvSpPr/>
          <p:nvPr/>
        </p:nvSpPr>
        <p:spPr>
          <a:xfrm>
            <a:off x="8934408" y="1317286"/>
            <a:ext cx="536308" cy="53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600"/>
            </a:pPr>
            <a:r>
              <a:rPr lang="en" sz="21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8593121" y="1951105"/>
            <a:ext cx="1218883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800"/>
            </a:pPr>
            <a:r>
              <a:rPr lang="en" sz="1066" b="1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Integration &amp; Testing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8593121" y="2682435"/>
            <a:ext cx="1218883" cy="87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700"/>
            </a:pPr>
            <a:r>
              <a:rPr lang="en" sz="9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integration, WebSocket sync, manual + automated testing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10153291" y="1219775"/>
            <a:ext cx="1340771" cy="243776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43" name="Google Shape;443;p25"/>
          <p:cNvSpPr/>
          <p:nvPr/>
        </p:nvSpPr>
        <p:spPr>
          <a:xfrm>
            <a:off x="10153291" y="1219775"/>
            <a:ext cx="1340771" cy="73133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44" name="Google Shape;444;p25"/>
          <p:cNvSpPr/>
          <p:nvPr/>
        </p:nvSpPr>
        <p:spPr>
          <a:xfrm>
            <a:off x="10555522" y="1317286"/>
            <a:ext cx="536308" cy="536308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45" name="Google Shape;445;p25"/>
          <p:cNvSpPr/>
          <p:nvPr/>
        </p:nvSpPr>
        <p:spPr>
          <a:xfrm>
            <a:off x="10555522" y="1317286"/>
            <a:ext cx="536308" cy="53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600"/>
            </a:pPr>
            <a:r>
              <a:rPr lang="en" sz="2133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10214235" y="1951105"/>
            <a:ext cx="1218883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F2557"/>
              </a:buClr>
              <a:buSzPts val="800"/>
            </a:pPr>
            <a:r>
              <a:rPr lang="en" sz="1066" b="1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10214235" y="2682435"/>
            <a:ext cx="1218883" cy="87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93B"/>
              </a:buClr>
              <a:buSzPts val="700"/>
            </a:pPr>
            <a:r>
              <a:rPr lang="en" sz="9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Multi-service: Frontend:8080, Backend:5000, Balancer:80, Admin:9000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426608" y="3901317"/>
            <a:ext cx="10969943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F2557"/>
              </a:buClr>
              <a:buSzPts val="1200"/>
            </a:pPr>
            <a:r>
              <a:rPr lang="en" sz="1600" b="1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Key Algorithms Implemented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426608" y="4364492"/>
            <a:ext cx="3656648" cy="1913646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50" name="Google Shape;450;p25"/>
          <p:cNvSpPr/>
          <p:nvPr/>
        </p:nvSpPr>
        <p:spPr>
          <a:xfrm>
            <a:off x="426608" y="4364492"/>
            <a:ext cx="3656648" cy="426609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51" name="Google Shape;451;p25"/>
          <p:cNvSpPr/>
          <p:nvPr/>
        </p:nvSpPr>
        <p:spPr>
          <a:xfrm>
            <a:off x="548497" y="4388870"/>
            <a:ext cx="3412871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900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Booking Conflict Detection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548497" y="4852045"/>
            <a:ext cx="3412871" cy="134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0BDD8"/>
              </a:buClr>
              <a:buSzPts val="800"/>
            </a:pPr>
            <a:r>
              <a:rPr lang="en" sz="1066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Query bookings by venue_id + date. For each existing booking: if newStart &lt; existing.end AND newEnd &gt; existing.start → conflict detected. Returns conflicts[] or empty.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4241710" y="4364492"/>
            <a:ext cx="3656648" cy="1913646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54" name="Google Shape;454;p25"/>
          <p:cNvSpPr/>
          <p:nvPr/>
        </p:nvSpPr>
        <p:spPr>
          <a:xfrm>
            <a:off x="4241710" y="4364492"/>
            <a:ext cx="3656648" cy="426609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55" name="Google Shape;455;p25"/>
          <p:cNvSpPr/>
          <p:nvPr/>
        </p:nvSpPr>
        <p:spPr>
          <a:xfrm>
            <a:off x="4363599" y="4388870"/>
            <a:ext cx="3412871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900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Workload Stress Index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4363599" y="4852045"/>
            <a:ext cx="3412871" cy="134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0BDD8"/>
              </a:buClr>
              <a:buSzPts val="800"/>
            </a:pPr>
            <a:r>
              <a:rPr lang="en" sz="1066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workloadIndex = (teaching + research + admin hrs) / 24 × 100. Classification: &gt;130% = OVERLOADED (alert), 70–130% = BALANCED, &lt;70% = UNDERLOADED.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8056813" y="4364492"/>
            <a:ext cx="3656648" cy="1913646"/>
          </a:xfrm>
          <a:prstGeom prst="rect">
            <a:avLst/>
          </a:prstGeom>
          <a:solidFill>
            <a:srgbClr val="0F2557"/>
          </a:solidFill>
          <a:ln w="12700" cap="flat" cmpd="sng">
            <a:solidFill>
              <a:srgbClr val="0F255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58" name="Google Shape;458;p25"/>
          <p:cNvSpPr/>
          <p:nvPr/>
        </p:nvSpPr>
        <p:spPr>
          <a:xfrm>
            <a:off x="8056813" y="4364492"/>
            <a:ext cx="3656648" cy="426609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endParaRPr sz="2399"/>
          </a:p>
        </p:txBody>
      </p:sp>
      <p:sp>
        <p:nvSpPr>
          <p:cNvPr id="459" name="Google Shape;459;p25"/>
          <p:cNvSpPr/>
          <p:nvPr/>
        </p:nvSpPr>
        <p:spPr>
          <a:xfrm>
            <a:off x="8178701" y="4388870"/>
            <a:ext cx="3412871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900"/>
            </a:pPr>
            <a:r>
              <a:rPr lang="en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Single-Device Session Enforcement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8178701" y="4852045"/>
            <a:ext cx="3412871" cy="134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0BDD8"/>
              </a:buClr>
              <a:buSzPts val="800"/>
            </a:pPr>
            <a:r>
              <a:rPr lang="en" sz="1066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On login: invalidate any existing active session for user_id. Create new session with 24hr absolute timeout + 2hr inactivity. DB constraint: UNIQUE(user_id) WHERE is_active = true.</a:t>
            </a:r>
            <a:endParaRPr sz="10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11 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100% Implementation Complete — All Features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1704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6276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Auth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0116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JWT + bcrypt, 7-level RBAC,
password reset, session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216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704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1704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11704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6276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20116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7 role-based views — KPI cards,
gauge charts, activity feeds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216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704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1704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1704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16276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User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0116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CRUD, permission groups (7 levels),
soft-delete, audit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1216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11704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89720" y="11704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11704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16276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Staff / 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20116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Profiles, workload index, stress
monitoring, leave &amp; approvals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1216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992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29992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29992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34564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Venues, equipment, maintenance
scheduling, room availability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30449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29992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46120" y="29992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46120" y="29992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9272" y="34564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Bookings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9272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Conflict detection, 7-level approval
workflow, booking reminders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30449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9992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29992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0" y="29992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34564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Energy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1072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Meter management, real-time
monitoring, forecasting, CSV import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30449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29992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189720" y="29992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89720" y="29992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62872" y="34564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Location tracking, leak alerts,
usage analytics, simulation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12880" y="30449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8280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74320" y="48280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4828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" y="52852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472" y="56692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Course management, compliance
tracking, status monitoring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97480" y="48737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46120" y="48280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246120" y="48280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46120" y="4828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19272" y="52852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9272" y="56692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Overview analytics, cost savings
reports, CSV export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48737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4828032"/>
            <a:ext cx="2834640" cy="1691640"/>
          </a:xfrm>
          <a:prstGeom prst="rect">
            <a:avLst/>
          </a:prstGeom>
          <a:solidFill>
            <a:srgbClr val="132A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217920" y="4828032"/>
            <a:ext cx="594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17920" y="4828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91072" y="52852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Notifications &amp; Audit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91072" y="56692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WebSocket alerts, immutable
audit logs, login history + geo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1080" y="48737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3 Core Algorithms Powering the System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21440" cy="1691640"/>
          </a:xfrm>
          <a:prstGeom prst="rect">
            <a:avLst/>
          </a:prstGeom>
          <a:solidFill>
            <a:srgbClr val="132A52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91440" cy="1691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Booking Conflict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7772400" cy="1143000"/>
          </a:xfrm>
          <a:prstGeom prst="rect">
            <a:avLst/>
          </a:prstGeom>
          <a:solidFill>
            <a:srgbClr val="1E293B"/>
          </a:solidFill>
          <a:ln w="381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7589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INPUT: newBooking (venue_id, date, start_time, end_time)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1. QUERY existing bookings WHERE venue_id = newBooking.venue_id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0F4F8"/>
                </a:solidFill>
                <a:latin typeface="Consolas"/>
              </a:rPr>
              <a:t>   AND date = newBooking.date AND status NOT IN ('rejected','cancelled')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2. FOR each existing booking: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0F4F8"/>
                </a:solidFill>
                <a:latin typeface="Consolas"/>
              </a:rPr>
              <a:t>   IF newStart &lt; existing.end_time AND newEnd &gt; existing.start_time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0F4F8"/>
                </a:solidFill>
                <a:latin typeface="Consolas"/>
              </a:rPr>
              <a:t>   → ADD to conflicts[]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3. RETURN conflicts[] or ALLOW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2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💡 Prevents double-bookings in real-time across all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53512"/>
            <a:ext cx="11521440" cy="1691640"/>
          </a:xfrm>
          <a:prstGeom prst="rect">
            <a:avLst/>
          </a:prstGeom>
          <a:solidFill>
            <a:srgbClr val="132A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953512"/>
            <a:ext cx="91440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Workload Stress Index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10712"/>
            <a:ext cx="7772400" cy="1143000"/>
          </a:xfrm>
          <a:prstGeom prst="rect">
            <a:avLst/>
          </a:prstGeom>
          <a:solidFill>
            <a:srgbClr val="1E293B"/>
          </a:solidFill>
          <a:ln w="38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456432"/>
            <a:ext cx="7589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INPUT: teachingHours, researchHours, adminHours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1. SET standardHours = 24 (baseline weekly hours)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2. SET totalHours = teaching + research + admin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3. SET workloadIndex = (totalHours / 24) × 100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4. CLASSIFY: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0F4F8"/>
                </a:solidFill>
                <a:latin typeface="Consolas"/>
              </a:rPr>
              <a:t>   &gt; 130%  → OVERLOADED  (High burnout risk — alert triggered)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0F4F8"/>
                </a:solidFill>
                <a:latin typeface="Consolas"/>
              </a:rPr>
              <a:t>   70-130% → BALANCED    (Optimal range)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0F4F8"/>
                </a:solidFill>
                <a:latin typeface="Consolas"/>
              </a:rPr>
              <a:t>   &lt; 70%   → UNDERLOADED (Capacity available)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456432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💡 Monitors 100% of staff with automated burnout alerts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764024"/>
            <a:ext cx="11521440" cy="1691640"/>
          </a:xfrm>
          <a:prstGeom prst="rect">
            <a:avLst/>
          </a:prstGeom>
          <a:solidFill>
            <a:srgbClr val="132A52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4764024"/>
            <a:ext cx="91440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Single-Device Session Enforcement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21224"/>
            <a:ext cx="7772400" cy="1143000"/>
          </a:xfrm>
          <a:prstGeom prst="rect">
            <a:avLst/>
          </a:prstGeom>
          <a:solidFill>
            <a:srgbClr val="1E293B"/>
          </a:solidFill>
          <a:ln w="38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7589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INPUT: userId, newSessionId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1. CHECK user_sessions WHERE user_id=userId AND is_active=true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2. IF existing active session AND session_id != newSessionId: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0F4F8"/>
                </a:solidFill>
                <a:latin typeface="Consolas"/>
              </a:rPr>
              <a:t>   → INVALIDATE old session (set is_active = false)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3. CREATE new session — absolute_timeout=24hr, inactivity=2hr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4. DB CONSTRAINT: UNIQUE(user_id) WHERE is_active = true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7F3D0"/>
                </a:solidFill>
                <a:latin typeface="Consolas"/>
              </a:rPr>
              <a:t>5. Ensures ONE active session per user at all times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266944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💡 Database-level enforcement — cannot be bypassed by the 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Full-Stack Technology Stack — Production-Ready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5778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Frontend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27048"/>
            <a:ext cx="5577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15636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992" y="15636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156362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37944"/>
            <a:ext cx="557784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" y="191109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911096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18.3.1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191109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Component-based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50008"/>
            <a:ext cx="557784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242316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242316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5.x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42316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Type-safe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62072"/>
            <a:ext cx="557784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192" y="293522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293522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5.x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93522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Fast dev server + HMR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74136"/>
            <a:ext cx="557784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" y="344728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447288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3.x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34472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Utility-first styling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886200"/>
            <a:ext cx="557784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" y="3959352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shadcn/ui + Radix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395935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Latest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95935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Accessible components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398264"/>
            <a:ext cx="557784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3192" y="447141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TanStack 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471416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5.83.0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447141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Server state caching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910328"/>
            <a:ext cx="557784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3192" y="498348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React Router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40" y="498348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6.30.1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498348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SPA navigation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422392"/>
            <a:ext cx="557784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3192" y="549554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Recharts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549554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2.15.4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549554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Data visualization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1143000"/>
            <a:ext cx="557784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11704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Backend Stack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1527048"/>
            <a:ext cx="5577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53912" y="15636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Technology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82712" y="15636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Version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05672" y="156362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Purpose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1837944"/>
            <a:ext cx="557784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53912" y="191109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Node.js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1911096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18.x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191109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Server-side runtime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2350008"/>
            <a:ext cx="557784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53912" y="242316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242316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4.x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242316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REST API framework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2862072"/>
            <a:ext cx="557784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53912" y="293522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293522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15.x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293522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Relational DB (59 mig.)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0760" y="3374136"/>
            <a:ext cx="557784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53912" y="344728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3447288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9.x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34472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Token-based auth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80760" y="3886200"/>
            <a:ext cx="557784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153912" y="3959352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bcryptjs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09560" y="395935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2.x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20" y="395935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Password hashing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4398264"/>
            <a:ext cx="557784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153912" y="447141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WebSocket (ws)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09560" y="4471416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8.x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32520" y="447141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Real-time push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0760" y="4910328"/>
            <a:ext cx="557784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153912" y="498348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node-cron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09560" y="498348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4.2.1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32520" y="498348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Background scheduler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80760" y="5422392"/>
            <a:ext cx="557784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153912" y="549554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Nodemailer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09560" y="549554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7.x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32520" y="549554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Email notifications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6144768"/>
            <a:ext cx="11521440" cy="274320"/>
          </a:xfrm>
          <a:prstGeom prst="rect">
            <a:avLst/>
          </a:prstGeom>
          <a:solidFill>
            <a:srgbClr val="1E293B"/>
          </a:solidFill>
          <a:ln w="508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6153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⚙  Node.js 18+ Server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91840" y="6153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⚙  4GB+ RAM (8GB rec.)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0" y="6153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⚙  10GB+ Storage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61120" y="6153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⚙  LAN / Network Connectivity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Testing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10/10 Test Cases Passed — Zero Critical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6400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188720"/>
            <a:ext cx="557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143000"/>
            <a:ext cx="17830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1188720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Test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143000"/>
            <a:ext cx="24231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98648" y="1188720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143000"/>
            <a:ext cx="42519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67528" y="1188720"/>
            <a:ext cx="4169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Expected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143000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65208" y="1188720"/>
            <a:ext cx="2203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490472"/>
            <a:ext cx="640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1545336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1490472"/>
            <a:ext cx="1783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545336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Valid Login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1490472"/>
            <a:ext cx="24231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98648" y="1545336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Correct email + password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1490472"/>
            <a:ext cx="42519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67528" y="1545336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JWT issued, redirect to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490472"/>
            <a:ext cx="228600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65208" y="1545336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1997964"/>
            <a:ext cx="640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2052828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1997964"/>
            <a:ext cx="1783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2052828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Invalid Login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1997964"/>
            <a:ext cx="24231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98648" y="2052828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Wrong password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1997964"/>
            <a:ext cx="42519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67528" y="2052828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'Invalid credentials' error, no token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1997964"/>
            <a:ext cx="228600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65208" y="2052828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505456"/>
            <a:ext cx="640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2560320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2505456"/>
            <a:ext cx="1783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69848" y="2560320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Booking Conflict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2505456"/>
            <a:ext cx="24231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98648" y="256032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Overlapping time slot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2505456"/>
            <a:ext cx="42519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67528" y="2560320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Conflict detected, booking rejected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2505456"/>
            <a:ext cx="228600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65208" y="2560320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012948"/>
            <a:ext cx="640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4048" y="3067812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" y="3012948"/>
            <a:ext cx="1783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9848" y="3067812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RBAC Enforcement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3012948"/>
            <a:ext cx="24231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898648" y="3067812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Student → admin route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0" y="3012948"/>
            <a:ext cx="42519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67528" y="306781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403 Forbidden response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3012948"/>
            <a:ext cx="228600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65208" y="306781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520440"/>
            <a:ext cx="640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4048" y="3575304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3520440"/>
            <a:ext cx="1783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69848" y="3575304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Session Enforcement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3520440"/>
            <a:ext cx="24231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898648" y="3575304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Login from 2nd device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03520" y="3520440"/>
            <a:ext cx="42519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67528" y="3575304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1st device session invalidated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3520440"/>
            <a:ext cx="228600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65208" y="3575304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027932"/>
            <a:ext cx="640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84048" y="4082796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5840" y="4027932"/>
            <a:ext cx="1783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69848" y="4082796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Password Reset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4027932"/>
            <a:ext cx="24231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898648" y="4082796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Valid email submitted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0" y="4027932"/>
            <a:ext cx="42519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67528" y="4082796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Reset email sent with token link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1200" y="4027932"/>
            <a:ext cx="228600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665208" y="4082796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4535424"/>
            <a:ext cx="640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84048" y="4590288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5840" y="4535424"/>
            <a:ext cx="1783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69848" y="4590288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SQL Injection via WAF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834640" y="4535424"/>
            <a:ext cx="24231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898648" y="4590288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'; DROP TABLE users;--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03520" y="4535424"/>
            <a:ext cx="42519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367528" y="4590288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Blocked by WAF, rejected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601200" y="4535424"/>
            <a:ext cx="228600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665208" y="4590288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5042916"/>
            <a:ext cx="640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84048" y="5097780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5840" y="5042916"/>
            <a:ext cx="1783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69848" y="5097780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XSS Attack via WAF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34640" y="5042916"/>
            <a:ext cx="24231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898648" y="509778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&lt;script&gt;alert(1)&lt;/script&gt;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303520" y="5042916"/>
            <a:ext cx="42519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367528" y="5097780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Blocked by WAF, sanitized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0" y="5042916"/>
            <a:ext cx="228600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665208" y="5097780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" y="5550408"/>
            <a:ext cx="640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84048" y="5605272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5840" y="5550408"/>
            <a:ext cx="178308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69848" y="5605272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Audit Immutability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834640" y="5550408"/>
            <a:ext cx="24231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898648" y="5605272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DELETE from audit_logs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03520" y="5550408"/>
            <a:ext cx="425196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367528" y="560527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PostgreSQL RULE prevents deletion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601200" y="5550408"/>
            <a:ext cx="2286000" cy="475488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665208" y="560527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6057900"/>
            <a:ext cx="640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384048" y="6112764"/>
            <a:ext cx="557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TC10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" y="6057900"/>
            <a:ext cx="178308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69848" y="6112764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WebSocket Sync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834640" y="6057900"/>
            <a:ext cx="24231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898648" y="6112764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Calibri"/>
              </a:rPr>
              <a:t>Create booking on Device 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303520" y="6057900"/>
            <a:ext cx="425196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367528" y="6112764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Device B receives real-time update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601200" y="6057900"/>
            <a:ext cx="2286000" cy="475488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665208" y="6112764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6400800"/>
            <a:ext cx="1152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Evolution Across 3 Reviews — All Milestones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CampusWise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8745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CAE4"/>
                </a:solidFill>
                <a:latin typeface="Calibri"/>
              </a:rPr>
              <a:t>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170432"/>
            <a:ext cx="251460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40" y="1225296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  <a:latin typeface="Calibri"/>
              </a:rPr>
              <a:t>1st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170432"/>
            <a:ext cx="25146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1225296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CAE4"/>
                </a:solidFill>
                <a:latin typeface="Calibri"/>
              </a:rPr>
              <a:t>2nd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170432"/>
            <a:ext cx="4892040" cy="3657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19" y="1225296"/>
            <a:ext cx="4773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Calibri"/>
              </a:rPr>
              <a:t>Final Review (3rd)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36192"/>
            <a:ext cx="187452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160934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536192"/>
            <a:ext cx="251460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77440" y="1609344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localStorage-based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1536192"/>
            <a:ext cx="251460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1609344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Migration started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536192"/>
            <a:ext cx="489204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19" y="1609344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F3D0"/>
                </a:solidFill>
                <a:latin typeface="Calibri"/>
              </a:rPr>
              <a:t>Full PostgreSQL (59 migrations)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157984"/>
            <a:ext cx="187452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231136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Authentication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157984"/>
            <a:ext cx="251460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77440" y="2231136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Basic JWT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2157984"/>
            <a:ext cx="251460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2231136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JWT + bcrypt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157984"/>
            <a:ext cx="489204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19" y="2231136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F3D0"/>
                </a:solidFill>
                <a:latin typeface="Calibri"/>
              </a:rPr>
              <a:t>JWT + bcrypt + session + login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779776"/>
            <a:ext cx="187452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2852928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RBAC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2779776"/>
            <a:ext cx="251460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0" y="2852928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5 permission levels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2779776"/>
            <a:ext cx="251460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83480" y="2852928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5-level RBAC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2779776"/>
            <a:ext cx="489204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19" y="2852928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F3D0"/>
                </a:solidFill>
                <a:latin typeface="Calibri"/>
              </a:rPr>
              <a:t>7-level hierarchy (Student → Mgmt)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01568"/>
            <a:ext cx="187452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347472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Security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3401568"/>
            <a:ext cx="251460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77440" y="3474720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Basic rate limiting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3401568"/>
            <a:ext cx="251460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83480" y="3474720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Rate limiting + audit logs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3401568"/>
            <a:ext cx="489204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89519" y="3474720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F3D0"/>
                </a:solidFill>
                <a:latin typeface="Calibri"/>
              </a:rPr>
              <a:t>WAF + Immutable audit + geo + soft-delete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023360"/>
            <a:ext cx="187452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4096512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Email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4023360"/>
            <a:ext cx="251460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77440" y="4096512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Not implemented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4023360"/>
            <a:ext cx="251460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83480" y="4096512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Planned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4023360"/>
            <a:ext cx="489204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89519" y="4096512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F3D0"/>
                </a:solidFill>
                <a:latin typeface="Calibri"/>
              </a:rPr>
              <a:t>Nodemailer + 8 Handlebars templates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645152"/>
            <a:ext cx="187452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1480" y="471830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Load Balancer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4645152"/>
            <a:ext cx="251460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377440" y="4718304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Not implemented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92040" y="4645152"/>
            <a:ext cx="251460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83480" y="4718304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Not implemented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79" y="4645152"/>
            <a:ext cx="489204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89519" y="4718304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F3D0"/>
                </a:solidFill>
                <a:latin typeface="Calibri"/>
              </a:rPr>
              <a:t>Custom WAF + Admin dashboard (Port 9000)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266944"/>
            <a:ext cx="187452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" y="5340096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Reports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0" y="5266944"/>
            <a:ext cx="251460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377440" y="5340096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90% complete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92040" y="5266944"/>
            <a:ext cx="251460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983480" y="5340096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95% complete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79" y="5266944"/>
            <a:ext cx="4892040" cy="585216"/>
          </a:xfrm>
          <a:prstGeom prst="rect">
            <a:avLst/>
          </a:prstGeom>
          <a:solidFill>
            <a:srgbClr val="132A52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589519" y="5340096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F3D0"/>
                </a:solidFill>
                <a:latin typeface="Calibri"/>
              </a:rPr>
              <a:t>100% complete with CSV export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888736"/>
            <a:ext cx="187452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1480" y="5961888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  <a:latin typeface="Calibri"/>
              </a:rPr>
              <a:t>Test Cases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5888736"/>
            <a:ext cx="251460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377440" y="5961888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Manual only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92040" y="5888736"/>
            <a:ext cx="251460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83480" y="5961888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Partial automation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98079" y="5888736"/>
            <a:ext cx="4892040" cy="585216"/>
          </a:xfrm>
          <a:prstGeom prst="rect">
            <a:avLst/>
          </a:prstGeom>
          <a:solidFill>
            <a:srgbClr val="1E293B"/>
          </a:solidFill>
          <a:ln w="2540">
            <a:solidFill>
              <a:srgbClr val="13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89519" y="5961888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F3D0"/>
                </a:solidFill>
                <a:latin typeface="Calibri"/>
              </a:rPr>
              <a:t>10/10 test cases — all passed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  <a:latin typeface="Calibri"/>
              </a:rPr>
              <a:t>What Was Achieved &amp;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>
                <a:solidFill>
                  <a:srgbClr val="94A3B8"/>
                </a:solidFill>
                <a:latin typeface="Calibri"/>
              </a:rPr>
              <a:t>CampusWise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 Smart Hub  |  Final Review (3rd Review)  |  March 2026  |  The Apollo University  |  CSE – AI&amp;DS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623560" cy="5029200"/>
          </a:xfrm>
          <a:prstGeom prst="rect">
            <a:avLst/>
          </a:prstGeom>
          <a:solidFill>
            <a:srgbClr val="132A52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Key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11 integrated modules — 100%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4825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Full PostgreSQL backend — 59 migrations applied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7-level RBAC with immutable audit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950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Real-time WebSocket synchronization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Custom load balancer with WAF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307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Email notification system — 8 Handlebars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5137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Single-device session enforcement at DB constraint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10/10 test cases passing — zero critical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9262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Intranet-accessible across any campus network topology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1324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  <a:latin typeface="Calibri"/>
              </a:rPr>
              <a:t>✅  Supports 500+ concurrent users, &lt;2s page 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143000"/>
            <a:ext cx="5760720" cy="5029200"/>
          </a:xfrm>
          <a:prstGeom prst="rect">
            <a:avLst/>
          </a:prstGeom>
          <a:solidFill>
            <a:srgbClr val="132A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Future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27632"/>
            <a:ext cx="5440680" cy="658368"/>
          </a:xfrm>
          <a:prstGeom prst="rect">
            <a:avLst/>
          </a:prstGeom>
          <a:solidFill>
            <a:srgbClr val="1E293B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627632"/>
            <a:ext cx="38404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166420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IoT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19751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Physical sensors for automated energy/water meter readings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377440"/>
            <a:ext cx="5440680" cy="658368"/>
          </a:xfrm>
          <a:prstGeom prst="rect">
            <a:avLst/>
          </a:prstGeom>
          <a:solidFill>
            <a:srgbClr val="1E293B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2377440"/>
            <a:ext cx="38404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253288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41401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Mobile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272491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Native Android/iOS app using React Native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127248"/>
            <a:ext cx="5440680" cy="658368"/>
          </a:xfrm>
          <a:prstGeom prst="rect">
            <a:avLst/>
          </a:prstGeom>
          <a:solidFill>
            <a:srgbClr val="1E293B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3127248"/>
            <a:ext cx="38404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32826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316382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AI-Powered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34747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ML for predictive maintenance &amp; demand forecasting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877056"/>
            <a:ext cx="5440680" cy="658368"/>
          </a:xfrm>
          <a:prstGeom prst="rect">
            <a:avLst/>
          </a:prstGeom>
          <a:solidFill>
            <a:srgbClr val="1E293B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3877056"/>
            <a:ext cx="38404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40325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391363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Multi-Campus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422452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Federated deployments across multiple campuses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626864"/>
            <a:ext cx="5440680" cy="658368"/>
          </a:xfrm>
          <a:prstGeom prst="rect">
            <a:avLst/>
          </a:prstGeom>
          <a:solidFill>
            <a:srgbClr val="1E293B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4626864"/>
            <a:ext cx="38404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47823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4663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Cloud Deployment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6832" y="497433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Migrate to AWS/Azure for internet-accessible hosting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376672"/>
            <a:ext cx="5440680" cy="658368"/>
          </a:xfrm>
          <a:prstGeom prst="rect">
            <a:avLst/>
          </a:prstGeom>
          <a:solidFill>
            <a:srgbClr val="1E293B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217920" y="5376672"/>
            <a:ext cx="38404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17920" y="553212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541324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Biometric 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6832" y="572414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Fingerprint/face recognition for attendance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3071</Words>
  <Application>Microsoft Office PowerPoint</Application>
  <PresentationFormat>Custom</PresentationFormat>
  <Paragraphs>622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Adabala</cp:lastModifiedBy>
  <cp:revision>4</cp:revision>
  <dcterms:created xsi:type="dcterms:W3CDTF">2013-01-27T09:14:16Z</dcterms:created>
  <dcterms:modified xsi:type="dcterms:W3CDTF">2026-03-27T18:04:34Z</dcterms:modified>
  <cp:category/>
</cp:coreProperties>
</file>