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  <p:sldMasterId id="214748366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FD7D11-13F4-4B9D-B63E-7E6D320F2184}">
  <a:tblStyle styleId="{7CFD7D11-13F4-4B9D-B63E-7E6D320F218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24" Type="http://schemas.openxmlformats.org/officeDocument/2006/relationships/slide" Target="slides/slide17.xml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c0b155d50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c0b155d50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0b155d503_2_3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g3c0b155d503_2_3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c0b155d503_2_3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0b155d503_2_6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g3c0b155d503_2_6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c0b155d503_2_6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0b155d503_2_9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g3c0b155d503_2_9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c0b155d503_2_9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0b155d503_2_10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c0b155d503_2_10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c0b155d503_2_10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0b155d503_2_14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c0b155d503_2_14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c0b155d503_2_14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0b155d503_2_17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g3c0b155d503_2_17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c0b155d503_2_17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c0b155d503_2_19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3c0b155d503_2_19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c0b155d503_2_19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0b155d503_2_27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c0b155d503_2_27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c0b155d503_2_27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0b155d503_2_35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c0b155d503_2_35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3c0b155d503_2_35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c0b155d503_2_4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g3c0b155d503_2_42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g3c0b155d503_2_42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0b155d503_2_4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c0b155d503_2_4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g3c0b155d503_2_4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c0b155d503_2_52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g3c0b155d503_2_52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c0b155d503_2_52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c0b155d503_2_57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1" name="Google Shape;611;g3c0b155d503_2_57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g3c0b155d503_2_57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c0b155d503_2_58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3c0b155d503_2_58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g3c0b155d503_2_58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c0b155d503_2_64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4" name="Google Shape;684;g3c0b155d503_2_641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g3c0b155d503_2_641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c0b155d503_2_68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g3c0b155d503_2_68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g3c0b155d503_2_68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design this by adujusting dat in it ,&#10;TEAM MEMBER&#10;&#10;CampusWise&#10;&#10;Pavan Adabala &#10;122210701103&#10;&#10;Smart Hub&#10;&#10;Integrated Campus Resource &amp; Workforce Management System&#10;&#10;🎓  Second Review  |  February 2026&#10;&#10;School of Technology, Dept. of CSE (AI&amp;DS)&#10;&#10;&#10;The Apollo University, Chittoor, Andhra Pradesh&#10;&#10;BTAP4502&#10;&#10;B.Tech – AI &amp; DS  |  VIII Sem&#10;&#10;Supervisor: Vivekanandan.T&#10;&#10;" id="57" name="Google Shape;5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7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Abstract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7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Project Overview &amp; Key Highlights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7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7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7"/>
          <p:cNvSpPr/>
          <p:nvPr/>
        </p:nvSpPr>
        <p:spPr>
          <a:xfrm>
            <a:off x="365760" y="914400"/>
            <a:ext cx="84124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7"/>
          <p:cNvSpPr/>
          <p:nvPr/>
        </p:nvSpPr>
        <p:spPr>
          <a:xfrm>
            <a:off x="365760" y="914400"/>
            <a:ext cx="73152" cy="65836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566928" y="95097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Unified Platform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7"/>
          <p:cNvSpPr/>
          <p:nvPr/>
        </p:nvSpPr>
        <p:spPr>
          <a:xfrm>
            <a:off x="566928" y="1207008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Integrates 11 campus management modules — venue booking, staff workload, energy monitoring, water management, equipment maintenance, and training — into a single role-based platform.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7"/>
          <p:cNvSpPr/>
          <p:nvPr/>
        </p:nvSpPr>
        <p:spPr>
          <a:xfrm>
            <a:off x="365760" y="1673352"/>
            <a:ext cx="8412480" cy="65836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"/>
          <p:cNvSpPr/>
          <p:nvPr/>
        </p:nvSpPr>
        <p:spPr>
          <a:xfrm>
            <a:off x="365760" y="1673352"/>
            <a:ext cx="73152" cy="65836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7"/>
          <p:cNvSpPr/>
          <p:nvPr/>
        </p:nvSpPr>
        <p:spPr>
          <a:xfrm>
            <a:off x="566928" y="170992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566928" y="196596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Built with React 18, TypeScript, Node.js, Express, and PostgreSQL. WebSocket-based real-time synchronization with JWT + bcrypt authentication.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365760" y="2432304"/>
            <a:ext cx="84124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365760" y="2432304"/>
            <a:ext cx="73152" cy="65836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/>
          <p:nvPr/>
        </p:nvSpPr>
        <p:spPr>
          <a:xfrm>
            <a:off x="566928" y="24688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Role-Based Access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/>
          <p:nvPr/>
        </p:nvSpPr>
        <p:spPr>
          <a:xfrm>
            <a:off x="566928" y="272491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7-level RBAC hierarchy (Student → Management) with 7 distinct dashboards tailored to each user role.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7"/>
          <p:cNvSpPr/>
          <p:nvPr/>
        </p:nvSpPr>
        <p:spPr>
          <a:xfrm>
            <a:off x="365760" y="3191256"/>
            <a:ext cx="8412480" cy="65836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7"/>
          <p:cNvSpPr/>
          <p:nvPr/>
        </p:nvSpPr>
        <p:spPr>
          <a:xfrm>
            <a:off x="365760" y="3191256"/>
            <a:ext cx="73152" cy="65836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/>
          <p:nvPr/>
        </p:nvSpPr>
        <p:spPr>
          <a:xfrm>
            <a:off x="566928" y="322783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7"/>
          <p:cNvSpPr/>
          <p:nvPr/>
        </p:nvSpPr>
        <p:spPr>
          <a:xfrm>
            <a:off x="566928" y="3483864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Single-device session enforcement, immutable audit logs, WAF with SQL injection &amp; XSS protection, and geolocation-based login history.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7"/>
          <p:cNvSpPr/>
          <p:nvPr/>
        </p:nvSpPr>
        <p:spPr>
          <a:xfrm>
            <a:off x="365760" y="3950208"/>
            <a:ext cx="841248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/>
          <p:nvPr/>
        </p:nvSpPr>
        <p:spPr>
          <a:xfrm>
            <a:off x="365760" y="3950208"/>
            <a:ext cx="73152" cy="65836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/>
          <p:nvPr/>
        </p:nvSpPr>
        <p:spPr>
          <a:xfrm>
            <a:off x="566928" y="398678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566928" y="4242816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Supports 500+ concurrent users with sub-2-second page loads. </a:t>
            </a:r>
            <a:r>
              <a:rPr lang="en" sz="9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database migrations for full PostgreSQL architecture.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8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Project Domain &amp; Real-World Significance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/>
          <p:nvPr/>
        </p:nvSpPr>
        <p:spPr>
          <a:xfrm>
            <a:off x="365760" y="914400"/>
            <a:ext cx="265176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365760" y="914400"/>
            <a:ext cx="2651760" cy="73152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502920" y="102412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🌐  Full-Stack Web Dev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502920" y="137160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Component-based </a:t>
            </a:r>
            <a:r>
              <a:rPr b="0" i="0" lang="en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SPA</a:t>
            </a:r>
            <a:r>
              <a:rPr b="0" i="0" lang="en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using React + TypeScript on frontend, Node.js + Express REST API on backend, PostgreSQL relational database.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8"/>
          <p:cNvSpPr/>
          <p:nvPr/>
        </p:nvSpPr>
        <p:spPr>
          <a:xfrm>
            <a:off x="3200400" y="914400"/>
            <a:ext cx="265176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3200400" y="914400"/>
            <a:ext cx="2651760" cy="73152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3337560" y="102412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🎓  Educational Technology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8"/>
          <p:cNvSpPr/>
          <p:nvPr/>
        </p:nvSpPr>
        <p:spPr>
          <a:xfrm>
            <a:off x="3337560" y="137160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Addresses operational inefficiencies in Indian higher education. Aligns with NAAC/NBA accreditation sustainability metrics.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8"/>
          <p:cNvSpPr/>
          <p:nvPr/>
        </p:nvSpPr>
        <p:spPr>
          <a:xfrm>
            <a:off x="6035040" y="914400"/>
            <a:ext cx="265176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8"/>
          <p:cNvSpPr/>
          <p:nvPr/>
        </p:nvSpPr>
        <p:spPr>
          <a:xfrm>
            <a:off x="6035040" y="914400"/>
            <a:ext cx="2651760" cy="7315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6172200" y="1024128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🏢  Enterprise Resource Planning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6172200" y="137160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Unified ERP-style system replacing 5+ fragmented tools with real-time monitoring, analytics, and automated approval workflows.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365760" y="25146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Importance in Real-World Context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8"/>
          <p:cNvSpPr/>
          <p:nvPr/>
        </p:nvSpPr>
        <p:spPr>
          <a:xfrm>
            <a:off x="365760" y="2834640"/>
            <a:ext cx="1920240" cy="10058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/>
          <p:nvPr/>
        </p:nvSpPr>
        <p:spPr>
          <a:xfrm>
            <a:off x="411480" y="29260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₹20-</a:t>
            </a:r>
            <a:r>
              <a:rPr b="1" lang="en" sz="2000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i="0" lang="en" sz="2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00Cr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8"/>
          <p:cNvSpPr/>
          <p:nvPr/>
        </p:nvSpPr>
        <p:spPr>
          <a:xfrm>
            <a:off x="438912" y="3401568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Annual infra spend by Indian HEIs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2468880" y="2834640"/>
            <a:ext cx="1920240" cy="10058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2514600" y="29260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15-25%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2542032" y="3401568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Resource waste due to poor management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4572000" y="2834640"/>
            <a:ext cx="1920240" cy="10058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8"/>
          <p:cNvSpPr/>
          <p:nvPr/>
        </p:nvSpPr>
        <p:spPr>
          <a:xfrm>
            <a:off x="4617720" y="29260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5+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4645152" y="3401568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Fragmented tools replaced by one platform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6675120" y="2834640"/>
            <a:ext cx="1920240" cy="10058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6720840" y="292608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NAAC/NBA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6748272" y="3401568"/>
            <a:ext cx="17739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Accreditation weight on sustainability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/>
          <p:nvPr/>
        </p:nvSpPr>
        <p:spPr>
          <a:xfrm>
            <a:off x="365760" y="3931920"/>
            <a:ext cx="8412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Post-pandemic hybrid education requires dynamic, conflict-free resource allocation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Manual processes (paper registers, spreadsheets) cannot scale to modern institutional demands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Digital transformation of campus operations is critical for competitive accreditation outcomes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9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Review of 12 Key Research Papers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9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9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7" name="Google Shape;137;p19"/>
          <p:cNvGraphicFramePr/>
          <p:nvPr/>
        </p:nvGraphicFramePr>
        <p:xfrm>
          <a:off x="27432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{7CFD7D11-13F4-4B9D-B63E-7E6D320F2184}</a:tableStyleId>
              </a:tblPr>
              <a:tblGrid>
                <a:gridCol w="411475"/>
                <a:gridCol w="1508750"/>
                <a:gridCol w="1828800"/>
                <a:gridCol w="2423150"/>
                <a:gridCol w="242315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S.No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Author &amp; Year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Focus Area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Key Finding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Research Gap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1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Chen et al., 2023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IoT Campus Management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30% energy waste reduction via IoT sensors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No integration with booking/HR systems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2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Kumar &amp; Singh, 2022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Real-Time Booking (WS)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60% faster response vs. polling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Limited to single-purpose booking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3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Johnson et al., 2023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RBAC Enterprise Systems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45% fewer security incidents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Not adapted for academic hierarchies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4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Wang &amp; Lee, 2022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Predictive Maintenance (ML)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85% failure prediction accuracy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Siloed from HR and scheduling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5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Patel et al., 2023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Energy Management Systems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25% consumption reduction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No workflow/approval integration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6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Anderson, 2022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Smart Water Metering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10× faster leak detection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Standalone, no campus integration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7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Thompson, 2023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HR Workload Optimization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40% burnout reduction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No real-time monitoring/alerting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8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Davis et al., 2023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PostgreSQL Performance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70% query speed improvement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Application-specific tuning needed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0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Operational Inefficiencies in Campus Resource Management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320040" y="868680"/>
            <a:ext cx="8503920" cy="640080"/>
          </a:xfrm>
          <a:prstGeom prst="rect">
            <a:avLst/>
          </a:prstGeom>
          <a:solidFill>
            <a:srgbClr val="FEF9C3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0"/>
          <p:cNvSpPr/>
          <p:nvPr/>
        </p:nvSpPr>
        <p:spPr>
          <a:xfrm>
            <a:off x="320040" y="868680"/>
            <a:ext cx="73152" cy="6400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0"/>
          <p:cNvSpPr/>
          <p:nvPr/>
        </p:nvSpPr>
        <p:spPr>
          <a:xfrm>
            <a:off x="530352" y="896112"/>
            <a:ext cx="81838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8350F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78350F"/>
                </a:solidFill>
                <a:latin typeface="Calibri"/>
                <a:ea typeface="Calibri"/>
                <a:cs typeface="Calibri"/>
                <a:sym typeface="Calibri"/>
              </a:rPr>
              <a:t>Educational institutions face significant operational inefficiencies due to manual, fragmented resource management, resulting in 15-25% resource underutilization, 8-12% energy wastage, scheduling conflicts affecting 20% of bookings, and approval workflows averaging 3-5 business days.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0"/>
          <p:cNvSpPr/>
          <p:nvPr/>
        </p:nvSpPr>
        <p:spPr>
          <a:xfrm>
            <a:off x="320040" y="1627632"/>
            <a:ext cx="1618488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0"/>
          <p:cNvSpPr/>
          <p:nvPr/>
        </p:nvSpPr>
        <p:spPr>
          <a:xfrm>
            <a:off x="320040" y="1627632"/>
            <a:ext cx="1618488" cy="6400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0"/>
          <p:cNvSpPr/>
          <p:nvPr/>
        </p:nvSpPr>
        <p:spPr>
          <a:xfrm>
            <a:off x="365760" y="1719072"/>
            <a:ext cx="1527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62%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/>
          <p:nvPr/>
        </p:nvSpPr>
        <p:spPr>
          <a:xfrm>
            <a:off x="365760" y="2121408"/>
            <a:ext cx="1527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Resource Utilization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0"/>
          <p:cNvSpPr/>
          <p:nvPr/>
        </p:nvSpPr>
        <p:spPr>
          <a:xfrm>
            <a:off x="365760" y="2377440"/>
            <a:ext cx="1527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₹4.2L annual waste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2029968" y="1627632"/>
            <a:ext cx="1618488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0"/>
          <p:cNvSpPr/>
          <p:nvPr/>
        </p:nvSpPr>
        <p:spPr>
          <a:xfrm>
            <a:off x="2029968" y="1627632"/>
            <a:ext cx="1618488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2075688" y="1719072"/>
            <a:ext cx="1527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12%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2075688" y="2121408"/>
            <a:ext cx="1527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Above Optimal Energy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2075688" y="2377440"/>
            <a:ext cx="1527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₹3.8L excess cost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3739896" y="1627632"/>
            <a:ext cx="1618488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3739896" y="1627632"/>
            <a:ext cx="1618488" cy="6400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3785616" y="1719072"/>
            <a:ext cx="1527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94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3785616" y="2121408"/>
            <a:ext cx="1527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Conflicts / Month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/>
          <p:nvPr/>
        </p:nvSpPr>
        <p:spPr>
          <a:xfrm>
            <a:off x="3785616" y="2377440"/>
            <a:ext cx="1527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156 hrs rescheduling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5449824" y="1627632"/>
            <a:ext cx="1618488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5449824" y="1627632"/>
            <a:ext cx="1618488" cy="64008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5495544" y="1719072"/>
            <a:ext cx="1527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3-5d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5495544" y="2121408"/>
            <a:ext cx="1527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Approval Turnaround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/>
          <p:nvPr/>
        </p:nvSpPr>
        <p:spPr>
          <a:xfrm>
            <a:off x="5495544" y="2377440"/>
            <a:ext cx="1527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Event planning delays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/>
          <p:nvPr/>
        </p:nvSpPr>
        <p:spPr>
          <a:xfrm>
            <a:off x="7159752" y="1627632"/>
            <a:ext cx="1618488" cy="1051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/>
          <p:nvPr/>
        </p:nvSpPr>
        <p:spPr>
          <a:xfrm>
            <a:off x="7159752" y="1627632"/>
            <a:ext cx="1618488" cy="6400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7205472" y="1719072"/>
            <a:ext cx="15270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24.5h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7205472" y="2121408"/>
            <a:ext cx="1527048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Workload Variance SD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7205472" y="2377440"/>
            <a:ext cx="152704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Burnout &amp; attrition risk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320040" y="281635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Why a Unified Solution is Needed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320040" y="3127248"/>
            <a:ext cx="85039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Unified Platform — Single system replacing 5+ fragmented tools with shared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Real-Time Visibility — Instant updates via WebSocket, eliminating stale data conflicts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Automated Workflows — Approval chains with escalation, reducing human intervention and delays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Data-Driven Decisions — Analytics dashboards for proactive, not reactive, management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50"/>
              <a:buFont typeface="Calibri"/>
              <a:buChar char="•"/>
            </a:pPr>
            <a:r>
              <a:rPr b="0" i="0" lang="en" sz="9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Security-First Design — JWT + session enforcement + WAF protection from day one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1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SMART Analysis of Primary Goals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1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0" name="Google Shape;190;p21"/>
          <p:cNvGraphicFramePr/>
          <p:nvPr/>
        </p:nvGraphicFramePr>
        <p:xfrm>
          <a:off x="27432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{7CFD7D11-13F4-4B9D-B63E-7E6D320F2184}</a:tableStyleId>
              </a:tblPr>
              <a:tblGrid>
                <a:gridCol w="457200"/>
                <a:gridCol w="3200400"/>
                <a:gridCol w="4023350"/>
                <a:gridCol w="7315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</a:rPr>
                        <a:t>#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</a:rPr>
                        <a:t>Objective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</a:rPr>
                        <a:t>Measurable Target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</a:rPr>
                        <a:t>Status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891B2"/>
                          </a:solidFill>
                        </a:rPr>
                        <a:t>O1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2557"/>
                          </a:solidFill>
                        </a:rPr>
                        <a:t>Unified Management Platform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E293B"/>
                          </a:solidFill>
                        </a:rPr>
                        <a:t>Single dashboard for all 11 modules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0B981"/>
                          </a:solidFill>
                        </a:rPr>
                        <a:t>✅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891B2"/>
                          </a:solidFill>
                        </a:rPr>
                        <a:t>O2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2557"/>
                          </a:solidFill>
                        </a:rPr>
                        <a:t>Real-Time Booking System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E293B"/>
                          </a:solidFill>
                        </a:rPr>
                        <a:t>&lt;100ms WebSocket update latency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0B981"/>
                          </a:solidFill>
                        </a:rPr>
                        <a:t>✅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891B2"/>
                          </a:solidFill>
                        </a:rPr>
                        <a:t>O3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2557"/>
                          </a:solidFill>
                        </a:rPr>
                        <a:t>HR Workload Management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E293B"/>
                          </a:solidFill>
                        </a:rPr>
                        <a:t>100% staff allocation with stress index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0B981"/>
                          </a:solidFill>
                        </a:rPr>
                        <a:t>✅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891B2"/>
                          </a:solidFill>
                        </a:rPr>
                        <a:t>O4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2557"/>
                          </a:solidFill>
                        </a:rPr>
                        <a:t>Energy Monitoring Dashboard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E293B"/>
                          </a:solidFill>
                        </a:rPr>
                        <a:t>Real-time meters + anomaly detection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0B981"/>
                          </a:solidFill>
                        </a:rPr>
                        <a:t>✅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891B2"/>
                          </a:solidFill>
                        </a:rPr>
                        <a:t>O5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2557"/>
                          </a:solidFill>
                        </a:rPr>
                        <a:t>Water Management System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E293B"/>
                          </a:solidFill>
                        </a:rPr>
                        <a:t>Leak detection alerts + location tracking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0B981"/>
                          </a:solidFill>
                        </a:rPr>
                        <a:t>✅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891B2"/>
                          </a:solidFill>
                        </a:rPr>
                        <a:t>O6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2557"/>
                          </a:solidFill>
                        </a:rPr>
                        <a:t>7-Level RBAC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E293B"/>
                          </a:solidFill>
                        </a:rPr>
                        <a:t>Student → Management hierarchy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0B981"/>
                          </a:solidFill>
                        </a:rPr>
                        <a:t>✅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891B2"/>
                          </a:solidFill>
                        </a:rPr>
                        <a:t>O7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2557"/>
                          </a:solidFill>
                        </a:rPr>
                        <a:t>Enterprise-Grade Security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E293B"/>
                          </a:solidFill>
                        </a:rPr>
                        <a:t>JWT + session enforcement + WAF + audit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0B981"/>
                          </a:solidFill>
                        </a:rPr>
                        <a:t>✅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91B2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891B2"/>
                          </a:solidFill>
                        </a:rPr>
                        <a:t>O8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0F2557"/>
                          </a:solidFill>
                        </a:rPr>
                        <a:t>PostgreSQL Migration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900"/>
                        <a:buFont typeface="Calibri"/>
                        <a:buNone/>
                      </a:pPr>
                      <a:r>
                        <a:rPr lang="en" sz="900" u="none" cap="none" strike="noStrike">
                          <a:solidFill>
                            <a:srgbClr val="1E293B"/>
                          </a:solidFill>
                        </a:rPr>
                        <a:t>Zero localStorage dependency for data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alibri"/>
                        <a:buNone/>
                      </a:pPr>
                      <a:r>
                        <a:t/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21"/>
          <p:cNvSpPr/>
          <p:nvPr/>
        </p:nvSpPr>
        <p:spPr>
          <a:xfrm>
            <a:off x="274320" y="4160520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SMART Framework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274320" y="4462272"/>
            <a:ext cx="1627632" cy="384048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320040" y="4462272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658368" y="448056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Specific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Develop 11 integrated modules for campus management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1993392" y="4462272"/>
            <a:ext cx="1627632" cy="384048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1"/>
          <p:cNvSpPr/>
          <p:nvPr/>
        </p:nvSpPr>
        <p:spPr>
          <a:xfrm>
            <a:off x="2039112" y="4462272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2377440" y="448056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Measurable</a:t>
            </a:r>
            <a:b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7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500+ concurrent users, &lt;2s page loads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3712464" y="4462272"/>
            <a:ext cx="1627632" cy="384048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3758184" y="4462272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4096512" y="448056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Achievable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React, Node.js, PostgreSQL proven stack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431536" y="4462272"/>
            <a:ext cx="1627632" cy="384048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477256" y="4462272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815584" y="448056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Relevant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Addresses real institutional needs at Apollo University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7150608" y="4462272"/>
            <a:ext cx="1627632" cy="384048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7196328" y="4462272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800"/>
              <a:buFont typeface="Calibri"/>
              <a:buNone/>
            </a:pPr>
            <a:r>
              <a:rPr b="1" i="0" lang="en" sz="18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7534656" y="448056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Time-bound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Com</a:t>
            </a:r>
            <a:r>
              <a:rPr b="0" i="0" lang="en" sz="7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i="0" lang="en" sz="7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lete by April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Existing System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Current Methods &amp; Their Drawbacks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8" name="Google Shape;218;p22"/>
          <p:cNvGraphicFramePr/>
          <p:nvPr/>
        </p:nvGraphicFramePr>
        <p:xfrm>
          <a:off x="27432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{7CFD7D11-13F4-4B9D-B63E-7E6D320F2184}</a:tableStyleId>
              </a:tblPr>
              <a:tblGrid>
                <a:gridCol w="1828800"/>
                <a:gridCol w="2743200"/>
                <a:gridCol w="4023350"/>
              </a:tblGrid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</a:rPr>
                        <a:t>Solution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900"/>
                        <a:buFont typeface="Calibri"/>
                        <a:buNone/>
                      </a:pPr>
                      <a:r>
                        <a:rPr b="1" lang="en" sz="900" u="none" cap="none" strike="noStrike">
                          <a:solidFill>
                            <a:srgbClr val="FFFFFF"/>
                          </a:solidFill>
                        </a:rPr>
                        <a:t>Key Limitations</a:t>
                      </a:r>
                      <a:endParaRPr sz="9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0F2557"/>
                          </a:solidFill>
                        </a:rPr>
                        <a:t>Manual Registers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1E293B"/>
                          </a:solidFill>
                        </a:rPr>
                        <a:t>Paper-based booking &amp; attendance tracking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EF4444"/>
                          </a:solidFill>
                        </a:rPr>
                        <a:t>No real-time visibility, error-prone, no analytics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0F2557"/>
                          </a:solidFill>
                        </a:rPr>
                        <a:t>Excel Spreadsheets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1E293B"/>
                          </a:solidFill>
                        </a:rPr>
                        <a:t>Resource management via shared files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EF4444"/>
                          </a:solidFill>
                        </a:rPr>
                        <a:t>Version conflicts, no multi-user support, no automation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0F2557"/>
                          </a:solidFill>
                        </a:rPr>
                        <a:t>Commercial ERP (Archibus)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1E293B"/>
                          </a:solidFill>
                        </a:rPr>
                        <a:t>Enterprise facility management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EF4444"/>
                          </a:solidFill>
                        </a:rPr>
                        <a:t>High cost (₹50L+), complex setup, vendor lock-in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0F2557"/>
                          </a:solidFill>
                        </a:rPr>
                        <a:t>Google Workspace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1E293B"/>
                          </a:solidFill>
                        </a:rPr>
                        <a:t>Calendar-based room booking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EF4444"/>
                          </a:solidFill>
                        </a:rPr>
                        <a:t>No resource optimization, basic analytics, no approval flow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0F2557"/>
                          </a:solidFill>
                        </a:rPr>
                        <a:t>Custom In-House Tools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1E293B"/>
                          </a:solidFill>
                        </a:rPr>
                        <a:t>Dept-specific isolated systems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850"/>
                        <a:buFont typeface="Calibri"/>
                        <a:buNone/>
                      </a:pPr>
                      <a:r>
                        <a:rPr lang="en" sz="850" u="none" cap="none" strike="noStrike">
                          <a:solidFill>
                            <a:srgbClr val="EF4444"/>
                          </a:solidFill>
                        </a:rPr>
                        <a:t>Siloed, high maintenance burden, no integration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22"/>
          <p:cNvSpPr/>
          <p:nvPr/>
        </p:nvSpPr>
        <p:spPr>
          <a:xfrm>
            <a:off x="274320" y="3246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6 Core Drawbacks of Existing Systems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274320" y="3566160"/>
            <a:ext cx="2743200" cy="502920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365760" y="3611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⚠️ No Integration  </a:t>
            </a:r>
            <a:r>
              <a:rPr b="0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Each system operates in isolation; data duplicated across tools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3136392" y="3566160"/>
            <a:ext cx="2743200" cy="502920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3227832" y="3611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⚠️ Manual Intervention  </a:t>
            </a:r>
            <a:r>
              <a:rPr b="0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approval and conflict requires human coordination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5998464" y="3566160"/>
            <a:ext cx="2743200" cy="502920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2"/>
          <p:cNvSpPr/>
          <p:nvPr/>
        </p:nvSpPr>
        <p:spPr>
          <a:xfrm>
            <a:off x="6089904" y="3611880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⚠️ Delayed Updates  </a:t>
            </a:r>
            <a:r>
              <a:rPr b="0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real-time sync; stale data causes double-bookings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274320" y="4133088"/>
            <a:ext cx="2743200" cy="502920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365760" y="417880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⚠️ Security Risks  </a:t>
            </a:r>
            <a:r>
              <a:rPr b="0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Token storage in localStorage vulnerable to XSS attacks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3136392" y="4133088"/>
            <a:ext cx="2743200" cy="502920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3227832" y="417880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⚠️ Limited Analytics  </a:t>
            </a:r>
            <a:r>
              <a:rPr b="0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Only reactive reporting; no predictive insights or anomaly detection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998464" y="4133088"/>
            <a:ext cx="2743200" cy="502920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FECD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6089904" y="417880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⚠️ Poor UX  </a:t>
            </a:r>
            <a:r>
              <a:rPr b="0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One-size-fits-all interface, not role-based or responsive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Proposed System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CampusWise Smart Hub — Unified Campus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274320" y="86868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11 Integrated Modules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274320" y="1143000"/>
            <a:ext cx="237744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3"/>
          <p:cNvSpPr/>
          <p:nvPr/>
        </p:nvSpPr>
        <p:spPr>
          <a:xfrm>
            <a:off x="274320" y="1143000"/>
            <a:ext cx="54864" cy="40233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"/>
          <p:cNvSpPr/>
          <p:nvPr/>
        </p:nvSpPr>
        <p:spPr>
          <a:xfrm>
            <a:off x="384048" y="117043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📊  Dashboard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3"/>
          <p:cNvSpPr/>
          <p:nvPr/>
        </p:nvSpPr>
        <p:spPr>
          <a:xfrm>
            <a:off x="384048" y="1344168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role-based variants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2788920" y="1143000"/>
            <a:ext cx="2377440" cy="402336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2788920" y="1143000"/>
            <a:ext cx="54864" cy="40233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3"/>
          <p:cNvSpPr/>
          <p:nvPr/>
        </p:nvSpPr>
        <p:spPr>
          <a:xfrm>
            <a:off x="2898648" y="117043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🏢  Resources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2898648" y="1344168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Venues &amp; equipment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274320" y="1618488"/>
            <a:ext cx="237744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3"/>
          <p:cNvSpPr/>
          <p:nvPr/>
        </p:nvSpPr>
        <p:spPr>
          <a:xfrm>
            <a:off x="274320" y="1618488"/>
            <a:ext cx="54864" cy="40233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3"/>
          <p:cNvSpPr/>
          <p:nvPr/>
        </p:nvSpPr>
        <p:spPr>
          <a:xfrm>
            <a:off x="384048" y="164592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👥  HR / Staff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384048" y="1819656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Workload &amp; burnout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2788920" y="1618488"/>
            <a:ext cx="2377440" cy="402336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2788920" y="1618488"/>
            <a:ext cx="54864" cy="40233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3"/>
          <p:cNvSpPr/>
          <p:nvPr/>
        </p:nvSpPr>
        <p:spPr>
          <a:xfrm>
            <a:off x="2898648" y="164592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⚡  Energy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2898648" y="1819656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monitoring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274320" y="2093976"/>
            <a:ext cx="237744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274320" y="2093976"/>
            <a:ext cx="54864" cy="40233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3"/>
          <p:cNvSpPr/>
          <p:nvPr/>
        </p:nvSpPr>
        <p:spPr>
          <a:xfrm>
            <a:off x="384048" y="2121408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💧  Water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384048" y="2295144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Leak detection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2788920" y="2093976"/>
            <a:ext cx="2377440" cy="402336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3"/>
          <p:cNvSpPr/>
          <p:nvPr/>
        </p:nvSpPr>
        <p:spPr>
          <a:xfrm>
            <a:off x="2788920" y="2093976"/>
            <a:ext cx="54864" cy="40233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2898648" y="2121408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📅  Bookings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2898648" y="2295144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Conflict detection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274320" y="2569464"/>
            <a:ext cx="237744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274320" y="2569464"/>
            <a:ext cx="54864" cy="40233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384048" y="2596896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📚  Training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384048" y="2770632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Compliance tracking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2788920" y="2569464"/>
            <a:ext cx="2377440" cy="402336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2788920" y="2569464"/>
            <a:ext cx="54864" cy="40233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2898648" y="2596896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📈  Reports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2898648" y="2770632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Analytics &amp; export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274320" y="3044952"/>
            <a:ext cx="237744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274320" y="3044952"/>
            <a:ext cx="54864" cy="40233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384048" y="3072384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🔔  Notifications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384048" y="3246120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WebSocket alerts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2788920" y="3044952"/>
            <a:ext cx="2377440" cy="402336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3"/>
          <p:cNvSpPr/>
          <p:nvPr/>
        </p:nvSpPr>
        <p:spPr>
          <a:xfrm>
            <a:off x="2788920" y="3044952"/>
            <a:ext cx="54864" cy="40233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2898648" y="3072384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🔐  Security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2898648" y="3246120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Audit + WAF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274320" y="3520440"/>
            <a:ext cx="2377440" cy="402336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3"/>
          <p:cNvSpPr/>
          <p:nvPr/>
        </p:nvSpPr>
        <p:spPr>
          <a:xfrm>
            <a:off x="274320" y="3520440"/>
            <a:ext cx="54864" cy="40233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3"/>
          <p:cNvSpPr/>
          <p:nvPr/>
        </p:nvSpPr>
        <p:spPr>
          <a:xfrm>
            <a:off x="384048" y="3547872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⚙️  Settings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384048" y="3721608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System config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5257800" y="868680"/>
            <a:ext cx="3566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Advantages Over Existing Systems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5257800" y="1143000"/>
            <a:ext cx="356616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3"/>
          <p:cNvSpPr/>
          <p:nvPr/>
        </p:nvSpPr>
        <p:spPr>
          <a:xfrm>
            <a:off x="5257800" y="1143000"/>
            <a:ext cx="548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3"/>
          <p:cNvSpPr/>
          <p:nvPr/>
        </p:nvSpPr>
        <p:spPr>
          <a:xfrm>
            <a:off x="5394960" y="1216152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 Real-Time Sync:  </a:t>
            </a:r>
            <a:r>
              <a:rPr b="0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WebSocket push vs. manual refresh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5257800" y="1581912"/>
            <a:ext cx="3566160" cy="38404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3"/>
          <p:cNvSpPr/>
          <p:nvPr/>
        </p:nvSpPr>
        <p:spPr>
          <a:xfrm>
            <a:off x="5257800" y="1581912"/>
            <a:ext cx="548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3"/>
          <p:cNvSpPr/>
          <p:nvPr/>
        </p:nvSpPr>
        <p:spPr>
          <a:xfrm>
            <a:off x="5394960" y="1655064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 Security:  </a:t>
            </a:r>
            <a:r>
              <a:rPr b="0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JWT + bcrypt + WAF vs. localStorage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5257800" y="2020824"/>
            <a:ext cx="356616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5257800" y="2020824"/>
            <a:ext cx="548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3"/>
          <p:cNvSpPr/>
          <p:nvPr/>
        </p:nvSpPr>
        <p:spPr>
          <a:xfrm>
            <a:off x="5394960" y="209397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 7 Dashboards:  </a:t>
            </a:r>
            <a:r>
              <a:rPr b="0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Role-based vs. single generic view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5257800" y="2459736"/>
            <a:ext cx="3566160" cy="38404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3"/>
          <p:cNvSpPr/>
          <p:nvPr/>
        </p:nvSpPr>
        <p:spPr>
          <a:xfrm>
            <a:off x="5257800" y="2459736"/>
            <a:ext cx="548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5394960" y="2532888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 500+ Users:  </a:t>
            </a:r>
            <a:r>
              <a:rPr b="0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Connection pooling vs. single user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5257800" y="2898648"/>
            <a:ext cx="356616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5257800" y="2898648"/>
            <a:ext cx="548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3"/>
          <p:cNvSpPr/>
          <p:nvPr/>
        </p:nvSpPr>
        <p:spPr>
          <a:xfrm>
            <a:off x="5394960" y="2971800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 7-Level RBAC:  </a:t>
            </a:r>
            <a:r>
              <a:rPr b="0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Hierarchy vs. basic admin/user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3"/>
          <p:cNvSpPr/>
          <p:nvPr/>
        </p:nvSpPr>
        <p:spPr>
          <a:xfrm>
            <a:off x="5257800" y="3337560"/>
            <a:ext cx="3566160" cy="38404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3"/>
          <p:cNvSpPr/>
          <p:nvPr/>
        </p:nvSpPr>
        <p:spPr>
          <a:xfrm>
            <a:off x="5257800" y="3337560"/>
            <a:ext cx="548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3"/>
          <p:cNvSpPr/>
          <p:nvPr/>
        </p:nvSpPr>
        <p:spPr>
          <a:xfrm>
            <a:off x="5394960" y="3410712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 Audit Trail:  </a:t>
            </a:r>
            <a:r>
              <a:rPr b="0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Immutable logs vs. none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3"/>
          <p:cNvSpPr/>
          <p:nvPr/>
        </p:nvSpPr>
        <p:spPr>
          <a:xfrm>
            <a:off x="5257800" y="3776472"/>
            <a:ext cx="3566160" cy="38404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5257800" y="3776472"/>
            <a:ext cx="548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3"/>
          <p:cNvSpPr/>
          <p:nvPr/>
        </p:nvSpPr>
        <p:spPr>
          <a:xfrm>
            <a:off x="5394960" y="3849624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 Email Alerts:  </a:t>
            </a:r>
            <a:r>
              <a:rPr b="0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 Handlebars templates vs. none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3"/>
          <p:cNvSpPr/>
          <p:nvPr/>
        </p:nvSpPr>
        <p:spPr>
          <a:xfrm>
            <a:off x="5257800" y="4215384"/>
            <a:ext cx="3566160" cy="38404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3"/>
          <p:cNvSpPr/>
          <p:nvPr/>
        </p:nvSpPr>
        <p:spPr>
          <a:xfrm>
            <a:off x="5257800" y="4215384"/>
            <a:ext cx="54864" cy="38404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3"/>
          <p:cNvSpPr/>
          <p:nvPr/>
        </p:nvSpPr>
        <p:spPr>
          <a:xfrm>
            <a:off x="5394960" y="428853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✓  Soft Delete:  </a:t>
            </a:r>
            <a:r>
              <a:rPr b="0" i="0" lang="en" sz="8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Recoverable data vs. hard delete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4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4-Layer Architecture with WAF &amp; WebSocket Integration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4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274320" y="914400"/>
            <a:ext cx="859536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4"/>
          <p:cNvSpPr/>
          <p:nvPr/>
        </p:nvSpPr>
        <p:spPr>
          <a:xfrm>
            <a:off x="274320" y="914400"/>
            <a:ext cx="1920240" cy="86868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24"/>
          <p:cNvSpPr/>
          <p:nvPr/>
        </p:nvSpPr>
        <p:spPr>
          <a:xfrm>
            <a:off x="320040" y="9875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PRESENTATION LAYER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320040" y="128016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D8F0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C0D8F0"/>
                </a:solidFill>
                <a:latin typeface="Calibri"/>
                <a:ea typeface="Calibri"/>
                <a:cs typeface="Calibri"/>
                <a:sym typeface="Calibri"/>
              </a:rPr>
              <a:t>React 18 + TypeScript + Vite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2331720" y="987552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24"/>
          <p:cNvSpPr/>
          <p:nvPr/>
        </p:nvSpPr>
        <p:spPr>
          <a:xfrm>
            <a:off x="2331720" y="987552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Admin Dashboard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3950208" y="987552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4"/>
          <p:cNvSpPr/>
          <p:nvPr/>
        </p:nvSpPr>
        <p:spPr>
          <a:xfrm>
            <a:off x="3950208" y="987552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Faculty Dashboard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5568696" y="987552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5568696" y="987552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HOD Dashboard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7187184" y="987552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4"/>
          <p:cNvSpPr/>
          <p:nvPr/>
        </p:nvSpPr>
        <p:spPr>
          <a:xfrm>
            <a:off x="7187184" y="987552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Student Dashboard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2331720" y="1371600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4"/>
          <p:cNvSpPr/>
          <p:nvPr/>
        </p:nvSpPr>
        <p:spPr>
          <a:xfrm>
            <a:off x="2331720" y="137160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PC Dashboard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3950208" y="1371600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4"/>
          <p:cNvSpPr/>
          <p:nvPr/>
        </p:nvSpPr>
        <p:spPr>
          <a:xfrm>
            <a:off x="3950208" y="137160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Facilities Dashboard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5568696" y="1371600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4"/>
          <p:cNvSpPr/>
          <p:nvPr/>
        </p:nvSpPr>
        <p:spPr>
          <a:xfrm>
            <a:off x="5568696" y="1371600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Management Dashboard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24"/>
          <p:cNvCxnSpPr/>
          <p:nvPr/>
        </p:nvCxnSpPr>
        <p:spPr>
          <a:xfrm>
            <a:off x="4389120" y="1783080"/>
            <a:ext cx="0" cy="118872"/>
          </a:xfrm>
          <a:prstGeom prst="straightConnector1">
            <a:avLst/>
          </a:prstGeom>
          <a:noFill/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24"/>
          <p:cNvSpPr/>
          <p:nvPr/>
        </p:nvSpPr>
        <p:spPr>
          <a:xfrm>
            <a:off x="274320" y="1901952"/>
            <a:ext cx="859536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4"/>
          <p:cNvSpPr/>
          <p:nvPr/>
        </p:nvSpPr>
        <p:spPr>
          <a:xfrm>
            <a:off x="274320" y="1901952"/>
            <a:ext cx="1920240" cy="8686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24"/>
          <p:cNvSpPr/>
          <p:nvPr/>
        </p:nvSpPr>
        <p:spPr>
          <a:xfrm>
            <a:off x="320040" y="197510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SECURITY &amp; LOAD BALANCER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320040" y="2267712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D8F0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C0D8F0"/>
                </a:solidFill>
                <a:latin typeface="Calibri"/>
                <a:ea typeface="Calibri"/>
                <a:cs typeface="Calibri"/>
                <a:sym typeface="Calibri"/>
              </a:rPr>
              <a:t>balancer.cjs — Port 80 / Admin Port 9000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2331720" y="1975104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4"/>
          <p:cNvSpPr/>
          <p:nvPr/>
        </p:nvSpPr>
        <p:spPr>
          <a:xfrm>
            <a:off x="2331720" y="1975104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WAF (SQLi + XSS Filter)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3950208" y="1975104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24"/>
          <p:cNvSpPr/>
          <p:nvPr/>
        </p:nvSpPr>
        <p:spPr>
          <a:xfrm>
            <a:off x="3950208" y="1975104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Rate Limiting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5568696" y="1975104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4"/>
          <p:cNvSpPr/>
          <p:nvPr/>
        </p:nvSpPr>
        <p:spPr>
          <a:xfrm>
            <a:off x="5568696" y="1975104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IP Whitelist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7187184" y="1975104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4"/>
          <p:cNvSpPr/>
          <p:nvPr/>
        </p:nvSpPr>
        <p:spPr>
          <a:xfrm>
            <a:off x="7187184" y="1975104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Health Checks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24"/>
          <p:cNvCxnSpPr/>
          <p:nvPr/>
        </p:nvCxnSpPr>
        <p:spPr>
          <a:xfrm>
            <a:off x="4389120" y="2770632"/>
            <a:ext cx="0" cy="118872"/>
          </a:xfrm>
          <a:prstGeom prst="straightConnector1">
            <a:avLst/>
          </a:prstGeom>
          <a:noFill/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24"/>
          <p:cNvSpPr/>
          <p:nvPr/>
        </p:nvSpPr>
        <p:spPr>
          <a:xfrm>
            <a:off x="274320" y="2889504"/>
            <a:ext cx="859536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4"/>
          <p:cNvSpPr/>
          <p:nvPr/>
        </p:nvSpPr>
        <p:spPr>
          <a:xfrm>
            <a:off x="274320" y="2889504"/>
            <a:ext cx="1920240" cy="868680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1A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4"/>
          <p:cNvSpPr/>
          <p:nvPr/>
        </p:nvSpPr>
        <p:spPr>
          <a:xfrm>
            <a:off x="320040" y="296265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APPLICATION LAYER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4"/>
          <p:cNvSpPr/>
          <p:nvPr/>
        </p:nvSpPr>
        <p:spPr>
          <a:xfrm>
            <a:off x="320040" y="3255264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D8F0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C0D8F0"/>
                </a:solidFill>
                <a:latin typeface="Calibri"/>
                <a:ea typeface="Calibri"/>
                <a:cs typeface="Calibri"/>
                <a:sym typeface="Calibri"/>
              </a:rPr>
              <a:t>Node.js + Express — REST API + WebSocket (Port 5000)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4"/>
          <p:cNvSpPr/>
          <p:nvPr/>
        </p:nvSpPr>
        <p:spPr>
          <a:xfrm>
            <a:off x="2331720" y="2962656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4"/>
          <p:cNvSpPr/>
          <p:nvPr/>
        </p:nvSpPr>
        <p:spPr>
          <a:xfrm>
            <a:off x="2331720" y="296265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Auth Controller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4"/>
          <p:cNvSpPr/>
          <p:nvPr/>
        </p:nvSpPr>
        <p:spPr>
          <a:xfrm>
            <a:off x="3950208" y="2962656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4"/>
          <p:cNvSpPr/>
          <p:nvPr/>
        </p:nvSpPr>
        <p:spPr>
          <a:xfrm>
            <a:off x="3950208" y="296265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Resource Controller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4"/>
          <p:cNvSpPr/>
          <p:nvPr/>
        </p:nvSpPr>
        <p:spPr>
          <a:xfrm>
            <a:off x="5568696" y="2962656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4"/>
          <p:cNvSpPr/>
          <p:nvPr/>
        </p:nvSpPr>
        <p:spPr>
          <a:xfrm>
            <a:off x="5568696" y="296265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HR Controller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7187184" y="2962656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24"/>
          <p:cNvSpPr/>
          <p:nvPr/>
        </p:nvSpPr>
        <p:spPr>
          <a:xfrm>
            <a:off x="7187184" y="2962656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Energy Controller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4"/>
          <p:cNvSpPr/>
          <p:nvPr/>
        </p:nvSpPr>
        <p:spPr>
          <a:xfrm>
            <a:off x="2331720" y="3346704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4"/>
          <p:cNvSpPr/>
          <p:nvPr/>
        </p:nvSpPr>
        <p:spPr>
          <a:xfrm>
            <a:off x="2331720" y="3346704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Water Controller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4"/>
          <p:cNvSpPr/>
          <p:nvPr/>
        </p:nvSpPr>
        <p:spPr>
          <a:xfrm>
            <a:off x="3950208" y="3346704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4"/>
          <p:cNvSpPr/>
          <p:nvPr/>
        </p:nvSpPr>
        <p:spPr>
          <a:xfrm>
            <a:off x="3950208" y="3346704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Booking Controller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4"/>
          <p:cNvSpPr/>
          <p:nvPr/>
        </p:nvSpPr>
        <p:spPr>
          <a:xfrm>
            <a:off x="5568696" y="3346704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24"/>
          <p:cNvSpPr/>
          <p:nvPr/>
        </p:nvSpPr>
        <p:spPr>
          <a:xfrm>
            <a:off x="5568696" y="3346704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Audit Controller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p24"/>
          <p:cNvCxnSpPr/>
          <p:nvPr/>
        </p:nvCxnSpPr>
        <p:spPr>
          <a:xfrm>
            <a:off x="4389120" y="3758184"/>
            <a:ext cx="0" cy="118872"/>
          </a:xfrm>
          <a:prstGeom prst="straightConnector1">
            <a:avLst/>
          </a:prstGeom>
          <a:noFill/>
          <a:ln cap="flat" cmpd="sng" w="254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24"/>
          <p:cNvSpPr/>
          <p:nvPr/>
        </p:nvSpPr>
        <p:spPr>
          <a:xfrm>
            <a:off x="274320" y="3877056"/>
            <a:ext cx="8595360" cy="868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4"/>
          <p:cNvSpPr/>
          <p:nvPr/>
        </p:nvSpPr>
        <p:spPr>
          <a:xfrm>
            <a:off x="274320" y="3877056"/>
            <a:ext cx="1920240" cy="86868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4"/>
          <p:cNvSpPr/>
          <p:nvPr/>
        </p:nvSpPr>
        <p:spPr>
          <a:xfrm>
            <a:off x="320040" y="395020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&amp; SERVICES LAYER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4"/>
          <p:cNvSpPr/>
          <p:nvPr/>
        </p:nvSpPr>
        <p:spPr>
          <a:xfrm>
            <a:off x="320040" y="424281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D8F0"/>
              </a:buClr>
              <a:buSzPts val="700"/>
              <a:buFont typeface="Calibri"/>
              <a:buNone/>
            </a:pPr>
            <a:r>
              <a:rPr b="0" i="1" lang="en" sz="700" u="none" cap="none" strike="noStrike">
                <a:solidFill>
                  <a:srgbClr val="C0D8F0"/>
                </a:solidFill>
                <a:latin typeface="Calibri"/>
                <a:ea typeface="Calibri"/>
                <a:cs typeface="Calibri"/>
                <a:sym typeface="Calibri"/>
              </a:rPr>
              <a:t>PostgreSQL 15 (59 migrations) + Email + WebSocket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4"/>
          <p:cNvSpPr/>
          <p:nvPr/>
        </p:nvSpPr>
        <p:spPr>
          <a:xfrm>
            <a:off x="2331720" y="3950208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4"/>
          <p:cNvSpPr/>
          <p:nvPr/>
        </p:nvSpPr>
        <p:spPr>
          <a:xfrm>
            <a:off x="2331720" y="3950208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PostgreSQL DB (akc_campus)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4"/>
          <p:cNvSpPr/>
          <p:nvPr/>
        </p:nvSpPr>
        <p:spPr>
          <a:xfrm>
            <a:off x="3950208" y="3950208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4"/>
          <p:cNvSpPr/>
          <p:nvPr/>
        </p:nvSpPr>
        <p:spPr>
          <a:xfrm>
            <a:off x="3950208" y="3950208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Nodemailer + Handlebars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4"/>
          <p:cNvSpPr/>
          <p:nvPr/>
        </p:nvSpPr>
        <p:spPr>
          <a:xfrm>
            <a:off x="5568696" y="3950208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4"/>
          <p:cNvSpPr/>
          <p:nvPr/>
        </p:nvSpPr>
        <p:spPr>
          <a:xfrm>
            <a:off x="5568696" y="3950208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WebSocket Broadcast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4"/>
          <p:cNvSpPr/>
          <p:nvPr/>
        </p:nvSpPr>
        <p:spPr>
          <a:xfrm>
            <a:off x="7187184" y="3950208"/>
            <a:ext cx="1508760" cy="292608"/>
          </a:xfrm>
          <a:prstGeom prst="roundRect">
            <a:avLst>
              <a:gd fmla="val 12500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4"/>
          <p:cNvSpPr/>
          <p:nvPr/>
        </p:nvSpPr>
        <p:spPr>
          <a:xfrm>
            <a:off x="7187184" y="3950208"/>
            <a:ext cx="1508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node-cron Scheduler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4"/>
          <p:cNvSpPr/>
          <p:nvPr/>
        </p:nvSpPr>
        <p:spPr>
          <a:xfrm>
            <a:off x="274320" y="4709160"/>
            <a:ext cx="8595360" cy="18288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4"/>
          <p:cNvSpPr/>
          <p:nvPr/>
        </p:nvSpPr>
        <p:spPr>
          <a:xfrm>
            <a:off x="365760" y="4709160"/>
            <a:ext cx="8412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750"/>
              <a:buFont typeface="Calibri"/>
              <a:buNone/>
            </a:pPr>
            <a:r>
              <a:rPr b="0" i="1" lang="en" sz="7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Middleware Pipeline: requestLogger → rateLimiter → JWT verify → sessionValidator → rbacMiddleware → inputValidator → [Controller] → errorHandler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5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5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5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Agile Iterative Development Workflow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5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5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0" name="Google Shape;400;p25"/>
          <p:cNvCxnSpPr/>
          <p:nvPr/>
        </p:nvCxnSpPr>
        <p:spPr>
          <a:xfrm>
            <a:off x="1371600" y="1417320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1" name="Google Shape;401;p25"/>
          <p:cNvSpPr/>
          <p:nvPr/>
        </p:nvSpPr>
        <p:spPr>
          <a:xfrm>
            <a:off x="320040" y="914400"/>
            <a:ext cx="10058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25"/>
          <p:cNvSpPr/>
          <p:nvPr/>
        </p:nvSpPr>
        <p:spPr>
          <a:xfrm>
            <a:off x="320040" y="914400"/>
            <a:ext cx="1005840" cy="54864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25"/>
          <p:cNvSpPr/>
          <p:nvPr/>
        </p:nvSpPr>
        <p:spPr>
          <a:xfrm>
            <a:off x="621792" y="987552"/>
            <a:ext cx="402336" cy="402336"/>
          </a:xfrm>
          <a:prstGeom prst="ellipse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5"/>
          <p:cNvSpPr/>
          <p:nvPr/>
        </p:nvSpPr>
        <p:spPr>
          <a:xfrm>
            <a:off x="621792" y="9875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5"/>
          <p:cNvSpPr/>
          <p:nvPr/>
        </p:nvSpPr>
        <p:spPr>
          <a:xfrm>
            <a:off x="365760" y="14630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Requirements Analysis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5"/>
          <p:cNvSpPr/>
          <p:nvPr/>
        </p:nvSpPr>
        <p:spPr>
          <a:xfrm>
            <a:off x="365760" y="2011680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Stakeholder interviews, gap identification, use-case documentation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25"/>
          <p:cNvCxnSpPr/>
          <p:nvPr/>
        </p:nvCxnSpPr>
        <p:spPr>
          <a:xfrm>
            <a:off x="2587752" y="1417320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25"/>
          <p:cNvSpPr/>
          <p:nvPr/>
        </p:nvSpPr>
        <p:spPr>
          <a:xfrm>
            <a:off x="1536192" y="914400"/>
            <a:ext cx="10058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5"/>
          <p:cNvSpPr/>
          <p:nvPr/>
        </p:nvSpPr>
        <p:spPr>
          <a:xfrm>
            <a:off x="1536192" y="914400"/>
            <a:ext cx="1005840" cy="54864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1A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5"/>
          <p:cNvSpPr/>
          <p:nvPr/>
        </p:nvSpPr>
        <p:spPr>
          <a:xfrm>
            <a:off x="1837944" y="987552"/>
            <a:ext cx="402336" cy="402336"/>
          </a:xfrm>
          <a:prstGeom prst="ellipse">
            <a:avLst/>
          </a:prstGeom>
          <a:solidFill>
            <a:srgbClr val="1A3A8F"/>
          </a:solidFill>
          <a:ln cap="flat" cmpd="sng" w="12700">
            <a:solidFill>
              <a:srgbClr val="1A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5"/>
          <p:cNvSpPr/>
          <p:nvPr/>
        </p:nvSpPr>
        <p:spPr>
          <a:xfrm>
            <a:off x="1837944" y="9875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5"/>
          <p:cNvSpPr/>
          <p:nvPr/>
        </p:nvSpPr>
        <p:spPr>
          <a:xfrm>
            <a:off x="1581912" y="14630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System Design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5"/>
          <p:cNvSpPr/>
          <p:nvPr/>
        </p:nvSpPr>
        <p:spPr>
          <a:xfrm>
            <a:off x="1581912" y="2011680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Architecture, DB schema (</a:t>
            </a:r>
            <a:r>
              <a:rPr lang="en" sz="7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r>
              <a:rPr b="0" i="0" lang="en" sz="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migrations), API design (40+ endpoints)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4" name="Google Shape;414;p25"/>
          <p:cNvCxnSpPr/>
          <p:nvPr/>
        </p:nvCxnSpPr>
        <p:spPr>
          <a:xfrm>
            <a:off x="3803904" y="1417320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p25"/>
          <p:cNvSpPr/>
          <p:nvPr/>
        </p:nvSpPr>
        <p:spPr>
          <a:xfrm>
            <a:off x="2752344" y="914400"/>
            <a:ext cx="10058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5"/>
          <p:cNvSpPr/>
          <p:nvPr/>
        </p:nvSpPr>
        <p:spPr>
          <a:xfrm>
            <a:off x="2752344" y="914400"/>
            <a:ext cx="1005840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5"/>
          <p:cNvSpPr/>
          <p:nvPr/>
        </p:nvSpPr>
        <p:spPr>
          <a:xfrm>
            <a:off x="3054096" y="987552"/>
            <a:ext cx="402336" cy="402336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5"/>
          <p:cNvSpPr/>
          <p:nvPr/>
        </p:nvSpPr>
        <p:spPr>
          <a:xfrm>
            <a:off x="3054096" y="9875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2798064" y="14630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Module Development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5"/>
          <p:cNvSpPr/>
          <p:nvPr/>
        </p:nvSpPr>
        <p:spPr>
          <a:xfrm>
            <a:off x="2798064" y="2011680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Parallel development of 11 modules with component-based architecture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Google Shape;421;p25"/>
          <p:cNvCxnSpPr/>
          <p:nvPr/>
        </p:nvCxnSpPr>
        <p:spPr>
          <a:xfrm>
            <a:off x="5020056" y="1417320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25"/>
          <p:cNvSpPr/>
          <p:nvPr/>
        </p:nvSpPr>
        <p:spPr>
          <a:xfrm>
            <a:off x="3968496" y="914400"/>
            <a:ext cx="10058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5"/>
          <p:cNvSpPr/>
          <p:nvPr/>
        </p:nvSpPr>
        <p:spPr>
          <a:xfrm>
            <a:off x="3968496" y="914400"/>
            <a:ext cx="100584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5"/>
          <p:cNvSpPr/>
          <p:nvPr/>
        </p:nvSpPr>
        <p:spPr>
          <a:xfrm>
            <a:off x="4270248" y="987552"/>
            <a:ext cx="402336" cy="402336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25"/>
          <p:cNvSpPr/>
          <p:nvPr/>
        </p:nvSpPr>
        <p:spPr>
          <a:xfrm>
            <a:off x="4270248" y="9875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5"/>
          <p:cNvSpPr/>
          <p:nvPr/>
        </p:nvSpPr>
        <p:spPr>
          <a:xfrm>
            <a:off x="4014216" y="14630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Database Migration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4014216" y="2011680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localStorage → PostgreSQL migration with transaction safety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8" name="Google Shape;428;p25"/>
          <p:cNvCxnSpPr/>
          <p:nvPr/>
        </p:nvCxnSpPr>
        <p:spPr>
          <a:xfrm>
            <a:off x="6236208" y="1417320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9" name="Google Shape;429;p25"/>
          <p:cNvSpPr/>
          <p:nvPr/>
        </p:nvSpPr>
        <p:spPr>
          <a:xfrm>
            <a:off x="5184648" y="914400"/>
            <a:ext cx="10058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5"/>
          <p:cNvSpPr/>
          <p:nvPr/>
        </p:nvSpPr>
        <p:spPr>
          <a:xfrm>
            <a:off x="5184648" y="914400"/>
            <a:ext cx="100584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5"/>
          <p:cNvSpPr/>
          <p:nvPr/>
        </p:nvSpPr>
        <p:spPr>
          <a:xfrm>
            <a:off x="5486400" y="987552"/>
            <a:ext cx="402336" cy="402336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5"/>
          <p:cNvSpPr/>
          <p:nvPr/>
        </p:nvSpPr>
        <p:spPr>
          <a:xfrm>
            <a:off x="5486400" y="9875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5230368" y="14630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Security Hardening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5230368" y="2011680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WAF, session enforcement, immutable audit, soft-delete architecture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5" name="Google Shape;435;p25"/>
          <p:cNvCxnSpPr/>
          <p:nvPr/>
        </p:nvCxnSpPr>
        <p:spPr>
          <a:xfrm>
            <a:off x="7452360" y="1417320"/>
            <a:ext cx="164592" cy="0"/>
          </a:xfrm>
          <a:prstGeom prst="straightConnector1">
            <a:avLst/>
          </a:prstGeom>
          <a:noFill/>
          <a:ln cap="flat" cmpd="sng" w="254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6" name="Google Shape;436;p25"/>
          <p:cNvSpPr/>
          <p:nvPr/>
        </p:nvSpPr>
        <p:spPr>
          <a:xfrm>
            <a:off x="6400800" y="914400"/>
            <a:ext cx="10058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25"/>
          <p:cNvSpPr/>
          <p:nvPr/>
        </p:nvSpPr>
        <p:spPr>
          <a:xfrm>
            <a:off x="6400800" y="914400"/>
            <a:ext cx="100584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5"/>
          <p:cNvSpPr/>
          <p:nvPr/>
        </p:nvSpPr>
        <p:spPr>
          <a:xfrm>
            <a:off x="6702552" y="987552"/>
            <a:ext cx="402336" cy="402336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25"/>
          <p:cNvSpPr/>
          <p:nvPr/>
        </p:nvSpPr>
        <p:spPr>
          <a:xfrm>
            <a:off x="6702552" y="9875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6446520" y="14630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Integration &amp; Testing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6446520" y="2011680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API integration, WebSocket sync, manual + automated testing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/>
          <p:nvPr/>
        </p:nvSpPr>
        <p:spPr>
          <a:xfrm>
            <a:off x="7616952" y="914400"/>
            <a:ext cx="100584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5"/>
          <p:cNvSpPr/>
          <p:nvPr/>
        </p:nvSpPr>
        <p:spPr>
          <a:xfrm>
            <a:off x="7616952" y="914400"/>
            <a:ext cx="100584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25"/>
          <p:cNvSpPr/>
          <p:nvPr/>
        </p:nvSpPr>
        <p:spPr>
          <a:xfrm>
            <a:off x="7918704" y="987552"/>
            <a:ext cx="402336" cy="40233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25"/>
          <p:cNvSpPr/>
          <p:nvPr/>
        </p:nvSpPr>
        <p:spPr>
          <a:xfrm>
            <a:off x="7918704" y="9875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25"/>
          <p:cNvSpPr/>
          <p:nvPr/>
        </p:nvSpPr>
        <p:spPr>
          <a:xfrm>
            <a:off x="7662672" y="1463040"/>
            <a:ext cx="914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5"/>
          <p:cNvSpPr/>
          <p:nvPr/>
        </p:nvSpPr>
        <p:spPr>
          <a:xfrm>
            <a:off x="7662672" y="2011680"/>
            <a:ext cx="9144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Multi-service: Frontend:8080, Backend:5000, Balancer:80, Admin:9000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5"/>
          <p:cNvSpPr/>
          <p:nvPr/>
        </p:nvSpPr>
        <p:spPr>
          <a:xfrm>
            <a:off x="320040" y="29260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Key Algorithms Implemented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5"/>
          <p:cNvSpPr/>
          <p:nvPr/>
        </p:nvSpPr>
        <p:spPr>
          <a:xfrm>
            <a:off x="320040" y="3273552"/>
            <a:ext cx="2743200" cy="1435608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25"/>
          <p:cNvSpPr/>
          <p:nvPr/>
        </p:nvSpPr>
        <p:spPr>
          <a:xfrm>
            <a:off x="320040" y="3273552"/>
            <a:ext cx="2743200" cy="3200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5"/>
          <p:cNvSpPr/>
          <p:nvPr/>
        </p:nvSpPr>
        <p:spPr>
          <a:xfrm>
            <a:off x="411480" y="32918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Booking Conflict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5"/>
          <p:cNvSpPr/>
          <p:nvPr/>
        </p:nvSpPr>
        <p:spPr>
          <a:xfrm>
            <a:off x="411480" y="3639312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Query bookings by venue_id + date. For each existing booking: if newStart &lt; existing.end AND newEnd &gt; existing.start → conflict detected. Returns conflicts[] or empty.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5"/>
          <p:cNvSpPr/>
          <p:nvPr/>
        </p:nvSpPr>
        <p:spPr>
          <a:xfrm>
            <a:off x="3182112" y="3273552"/>
            <a:ext cx="2743200" cy="1435608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25"/>
          <p:cNvSpPr/>
          <p:nvPr/>
        </p:nvSpPr>
        <p:spPr>
          <a:xfrm>
            <a:off x="3182112" y="3273552"/>
            <a:ext cx="2743200" cy="3200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5"/>
          <p:cNvSpPr/>
          <p:nvPr/>
        </p:nvSpPr>
        <p:spPr>
          <a:xfrm>
            <a:off x="3273552" y="32918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Workload Stress Index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3273552" y="3639312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workloadIndex = (teaching + research + admin hrs) / 24 × 100. Classification: &gt;130% = OVERLOADED (alert), 70–130% = BALANCED, &lt;70% = UNDERLOADED.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5"/>
          <p:cNvSpPr/>
          <p:nvPr/>
        </p:nvSpPr>
        <p:spPr>
          <a:xfrm>
            <a:off x="6044184" y="3273552"/>
            <a:ext cx="2743200" cy="1435608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25"/>
          <p:cNvSpPr/>
          <p:nvPr/>
        </p:nvSpPr>
        <p:spPr>
          <a:xfrm>
            <a:off x="6044184" y="3273552"/>
            <a:ext cx="2743200" cy="3200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25"/>
          <p:cNvSpPr/>
          <p:nvPr/>
        </p:nvSpPr>
        <p:spPr>
          <a:xfrm>
            <a:off x="6135624" y="32918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Single-Device Session Enforcement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5"/>
          <p:cNvSpPr/>
          <p:nvPr/>
        </p:nvSpPr>
        <p:spPr>
          <a:xfrm>
            <a:off x="6135624" y="3639312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On login: invalidate any existing active session for user_id. Create new session with 24hr absolute timeout + 2hr inactivity. DB constraint: UNIQUE(user_id) WHERE is_active = true.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26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26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Technologies Used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6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Full-Stack Technology Stack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26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274320" y="86868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Frontend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3" name="Google Shape;473;p26"/>
          <p:cNvGraphicFramePr/>
          <p:nvPr/>
        </p:nvGraphicFramePr>
        <p:xfrm>
          <a:off x="27432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{7CFD7D11-13F4-4B9D-B63E-7E6D320F2184}</a:tableStyleId>
              </a:tblPr>
              <a:tblGrid>
                <a:gridCol w="1371600"/>
                <a:gridCol w="914400"/>
                <a:gridCol w="1920250"/>
              </a:tblGrid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Version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Purpose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React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18.3.1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Component-based UI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TypeScript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5.x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Type-safe development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Vite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5.x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Fast dev server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Tailwind CSS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3.x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Utility-first styling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shadcn/ui + Radix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Latest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Accessible components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TanStack Query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5.83.0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Server state caching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React Router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6.30.1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SPA navigation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Recharts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2.15.4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Data visualization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474" name="Google Shape;474;p26"/>
          <p:cNvSpPr/>
          <p:nvPr/>
        </p:nvSpPr>
        <p:spPr>
          <a:xfrm>
            <a:off x="4663440" y="86868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91B2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891B2"/>
                </a:solidFill>
                <a:latin typeface="Calibri"/>
                <a:ea typeface="Calibri"/>
                <a:cs typeface="Calibri"/>
                <a:sym typeface="Calibri"/>
              </a:rPr>
              <a:t>Backend Stack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75" name="Google Shape;475;p26"/>
          <p:cNvGraphicFramePr/>
          <p:nvPr/>
        </p:nvGraphicFramePr>
        <p:xfrm>
          <a:off x="4663440" y="1143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{7CFD7D11-13F4-4B9D-B63E-7E6D320F2184}</a:tableStyleId>
              </a:tblPr>
              <a:tblGrid>
                <a:gridCol w="1371600"/>
                <a:gridCol w="914400"/>
                <a:gridCol w="1920250"/>
              </a:tblGrid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Version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Purpose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891B2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Node.js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18.x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Server-side runtime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Express.js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4.x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REST API framework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PostgreSQL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15.x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Relational DB (59 migrations)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JWT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9.x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Token-based auth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bcryptjs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2.x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Password hashing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WebSocket (ws)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8.x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Real-time push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node-cron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4.2.1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Background scheduler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Nodemailer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7.x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Email notifications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476" name="Google Shape;476;p26"/>
          <p:cNvSpPr/>
          <p:nvPr/>
        </p:nvSpPr>
        <p:spPr>
          <a:xfrm>
            <a:off x="274320" y="4315968"/>
            <a:ext cx="8595360" cy="393192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26"/>
          <p:cNvSpPr/>
          <p:nvPr/>
        </p:nvSpPr>
        <p:spPr>
          <a:xfrm>
            <a:off x="457200" y="433425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🖥  Node.js 18+ Server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2606040" y="433425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🖥  4GB+ RAM (8GB recommended)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4754880" y="433425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🖥  10GB+ Storage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6903720" y="4334256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🖥  LAN / Network Connectivity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7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27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Modules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7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11 Core Modules — Complete 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7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27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7"/>
          <p:cNvSpPr/>
          <p:nvPr/>
        </p:nvSpPr>
        <p:spPr>
          <a:xfrm>
            <a:off x="274320" y="868680"/>
            <a:ext cx="274320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27"/>
          <p:cNvSpPr/>
          <p:nvPr/>
        </p:nvSpPr>
        <p:spPr>
          <a:xfrm>
            <a:off x="274320" y="868680"/>
            <a:ext cx="2743200" cy="54864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27"/>
          <p:cNvSpPr/>
          <p:nvPr/>
        </p:nvSpPr>
        <p:spPr>
          <a:xfrm>
            <a:off x="365760" y="978408"/>
            <a:ext cx="457200" cy="457200"/>
          </a:xfrm>
          <a:prstGeom prst="ellipse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27"/>
          <p:cNvSpPr/>
          <p:nvPr/>
        </p:nvSpPr>
        <p:spPr>
          <a:xfrm>
            <a:off x="365760" y="978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7"/>
          <p:cNvSpPr/>
          <p:nvPr/>
        </p:nvSpPr>
        <p:spPr>
          <a:xfrm>
            <a:off x="914400" y="9601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01 · Auth &amp; Security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914400" y="121615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80"/>
              <a:buFont typeface="Calibri"/>
              <a:buNone/>
            </a:pPr>
            <a:r>
              <a:rPr b="0" i="0" lang="en" sz="7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JWT + bcrypt, 7-level RBAC, password reset, session enforcement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3154680" y="868680"/>
            <a:ext cx="274320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7"/>
          <p:cNvSpPr/>
          <p:nvPr/>
        </p:nvSpPr>
        <p:spPr>
          <a:xfrm>
            <a:off x="3154680" y="868680"/>
            <a:ext cx="2743200" cy="54864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1A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27"/>
          <p:cNvSpPr/>
          <p:nvPr/>
        </p:nvSpPr>
        <p:spPr>
          <a:xfrm>
            <a:off x="3246120" y="978408"/>
            <a:ext cx="457200" cy="457200"/>
          </a:xfrm>
          <a:prstGeom prst="ellipse">
            <a:avLst/>
          </a:prstGeom>
          <a:solidFill>
            <a:srgbClr val="1A3A8F"/>
          </a:solidFill>
          <a:ln cap="flat" cmpd="sng" w="12700">
            <a:solidFill>
              <a:srgbClr val="1A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27"/>
          <p:cNvSpPr/>
          <p:nvPr/>
        </p:nvSpPr>
        <p:spPr>
          <a:xfrm>
            <a:off x="3246120" y="978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7"/>
          <p:cNvSpPr/>
          <p:nvPr/>
        </p:nvSpPr>
        <p:spPr>
          <a:xfrm>
            <a:off x="3794760" y="9601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02 · Dashboard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27"/>
          <p:cNvSpPr/>
          <p:nvPr/>
        </p:nvSpPr>
        <p:spPr>
          <a:xfrm>
            <a:off x="3794760" y="121615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80"/>
              <a:buFont typeface="Calibri"/>
              <a:buNone/>
            </a:pPr>
            <a:r>
              <a:rPr b="0" i="0" lang="en" sz="7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7 role-based views — KPI cards, gauge charts, activity feeds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27"/>
          <p:cNvSpPr/>
          <p:nvPr/>
        </p:nvSpPr>
        <p:spPr>
          <a:xfrm>
            <a:off x="6035040" y="868680"/>
            <a:ext cx="274320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7"/>
          <p:cNvSpPr/>
          <p:nvPr/>
        </p:nvSpPr>
        <p:spPr>
          <a:xfrm>
            <a:off x="6035040" y="868680"/>
            <a:ext cx="2743200" cy="54864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27"/>
          <p:cNvSpPr/>
          <p:nvPr/>
        </p:nvSpPr>
        <p:spPr>
          <a:xfrm>
            <a:off x="6126480" y="978408"/>
            <a:ext cx="457200" cy="45720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27"/>
          <p:cNvSpPr/>
          <p:nvPr/>
        </p:nvSpPr>
        <p:spPr>
          <a:xfrm>
            <a:off x="6126480" y="9784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7"/>
          <p:cNvSpPr/>
          <p:nvPr/>
        </p:nvSpPr>
        <p:spPr>
          <a:xfrm>
            <a:off x="6675120" y="9601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03 · User Management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7"/>
          <p:cNvSpPr/>
          <p:nvPr/>
        </p:nvSpPr>
        <p:spPr>
          <a:xfrm>
            <a:off x="6675120" y="121615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80"/>
              <a:buFont typeface="Calibri"/>
              <a:buNone/>
            </a:pPr>
            <a:r>
              <a:rPr b="0" i="0" lang="en" sz="7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CRUD, permission groups (7 levels), soft-delete, audit logging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7"/>
          <p:cNvSpPr/>
          <p:nvPr/>
        </p:nvSpPr>
        <p:spPr>
          <a:xfrm>
            <a:off x="274320" y="1874520"/>
            <a:ext cx="274320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27"/>
          <p:cNvSpPr/>
          <p:nvPr/>
        </p:nvSpPr>
        <p:spPr>
          <a:xfrm>
            <a:off x="274320" y="1874520"/>
            <a:ext cx="274320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27"/>
          <p:cNvSpPr/>
          <p:nvPr/>
        </p:nvSpPr>
        <p:spPr>
          <a:xfrm>
            <a:off x="365760" y="1984248"/>
            <a:ext cx="457200" cy="45720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7"/>
          <p:cNvSpPr/>
          <p:nvPr/>
        </p:nvSpPr>
        <p:spPr>
          <a:xfrm>
            <a:off x="365760" y="1984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27"/>
          <p:cNvSpPr/>
          <p:nvPr/>
        </p:nvSpPr>
        <p:spPr>
          <a:xfrm>
            <a:off x="914400" y="19659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04 · Staff / HR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7"/>
          <p:cNvSpPr/>
          <p:nvPr/>
        </p:nvSpPr>
        <p:spPr>
          <a:xfrm>
            <a:off x="914400" y="222199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80"/>
              <a:buFont typeface="Calibri"/>
              <a:buNone/>
            </a:pPr>
            <a:r>
              <a:rPr b="0" i="0" lang="en" sz="7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Profiles, workload index, stress monitoring, leave &amp; approvals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7"/>
          <p:cNvSpPr/>
          <p:nvPr/>
        </p:nvSpPr>
        <p:spPr>
          <a:xfrm>
            <a:off x="3154680" y="1874520"/>
            <a:ext cx="274320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7"/>
          <p:cNvSpPr/>
          <p:nvPr/>
        </p:nvSpPr>
        <p:spPr>
          <a:xfrm>
            <a:off x="3154680" y="1874520"/>
            <a:ext cx="2743200" cy="54864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7"/>
          <p:cNvSpPr/>
          <p:nvPr/>
        </p:nvSpPr>
        <p:spPr>
          <a:xfrm>
            <a:off x="3246120" y="1984248"/>
            <a:ext cx="457200" cy="457200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7"/>
          <p:cNvSpPr/>
          <p:nvPr/>
        </p:nvSpPr>
        <p:spPr>
          <a:xfrm>
            <a:off x="3246120" y="1984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🏢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7"/>
          <p:cNvSpPr/>
          <p:nvPr/>
        </p:nvSpPr>
        <p:spPr>
          <a:xfrm>
            <a:off x="3794760" y="19659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05 · Resources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7"/>
          <p:cNvSpPr/>
          <p:nvPr/>
        </p:nvSpPr>
        <p:spPr>
          <a:xfrm>
            <a:off x="3794760" y="222199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80"/>
              <a:buFont typeface="Calibri"/>
              <a:buNone/>
            </a:pPr>
            <a:r>
              <a:rPr b="0" i="0" lang="en" sz="7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Venues, equipment, maintenance scheduling, room availability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6035040" y="1874520"/>
            <a:ext cx="274320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7"/>
          <p:cNvSpPr/>
          <p:nvPr/>
        </p:nvSpPr>
        <p:spPr>
          <a:xfrm>
            <a:off x="6035040" y="1874520"/>
            <a:ext cx="2743200" cy="54864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7"/>
          <p:cNvSpPr/>
          <p:nvPr/>
        </p:nvSpPr>
        <p:spPr>
          <a:xfrm>
            <a:off x="6126480" y="1984248"/>
            <a:ext cx="457200" cy="457200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7"/>
          <p:cNvSpPr/>
          <p:nvPr/>
        </p:nvSpPr>
        <p:spPr>
          <a:xfrm>
            <a:off x="6126480" y="198424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📅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7"/>
          <p:cNvSpPr/>
          <p:nvPr/>
        </p:nvSpPr>
        <p:spPr>
          <a:xfrm>
            <a:off x="6675120" y="196596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06 · Bookings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7"/>
          <p:cNvSpPr/>
          <p:nvPr/>
        </p:nvSpPr>
        <p:spPr>
          <a:xfrm>
            <a:off x="6675120" y="222199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80"/>
              <a:buFont typeface="Calibri"/>
              <a:buNone/>
            </a:pPr>
            <a:r>
              <a:rPr b="0" i="0" lang="en" sz="7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Conflict detection, 7-level approval workflow, reminders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7"/>
          <p:cNvSpPr/>
          <p:nvPr/>
        </p:nvSpPr>
        <p:spPr>
          <a:xfrm>
            <a:off x="274320" y="2880360"/>
            <a:ext cx="274320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7"/>
          <p:cNvSpPr/>
          <p:nvPr/>
        </p:nvSpPr>
        <p:spPr>
          <a:xfrm>
            <a:off x="274320" y="2880360"/>
            <a:ext cx="274320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27"/>
          <p:cNvSpPr/>
          <p:nvPr/>
        </p:nvSpPr>
        <p:spPr>
          <a:xfrm>
            <a:off x="365760" y="2990088"/>
            <a:ext cx="457200" cy="4572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27"/>
          <p:cNvSpPr/>
          <p:nvPr/>
        </p:nvSpPr>
        <p:spPr>
          <a:xfrm>
            <a:off x="365760" y="2990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7"/>
          <p:cNvSpPr/>
          <p:nvPr/>
        </p:nvSpPr>
        <p:spPr>
          <a:xfrm>
            <a:off x="914400" y="29718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07 · Energy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7"/>
          <p:cNvSpPr/>
          <p:nvPr/>
        </p:nvSpPr>
        <p:spPr>
          <a:xfrm>
            <a:off x="914400" y="322783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80"/>
              <a:buFont typeface="Calibri"/>
              <a:buNone/>
            </a:pPr>
            <a:r>
              <a:rPr b="0" i="0" lang="en" sz="7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Meter management, real-time monitoring, forecasting, CSV import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7"/>
          <p:cNvSpPr/>
          <p:nvPr/>
        </p:nvSpPr>
        <p:spPr>
          <a:xfrm>
            <a:off x="3154680" y="2880360"/>
            <a:ext cx="274320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7"/>
          <p:cNvSpPr/>
          <p:nvPr/>
        </p:nvSpPr>
        <p:spPr>
          <a:xfrm>
            <a:off x="3154680" y="2880360"/>
            <a:ext cx="2743200" cy="54864"/>
          </a:xfrm>
          <a:prstGeom prst="rect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27"/>
          <p:cNvSpPr/>
          <p:nvPr/>
        </p:nvSpPr>
        <p:spPr>
          <a:xfrm>
            <a:off x="3246120" y="2990088"/>
            <a:ext cx="457200" cy="457200"/>
          </a:xfrm>
          <a:prstGeom prst="ellipse">
            <a:avLst/>
          </a:prstGeom>
          <a:solidFill>
            <a:srgbClr val="0EA5E9"/>
          </a:solidFill>
          <a:ln cap="flat" cmpd="sng" w="12700">
            <a:solidFill>
              <a:srgbClr val="0EA5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27"/>
          <p:cNvSpPr/>
          <p:nvPr/>
        </p:nvSpPr>
        <p:spPr>
          <a:xfrm>
            <a:off x="3246120" y="2990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💧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7"/>
          <p:cNvSpPr/>
          <p:nvPr/>
        </p:nvSpPr>
        <p:spPr>
          <a:xfrm>
            <a:off x="3794760" y="29718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08 · Water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7"/>
          <p:cNvSpPr/>
          <p:nvPr/>
        </p:nvSpPr>
        <p:spPr>
          <a:xfrm>
            <a:off x="3794760" y="322783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80"/>
              <a:buFont typeface="Calibri"/>
              <a:buNone/>
            </a:pPr>
            <a:r>
              <a:rPr b="0" i="0" lang="en" sz="7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Location tracking, leak alerts, usage analytics, simulation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7"/>
          <p:cNvSpPr/>
          <p:nvPr/>
        </p:nvSpPr>
        <p:spPr>
          <a:xfrm>
            <a:off x="6035040" y="2880360"/>
            <a:ext cx="274320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27"/>
          <p:cNvSpPr/>
          <p:nvPr/>
        </p:nvSpPr>
        <p:spPr>
          <a:xfrm>
            <a:off x="6035040" y="2880360"/>
            <a:ext cx="2743200" cy="548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7"/>
          <p:cNvSpPr/>
          <p:nvPr/>
        </p:nvSpPr>
        <p:spPr>
          <a:xfrm>
            <a:off x="6126480" y="2990088"/>
            <a:ext cx="457200" cy="457200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7"/>
          <p:cNvSpPr/>
          <p:nvPr/>
        </p:nvSpPr>
        <p:spPr>
          <a:xfrm>
            <a:off x="6126480" y="299008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📚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7"/>
          <p:cNvSpPr/>
          <p:nvPr/>
        </p:nvSpPr>
        <p:spPr>
          <a:xfrm>
            <a:off x="6675120" y="297180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09 · Training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7"/>
          <p:cNvSpPr/>
          <p:nvPr/>
        </p:nvSpPr>
        <p:spPr>
          <a:xfrm>
            <a:off x="6675120" y="322783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80"/>
              <a:buFont typeface="Calibri"/>
              <a:buNone/>
            </a:pPr>
            <a:r>
              <a:rPr b="0" i="0" lang="en" sz="7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Course management, compliance tracking, status monitoring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7"/>
          <p:cNvSpPr/>
          <p:nvPr/>
        </p:nvSpPr>
        <p:spPr>
          <a:xfrm>
            <a:off x="274320" y="3886200"/>
            <a:ext cx="274320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7"/>
          <p:cNvSpPr/>
          <p:nvPr/>
        </p:nvSpPr>
        <p:spPr>
          <a:xfrm>
            <a:off x="274320" y="3886200"/>
            <a:ext cx="2743200" cy="54864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7"/>
          <p:cNvSpPr/>
          <p:nvPr/>
        </p:nvSpPr>
        <p:spPr>
          <a:xfrm>
            <a:off x="365760" y="3995928"/>
            <a:ext cx="457200" cy="457200"/>
          </a:xfrm>
          <a:prstGeom prst="ellipse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27"/>
          <p:cNvSpPr/>
          <p:nvPr/>
        </p:nvSpPr>
        <p:spPr>
          <a:xfrm>
            <a:off x="365760" y="3995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7"/>
          <p:cNvSpPr/>
          <p:nvPr/>
        </p:nvSpPr>
        <p:spPr>
          <a:xfrm>
            <a:off x="914400" y="397764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10 · Reports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7"/>
          <p:cNvSpPr/>
          <p:nvPr/>
        </p:nvSpPr>
        <p:spPr>
          <a:xfrm>
            <a:off x="914400" y="423367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80"/>
              <a:buFont typeface="Calibri"/>
              <a:buNone/>
            </a:pPr>
            <a:r>
              <a:rPr b="0" i="0" lang="en" sz="7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Overview analytics, resource reports, cost savings, CSV export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7"/>
          <p:cNvSpPr/>
          <p:nvPr/>
        </p:nvSpPr>
        <p:spPr>
          <a:xfrm>
            <a:off x="3154680" y="3886200"/>
            <a:ext cx="2743200" cy="89611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27"/>
          <p:cNvSpPr/>
          <p:nvPr/>
        </p:nvSpPr>
        <p:spPr>
          <a:xfrm>
            <a:off x="3154680" y="3886200"/>
            <a:ext cx="274320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27"/>
          <p:cNvSpPr/>
          <p:nvPr/>
        </p:nvSpPr>
        <p:spPr>
          <a:xfrm>
            <a:off x="3246120" y="3995928"/>
            <a:ext cx="457200" cy="457200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7"/>
          <p:cNvSpPr/>
          <p:nvPr/>
        </p:nvSpPr>
        <p:spPr>
          <a:xfrm>
            <a:off x="3246120" y="39959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0" i="0" lang="en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🔔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7"/>
          <p:cNvSpPr/>
          <p:nvPr/>
        </p:nvSpPr>
        <p:spPr>
          <a:xfrm>
            <a:off x="3794760" y="397764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11 · Notifications &amp; Audit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7"/>
          <p:cNvSpPr/>
          <p:nvPr/>
        </p:nvSpPr>
        <p:spPr>
          <a:xfrm>
            <a:off x="3794760" y="4233672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80"/>
              <a:buFont typeface="Calibri"/>
              <a:buNone/>
            </a:pPr>
            <a:r>
              <a:rPr b="0" i="0" lang="en" sz="78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WebSocket alerts, immutable audit logs, login history + geolocation</a:t>
            </a:r>
            <a:endParaRPr b="0" i="0" sz="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7"/>
          <p:cNvSpPr/>
          <p:nvPr/>
        </p:nvSpPr>
        <p:spPr>
          <a:xfrm>
            <a:off x="274320" y="4709160"/>
            <a:ext cx="8595360" cy="182880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A7F3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7"/>
          <p:cNvSpPr/>
          <p:nvPr/>
        </p:nvSpPr>
        <p:spPr>
          <a:xfrm>
            <a:off x="365760" y="4718304"/>
            <a:ext cx="84124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✅  All 11 modules implemented and 100% complete as of Third Review — February 2026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8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8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Implementation Status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100% Completion Across All 11 Modules — Progress Across Reviews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8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71" name="Google Shape;571;p28"/>
          <p:cNvGraphicFramePr/>
          <p:nvPr/>
        </p:nvGraphicFramePr>
        <p:xfrm>
          <a:off x="27432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{7CFD7D11-13F4-4B9D-B63E-7E6D320F2184}</a:tableStyleId>
              </a:tblPr>
              <a:tblGrid>
                <a:gridCol w="1828800"/>
                <a:gridCol w="3200400"/>
                <a:gridCol w="640075"/>
              </a:tblGrid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Module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Key Features Implemented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Status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Authentication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Login, JWT + bcrypt, 7-level RBAC, session enforcement, password reset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100% ✅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Dashboard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7 role-based variants, KPI cards, gauge charts, activity feeds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100% ✅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User Management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CRUD, permission groups (7 levels), soft-delete, audit logging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100% ✅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Staff / HR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Profiles, workload index, stress monitoring, leave management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100% ✅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Resources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Venue CRUD, equipment tracking, maintenance scheduling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100% ✅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Bookings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Conflict detection, 7-level approval, booking reminders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100% ✅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Energy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Meter management, real-time monitoring, CSV import, forecasting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100% ✅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Water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Location tracking, leak alerts, usage analytics, simulation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100% ✅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Training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Course management, compliance tracking, status monitoring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100% ✅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Reports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Overview analytics, cost savings reports, CSV export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>
                          <a:solidFill>
                            <a:srgbClr val="10B981"/>
                          </a:solidFill>
                        </a:rPr>
                        <a:t>9</a:t>
                      </a: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0% ✅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38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Notifications &amp; Audit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WebSocket alerts, immutable audit logs, login history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>
                          <a:solidFill>
                            <a:srgbClr val="10B981"/>
                          </a:solidFill>
                        </a:rPr>
                        <a:t>9</a:t>
                      </a: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0% ✅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2" name="Google Shape;572;p28"/>
          <p:cNvSpPr/>
          <p:nvPr/>
        </p:nvSpPr>
        <p:spPr>
          <a:xfrm>
            <a:off x="6126480" y="868680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Progress Across Reviews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6126480" y="1188720"/>
            <a:ext cx="274320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8"/>
          <p:cNvSpPr/>
          <p:nvPr/>
        </p:nvSpPr>
        <p:spPr>
          <a:xfrm>
            <a:off x="6126480" y="1188720"/>
            <a:ext cx="64008" cy="475488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8"/>
          <p:cNvSpPr/>
          <p:nvPr/>
        </p:nvSpPr>
        <p:spPr>
          <a:xfrm>
            <a:off x="6245352" y="121615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6245352" y="141732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R3: Full PostgreSQL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59 migrations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8412480" y="1280160"/>
            <a:ext cx="365760" cy="274320"/>
          </a:xfrm>
          <a:prstGeom prst="roundRect">
            <a:avLst>
              <a:gd fmla="val 13333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28"/>
          <p:cNvSpPr/>
          <p:nvPr/>
        </p:nvSpPr>
        <p:spPr>
          <a:xfrm>
            <a:off x="8412480" y="12801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8"/>
          <p:cNvSpPr/>
          <p:nvPr/>
        </p:nvSpPr>
        <p:spPr>
          <a:xfrm>
            <a:off x="6126480" y="1737360"/>
            <a:ext cx="2743200" cy="47548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28"/>
          <p:cNvSpPr/>
          <p:nvPr/>
        </p:nvSpPr>
        <p:spPr>
          <a:xfrm>
            <a:off x="6126480" y="1737360"/>
            <a:ext cx="64008" cy="475488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28"/>
          <p:cNvSpPr/>
          <p:nvPr/>
        </p:nvSpPr>
        <p:spPr>
          <a:xfrm>
            <a:off x="6245352" y="176479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8"/>
          <p:cNvSpPr/>
          <p:nvPr/>
        </p:nvSpPr>
        <p:spPr>
          <a:xfrm>
            <a:off x="6245352" y="196596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R3: JWT + bcrypt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Session Enforce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8"/>
          <p:cNvSpPr/>
          <p:nvPr/>
        </p:nvSpPr>
        <p:spPr>
          <a:xfrm>
            <a:off x="8412480" y="1828800"/>
            <a:ext cx="365760" cy="274320"/>
          </a:xfrm>
          <a:prstGeom prst="roundRect">
            <a:avLst>
              <a:gd fmla="val 13333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28"/>
          <p:cNvSpPr/>
          <p:nvPr/>
        </p:nvSpPr>
        <p:spPr>
          <a:xfrm>
            <a:off x="8412480" y="182880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28"/>
          <p:cNvSpPr/>
          <p:nvPr/>
        </p:nvSpPr>
        <p:spPr>
          <a:xfrm>
            <a:off x="6126480" y="2286000"/>
            <a:ext cx="274320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28"/>
          <p:cNvSpPr/>
          <p:nvPr/>
        </p:nvSpPr>
        <p:spPr>
          <a:xfrm>
            <a:off x="6126480" y="2286000"/>
            <a:ext cx="64008" cy="475488"/>
          </a:xfrm>
          <a:prstGeom prst="rect">
            <a:avLst/>
          </a:prstGeom>
          <a:solidFill>
            <a:srgbClr val="1A3A8F"/>
          </a:solidFill>
          <a:ln cap="flat" cmpd="sng" w="12700">
            <a:solidFill>
              <a:srgbClr val="1A3A8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28"/>
          <p:cNvSpPr/>
          <p:nvPr/>
        </p:nvSpPr>
        <p:spPr>
          <a:xfrm>
            <a:off x="6245352" y="231343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RBAC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8"/>
          <p:cNvSpPr/>
          <p:nvPr/>
        </p:nvSpPr>
        <p:spPr>
          <a:xfrm>
            <a:off x="6245352" y="251460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R3: 7-level hierarchy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8"/>
          <p:cNvSpPr/>
          <p:nvPr/>
        </p:nvSpPr>
        <p:spPr>
          <a:xfrm>
            <a:off x="8412480" y="2377440"/>
            <a:ext cx="365760" cy="274320"/>
          </a:xfrm>
          <a:prstGeom prst="roundRect">
            <a:avLst>
              <a:gd fmla="val 13333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28"/>
          <p:cNvSpPr/>
          <p:nvPr/>
        </p:nvSpPr>
        <p:spPr>
          <a:xfrm>
            <a:off x="8412480" y="23774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8"/>
          <p:cNvSpPr/>
          <p:nvPr/>
        </p:nvSpPr>
        <p:spPr>
          <a:xfrm>
            <a:off x="6126480" y="2834640"/>
            <a:ext cx="2743200" cy="47548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8"/>
          <p:cNvSpPr/>
          <p:nvPr/>
        </p:nvSpPr>
        <p:spPr>
          <a:xfrm>
            <a:off x="6126480" y="2834640"/>
            <a:ext cx="64008" cy="47548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8"/>
          <p:cNvSpPr/>
          <p:nvPr/>
        </p:nvSpPr>
        <p:spPr>
          <a:xfrm>
            <a:off x="6245352" y="286207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28"/>
          <p:cNvSpPr/>
          <p:nvPr/>
        </p:nvSpPr>
        <p:spPr>
          <a:xfrm>
            <a:off x="6245352" y="306324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R3: WAF + Immutable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Audit + Geo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8"/>
          <p:cNvSpPr/>
          <p:nvPr/>
        </p:nvSpPr>
        <p:spPr>
          <a:xfrm>
            <a:off x="8412480" y="2926080"/>
            <a:ext cx="365760" cy="274320"/>
          </a:xfrm>
          <a:prstGeom prst="roundRect">
            <a:avLst>
              <a:gd fmla="val 13333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8"/>
          <p:cNvSpPr/>
          <p:nvPr/>
        </p:nvSpPr>
        <p:spPr>
          <a:xfrm>
            <a:off x="8412480" y="29260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8"/>
          <p:cNvSpPr/>
          <p:nvPr/>
        </p:nvSpPr>
        <p:spPr>
          <a:xfrm>
            <a:off x="6126480" y="3383280"/>
            <a:ext cx="2743200" cy="47548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8"/>
          <p:cNvSpPr/>
          <p:nvPr/>
        </p:nvSpPr>
        <p:spPr>
          <a:xfrm>
            <a:off x="6126480" y="3383280"/>
            <a:ext cx="64008" cy="47548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28"/>
          <p:cNvSpPr/>
          <p:nvPr/>
        </p:nvSpPr>
        <p:spPr>
          <a:xfrm>
            <a:off x="6245352" y="341071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8"/>
          <p:cNvSpPr/>
          <p:nvPr/>
        </p:nvSpPr>
        <p:spPr>
          <a:xfrm>
            <a:off x="6245352" y="361188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R3: Nodemailer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8 Templates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8"/>
          <p:cNvSpPr/>
          <p:nvPr/>
        </p:nvSpPr>
        <p:spPr>
          <a:xfrm>
            <a:off x="8412480" y="3474720"/>
            <a:ext cx="365760" cy="274320"/>
          </a:xfrm>
          <a:prstGeom prst="roundRect">
            <a:avLst>
              <a:gd fmla="val 13333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8"/>
          <p:cNvSpPr/>
          <p:nvPr/>
        </p:nvSpPr>
        <p:spPr>
          <a:xfrm>
            <a:off x="8412480" y="34747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8"/>
          <p:cNvSpPr/>
          <p:nvPr/>
        </p:nvSpPr>
        <p:spPr>
          <a:xfrm>
            <a:off x="6126480" y="3931920"/>
            <a:ext cx="2743200" cy="475488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28"/>
          <p:cNvSpPr/>
          <p:nvPr/>
        </p:nvSpPr>
        <p:spPr>
          <a:xfrm>
            <a:off x="6126480" y="3931920"/>
            <a:ext cx="64008" cy="47548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8"/>
          <p:cNvSpPr/>
          <p:nvPr/>
        </p:nvSpPr>
        <p:spPr>
          <a:xfrm>
            <a:off x="6245352" y="3959352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Load Balancer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8"/>
          <p:cNvSpPr/>
          <p:nvPr/>
        </p:nvSpPr>
        <p:spPr>
          <a:xfrm>
            <a:off x="6245352" y="4160520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R3: Custom WAF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+ Admin UI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8"/>
          <p:cNvSpPr/>
          <p:nvPr/>
        </p:nvSpPr>
        <p:spPr>
          <a:xfrm>
            <a:off x="8412480" y="4023360"/>
            <a:ext cx="365760" cy="274320"/>
          </a:xfrm>
          <a:prstGeom prst="roundRect">
            <a:avLst>
              <a:gd fmla="val 13333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28"/>
          <p:cNvSpPr/>
          <p:nvPr/>
        </p:nvSpPr>
        <p:spPr>
          <a:xfrm>
            <a:off x="8412480" y="40233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9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29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Sample Outputs &amp; Test Cases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9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Verified Functionality Across Core Test Scenarios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9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9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20" name="Google Shape;620;p29"/>
          <p:cNvGraphicFramePr/>
          <p:nvPr/>
        </p:nvGraphicFramePr>
        <p:xfrm>
          <a:off x="274320" y="868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{7CFD7D11-13F4-4B9D-B63E-7E6D320F2184}</a:tableStyleId>
              </a:tblPr>
              <a:tblGrid>
                <a:gridCol w="411475"/>
                <a:gridCol w="1463050"/>
                <a:gridCol w="2011675"/>
                <a:gridCol w="2651750"/>
                <a:gridCol w="9601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#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Input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Expected Output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850"/>
                        <a:buFont typeface="Calibri"/>
                        <a:buNone/>
                      </a:pPr>
                      <a:r>
                        <a:rPr b="1" lang="en" sz="850" u="none" cap="none" strike="noStrike">
                          <a:solidFill>
                            <a:srgbClr val="FFFFFF"/>
                          </a:solidFill>
                        </a:rPr>
                        <a:t>Result</a:t>
                      </a:r>
                      <a:endParaRPr sz="8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2557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TC1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Valid Login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Correct email + password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JWT issued, redirect to dashboard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TC2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Invalid Login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Wrong password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'Invalid credentials' error, no token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TC3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Booking Conflict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Overlapping time slot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Conflict detected, booking rejected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TC4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RBAC Enforcement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Student → admin route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403 Forbidden response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TC5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Session Enforcement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Login from 2nd device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1st device session invalidated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TC6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Password Reset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Valid email submitted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Reset email sent with token link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TC7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SQL Injection WAF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'; DROP TABLE users;--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Blocked by WAF, rejected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TC8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XSS Attack WAF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&lt;script&gt;alert(1)&lt;/script&gt;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Blocked by WAF, sanitized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TC9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Audit Immutability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DELETE from audit_logs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Trigger prevents deletion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2557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0F2557"/>
                          </a:solidFill>
                        </a:rPr>
                        <a:t>TC10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WebSocket Sync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Booking on Device A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800"/>
                        <a:buFont typeface="Calibri"/>
                        <a:buNone/>
                      </a:pPr>
                      <a:r>
                        <a:rPr lang="en" sz="800" u="none" cap="none" strike="noStrike">
                          <a:solidFill>
                            <a:srgbClr val="1E293B"/>
                          </a:solidFill>
                        </a:rPr>
                        <a:t>Device B real-time update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800"/>
                        <a:buFont typeface="Calibri"/>
                        <a:buNone/>
                      </a:pPr>
                      <a:r>
                        <a:rPr b="1" lang="en" sz="800" u="none" cap="none" strike="noStrike">
                          <a:solidFill>
                            <a:srgbClr val="10B981"/>
                          </a:solidFill>
                        </a:rPr>
                        <a:t>✅ Pass</a:t>
                      </a:r>
                      <a:endParaRPr sz="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21" name="Google Shape;621;p29"/>
          <p:cNvSpPr/>
          <p:nvPr/>
        </p:nvSpPr>
        <p:spPr>
          <a:xfrm>
            <a:off x="274320" y="4681728"/>
            <a:ext cx="8595360" cy="219456"/>
          </a:xfrm>
          <a:prstGeom prst="rect">
            <a:avLst/>
          </a:prstGeom>
          <a:solidFill>
            <a:srgbClr val="ECFDF5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29"/>
          <p:cNvSpPr/>
          <p:nvPr/>
        </p:nvSpPr>
        <p:spPr>
          <a:xfrm>
            <a:off x="365760" y="4690872"/>
            <a:ext cx="8412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All 10/10 test cases passed  ·  Security (SQLi + XSS) blocked by WAF  ·  Zero critical failures detected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3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30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30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Impact &amp; Action Plan for Final Review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0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Measurable Outcomes &amp; Remaining Milestones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0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0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0"/>
          <p:cNvSpPr/>
          <p:nvPr/>
        </p:nvSpPr>
        <p:spPr>
          <a:xfrm>
            <a:off x="320040" y="914400"/>
            <a:ext cx="2011680" cy="10515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30"/>
          <p:cNvSpPr/>
          <p:nvPr/>
        </p:nvSpPr>
        <p:spPr>
          <a:xfrm>
            <a:off x="365760" y="102412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20%+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0"/>
          <p:cNvSpPr/>
          <p:nvPr/>
        </p:nvSpPr>
        <p:spPr>
          <a:xfrm>
            <a:off x="365760" y="1536192"/>
            <a:ext cx="19202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Resource Utilization Improvement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0"/>
          <p:cNvSpPr/>
          <p:nvPr/>
        </p:nvSpPr>
        <p:spPr>
          <a:xfrm>
            <a:off x="2468880" y="914400"/>
            <a:ext cx="2011680" cy="10515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30"/>
          <p:cNvSpPr/>
          <p:nvPr/>
        </p:nvSpPr>
        <p:spPr>
          <a:xfrm>
            <a:off x="2514600" y="102412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0"/>
          <p:cNvSpPr/>
          <p:nvPr/>
        </p:nvSpPr>
        <p:spPr>
          <a:xfrm>
            <a:off x="2514600" y="1536192"/>
            <a:ext cx="19202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Energy Waste Reduction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0"/>
          <p:cNvSpPr/>
          <p:nvPr/>
        </p:nvSpPr>
        <p:spPr>
          <a:xfrm>
            <a:off x="4617720" y="914400"/>
            <a:ext cx="2011680" cy="105156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30"/>
          <p:cNvSpPr/>
          <p:nvPr/>
        </p:nvSpPr>
        <p:spPr>
          <a:xfrm>
            <a:off x="4663440" y="102412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0"/>
          <p:cNvSpPr/>
          <p:nvPr/>
        </p:nvSpPr>
        <p:spPr>
          <a:xfrm>
            <a:off x="4663440" y="1536192"/>
            <a:ext cx="19202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Faster Booking Approvals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0"/>
          <p:cNvSpPr/>
          <p:nvPr/>
        </p:nvSpPr>
        <p:spPr>
          <a:xfrm>
            <a:off x="6766560" y="914400"/>
            <a:ext cx="2011680" cy="105156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30"/>
          <p:cNvSpPr/>
          <p:nvPr/>
        </p:nvSpPr>
        <p:spPr>
          <a:xfrm>
            <a:off x="6812280" y="1024128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0"/>
          <p:cNvSpPr/>
          <p:nvPr/>
        </p:nvSpPr>
        <p:spPr>
          <a:xfrm>
            <a:off x="6812280" y="1536192"/>
            <a:ext cx="19202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1FAE5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D1FAE5"/>
                </a:solidFill>
                <a:latin typeface="Calibri"/>
                <a:ea typeface="Calibri"/>
                <a:cs typeface="Calibri"/>
                <a:sym typeface="Calibri"/>
              </a:rPr>
              <a:t>Audit Traceability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30"/>
          <p:cNvSpPr/>
          <p:nvPr/>
        </p:nvSpPr>
        <p:spPr>
          <a:xfrm>
            <a:off x="320040" y="20848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Action Plan for Final Review (April 2026)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0"/>
          <p:cNvSpPr/>
          <p:nvPr/>
        </p:nvSpPr>
        <p:spPr>
          <a:xfrm>
            <a:off x="320040" y="2450592"/>
            <a:ext cx="8503920" cy="393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30"/>
          <p:cNvSpPr/>
          <p:nvPr/>
        </p:nvSpPr>
        <p:spPr>
          <a:xfrm>
            <a:off x="411480" y="2514600"/>
            <a:ext cx="274320" cy="27432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30"/>
          <p:cNvSpPr/>
          <p:nvPr/>
        </p:nvSpPr>
        <p:spPr>
          <a:xfrm>
            <a:off x="411480" y="25146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0"/>
          <p:cNvSpPr/>
          <p:nvPr/>
        </p:nvSpPr>
        <p:spPr>
          <a:xfrm>
            <a:off x="804672" y="248716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Final Testing &amp; QA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0"/>
          <p:cNvSpPr/>
          <p:nvPr/>
        </p:nvSpPr>
        <p:spPr>
          <a:xfrm>
            <a:off x="804672" y="2660904"/>
            <a:ext cx="6675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Unit tests, integration tests, and end-to-end test suite completion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0"/>
          <p:cNvSpPr/>
          <p:nvPr/>
        </p:nvSpPr>
        <p:spPr>
          <a:xfrm>
            <a:off x="8092440" y="2532888"/>
            <a:ext cx="685800" cy="228600"/>
          </a:xfrm>
          <a:prstGeom prst="roundRect">
            <a:avLst>
              <a:gd fmla="val 16000" name="adj"/>
            </a:avLst>
          </a:prstGeom>
          <a:solidFill>
            <a:srgbClr val="EFF6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30"/>
          <p:cNvSpPr/>
          <p:nvPr/>
        </p:nvSpPr>
        <p:spPr>
          <a:xfrm>
            <a:off x="8092440" y="253288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0"/>
          <p:cNvSpPr/>
          <p:nvPr/>
        </p:nvSpPr>
        <p:spPr>
          <a:xfrm>
            <a:off x="320040" y="2907792"/>
            <a:ext cx="8503920" cy="39319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30"/>
          <p:cNvSpPr/>
          <p:nvPr/>
        </p:nvSpPr>
        <p:spPr>
          <a:xfrm>
            <a:off x="411480" y="2971800"/>
            <a:ext cx="274320" cy="27432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0"/>
          <p:cNvSpPr/>
          <p:nvPr/>
        </p:nvSpPr>
        <p:spPr>
          <a:xfrm>
            <a:off x="411480" y="29718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0"/>
          <p:cNvSpPr/>
          <p:nvPr/>
        </p:nvSpPr>
        <p:spPr>
          <a:xfrm>
            <a:off x="804672" y="294436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Performance Benchmarking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0"/>
          <p:cNvSpPr/>
          <p:nvPr/>
        </p:nvSpPr>
        <p:spPr>
          <a:xfrm>
            <a:off x="804672" y="3118104"/>
            <a:ext cx="6675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Load testing with 500+ concurrent users, response time profiling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0"/>
          <p:cNvSpPr/>
          <p:nvPr/>
        </p:nvSpPr>
        <p:spPr>
          <a:xfrm>
            <a:off x="8092440" y="2990088"/>
            <a:ext cx="685800" cy="228600"/>
          </a:xfrm>
          <a:prstGeom prst="roundRect">
            <a:avLst>
              <a:gd fmla="val 16000" name="adj"/>
            </a:avLst>
          </a:prstGeom>
          <a:solidFill>
            <a:srgbClr val="EFF6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30"/>
          <p:cNvSpPr/>
          <p:nvPr/>
        </p:nvSpPr>
        <p:spPr>
          <a:xfrm>
            <a:off x="8092440" y="299008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0"/>
          <p:cNvSpPr/>
          <p:nvPr/>
        </p:nvSpPr>
        <p:spPr>
          <a:xfrm>
            <a:off x="320040" y="3364992"/>
            <a:ext cx="8503920" cy="393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0"/>
          <p:cNvSpPr/>
          <p:nvPr/>
        </p:nvSpPr>
        <p:spPr>
          <a:xfrm>
            <a:off x="411480" y="3429000"/>
            <a:ext cx="274320" cy="27432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0"/>
          <p:cNvSpPr/>
          <p:nvPr/>
        </p:nvSpPr>
        <p:spPr>
          <a:xfrm>
            <a:off x="411480" y="34290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804672" y="340156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Final Report &amp; Documentation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0"/>
          <p:cNvSpPr/>
          <p:nvPr/>
        </p:nvSpPr>
        <p:spPr>
          <a:xfrm>
            <a:off x="804672" y="3575304"/>
            <a:ext cx="6675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Complete project documentation with API references and user manual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0"/>
          <p:cNvSpPr/>
          <p:nvPr/>
        </p:nvSpPr>
        <p:spPr>
          <a:xfrm>
            <a:off x="8092440" y="3447288"/>
            <a:ext cx="685800" cy="228600"/>
          </a:xfrm>
          <a:prstGeom prst="roundRect">
            <a:avLst>
              <a:gd fmla="val 16000" name="adj"/>
            </a:avLst>
          </a:prstGeom>
          <a:solidFill>
            <a:srgbClr val="FEF3C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0"/>
          <p:cNvSpPr/>
          <p:nvPr/>
        </p:nvSpPr>
        <p:spPr>
          <a:xfrm>
            <a:off x="8092440" y="344728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In Progress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0"/>
          <p:cNvSpPr/>
          <p:nvPr/>
        </p:nvSpPr>
        <p:spPr>
          <a:xfrm>
            <a:off x="320040" y="3822192"/>
            <a:ext cx="8503920" cy="393192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30"/>
          <p:cNvSpPr/>
          <p:nvPr/>
        </p:nvSpPr>
        <p:spPr>
          <a:xfrm>
            <a:off x="411480" y="3886200"/>
            <a:ext cx="274320" cy="27432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30"/>
          <p:cNvSpPr/>
          <p:nvPr/>
        </p:nvSpPr>
        <p:spPr>
          <a:xfrm>
            <a:off x="411480" y="38862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804672" y="385876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Production Deployment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0"/>
          <p:cNvSpPr/>
          <p:nvPr/>
        </p:nvSpPr>
        <p:spPr>
          <a:xfrm>
            <a:off x="804672" y="4032504"/>
            <a:ext cx="6675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Deploy to production server with SSL, monitoring, and backup automation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0"/>
          <p:cNvSpPr/>
          <p:nvPr/>
        </p:nvSpPr>
        <p:spPr>
          <a:xfrm>
            <a:off x="8092440" y="3904488"/>
            <a:ext cx="685800" cy="228600"/>
          </a:xfrm>
          <a:prstGeom prst="roundRect">
            <a:avLst>
              <a:gd fmla="val 16000" name="adj"/>
            </a:avLst>
          </a:prstGeom>
          <a:solidFill>
            <a:srgbClr val="EFF6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30"/>
          <p:cNvSpPr/>
          <p:nvPr/>
        </p:nvSpPr>
        <p:spPr>
          <a:xfrm>
            <a:off x="8092440" y="390448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0"/>
          <p:cNvSpPr/>
          <p:nvPr/>
        </p:nvSpPr>
        <p:spPr>
          <a:xfrm>
            <a:off x="320040" y="4279392"/>
            <a:ext cx="8503920" cy="3931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30"/>
          <p:cNvSpPr/>
          <p:nvPr/>
        </p:nvSpPr>
        <p:spPr>
          <a:xfrm>
            <a:off x="411480" y="4343400"/>
            <a:ext cx="274320" cy="274320"/>
          </a:xfrm>
          <a:prstGeom prst="ellipse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0"/>
          <p:cNvSpPr/>
          <p:nvPr/>
        </p:nvSpPr>
        <p:spPr>
          <a:xfrm>
            <a:off x="411480" y="4343400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0"/>
          <p:cNvSpPr/>
          <p:nvPr/>
        </p:nvSpPr>
        <p:spPr>
          <a:xfrm>
            <a:off x="804672" y="431596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2557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0F2557"/>
                </a:solidFill>
                <a:latin typeface="Calibri"/>
                <a:ea typeface="Calibri"/>
                <a:cs typeface="Calibri"/>
                <a:sym typeface="Calibri"/>
              </a:rPr>
              <a:t>User Acceptance Testing (UAT)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0"/>
          <p:cNvSpPr/>
          <p:nvPr/>
        </p:nvSpPr>
        <p:spPr>
          <a:xfrm>
            <a:off x="804672" y="4489704"/>
            <a:ext cx="66751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Real campus stakeholder testing — faculty, admin, and student groups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0"/>
          <p:cNvSpPr/>
          <p:nvPr/>
        </p:nvSpPr>
        <p:spPr>
          <a:xfrm>
            <a:off x="8092440" y="4361688"/>
            <a:ext cx="685800" cy="228600"/>
          </a:xfrm>
          <a:prstGeom prst="roundRect">
            <a:avLst>
              <a:gd fmla="val 16000" name="adj"/>
            </a:avLst>
          </a:prstGeom>
          <a:solidFill>
            <a:srgbClr val="EFF6FF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30"/>
          <p:cNvSpPr/>
          <p:nvPr/>
        </p:nvSpPr>
        <p:spPr>
          <a:xfrm>
            <a:off x="8092440" y="4361688"/>
            <a:ext cx="685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650"/>
              <a:buFont typeface="Calibri"/>
              <a:buNone/>
            </a:pPr>
            <a:r>
              <a:rPr b="0" i="0" lang="en" sz="6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2557"/>
          </a:solidFill>
          <a:ln cap="flat" cmpd="sng" w="12700">
            <a:solidFill>
              <a:srgbClr val="0F25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3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31"/>
          <p:cNvSpPr/>
          <p:nvPr/>
        </p:nvSpPr>
        <p:spPr>
          <a:xfrm>
            <a:off x="365760" y="73152"/>
            <a:ext cx="6400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1"/>
          <p:cNvSpPr/>
          <p:nvPr/>
        </p:nvSpPr>
        <p:spPr>
          <a:xfrm>
            <a:off x="365760" y="47548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IEEE Format — 12 Research Papers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31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31"/>
          <p:cNvSpPr/>
          <p:nvPr/>
        </p:nvSpPr>
        <p:spPr>
          <a:xfrm>
            <a:off x="182880" y="4937760"/>
            <a:ext cx="8778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Third Review – February 2026  |  Department of CSE (AI&amp;DS)  |  The Apollo University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1"/>
          <p:cNvSpPr/>
          <p:nvPr/>
        </p:nvSpPr>
        <p:spPr>
          <a:xfrm>
            <a:off x="274320" y="896112"/>
            <a:ext cx="41605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31"/>
          <p:cNvSpPr/>
          <p:nvPr/>
        </p:nvSpPr>
        <p:spPr>
          <a:xfrm>
            <a:off x="274320" y="896112"/>
            <a:ext cx="54864" cy="594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31"/>
          <p:cNvSpPr/>
          <p:nvPr/>
        </p:nvSpPr>
        <p:spPr>
          <a:xfrm>
            <a:off x="384048" y="950976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[1] Chen, L., Wang, H., &amp; Liu, J. (2023). Smart Campus Resource Management Using IoT. IEEE Access, 11, 45678–45690.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1"/>
          <p:cNvSpPr/>
          <p:nvPr/>
        </p:nvSpPr>
        <p:spPr>
          <a:xfrm>
            <a:off x="4617720" y="896112"/>
            <a:ext cx="416052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31"/>
          <p:cNvSpPr/>
          <p:nvPr/>
        </p:nvSpPr>
        <p:spPr>
          <a:xfrm>
            <a:off x="4617720" y="896112"/>
            <a:ext cx="54864" cy="594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31"/>
          <p:cNvSpPr/>
          <p:nvPr/>
        </p:nvSpPr>
        <p:spPr>
          <a:xfrm>
            <a:off x="4727448" y="950976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[2] Kumar, A., &amp; Singh, R. (2022). Real-Time Booking Systems in Educational Institutions. Springer Journal of Computing, 15(3), 234–248.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1"/>
          <p:cNvSpPr/>
          <p:nvPr/>
        </p:nvSpPr>
        <p:spPr>
          <a:xfrm>
            <a:off x="274320" y="1563624"/>
            <a:ext cx="41605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31"/>
          <p:cNvSpPr/>
          <p:nvPr/>
        </p:nvSpPr>
        <p:spPr>
          <a:xfrm>
            <a:off x="274320" y="1563624"/>
            <a:ext cx="54864" cy="594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31"/>
          <p:cNvSpPr/>
          <p:nvPr/>
        </p:nvSpPr>
        <p:spPr>
          <a:xfrm>
            <a:off x="384048" y="1618488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[3] Johnson, M., Davis, K., &amp; Miller, T. (2023). Role-Based Access Control in Enterprise Systems. ACM Computing Surveys, 55(2).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31"/>
          <p:cNvSpPr/>
          <p:nvPr/>
        </p:nvSpPr>
        <p:spPr>
          <a:xfrm>
            <a:off x="4617720" y="1563624"/>
            <a:ext cx="416052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31"/>
          <p:cNvSpPr/>
          <p:nvPr/>
        </p:nvSpPr>
        <p:spPr>
          <a:xfrm>
            <a:off x="4617720" y="1563624"/>
            <a:ext cx="54864" cy="594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1"/>
          <p:cNvSpPr/>
          <p:nvPr/>
        </p:nvSpPr>
        <p:spPr>
          <a:xfrm>
            <a:off x="4727448" y="1618488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[4] Wang, X., &amp; Lee, S. (2022). Predictive Maintenance in Facility Management. IEEE IoT Journal, 9(4).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31"/>
          <p:cNvSpPr/>
          <p:nvPr/>
        </p:nvSpPr>
        <p:spPr>
          <a:xfrm>
            <a:off x="274320" y="2231136"/>
            <a:ext cx="41605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31"/>
          <p:cNvSpPr/>
          <p:nvPr/>
        </p:nvSpPr>
        <p:spPr>
          <a:xfrm>
            <a:off x="274320" y="2231136"/>
            <a:ext cx="54864" cy="594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31"/>
          <p:cNvSpPr/>
          <p:nvPr/>
        </p:nvSpPr>
        <p:spPr>
          <a:xfrm>
            <a:off x="384048" y="2286000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[5] Patel, N., Sharma, V., &amp; Brown, C. (2023). Energy Management Systems for Smart Buildings. Energy and Buildings, 280.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1"/>
          <p:cNvSpPr/>
          <p:nvPr/>
        </p:nvSpPr>
        <p:spPr>
          <a:xfrm>
            <a:off x="4617720" y="2231136"/>
            <a:ext cx="416052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1"/>
          <p:cNvSpPr/>
          <p:nvPr/>
        </p:nvSpPr>
        <p:spPr>
          <a:xfrm>
            <a:off x="4617720" y="2231136"/>
            <a:ext cx="54864" cy="594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1"/>
          <p:cNvSpPr/>
          <p:nvPr/>
        </p:nvSpPr>
        <p:spPr>
          <a:xfrm>
            <a:off x="4727448" y="2286000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[6] Anderson, P. (2022). Water Conservation Through Smart Metering. Water Resources Research, 58.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31"/>
          <p:cNvSpPr/>
          <p:nvPr/>
        </p:nvSpPr>
        <p:spPr>
          <a:xfrm>
            <a:off x="274320" y="2898648"/>
            <a:ext cx="41605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31"/>
          <p:cNvSpPr/>
          <p:nvPr/>
        </p:nvSpPr>
        <p:spPr>
          <a:xfrm>
            <a:off x="274320" y="2898648"/>
            <a:ext cx="54864" cy="594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31"/>
          <p:cNvSpPr/>
          <p:nvPr/>
        </p:nvSpPr>
        <p:spPr>
          <a:xfrm>
            <a:off x="384048" y="2953512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[7] Thompson, E. (2023). HR Workload Optimization in Educational Sector. HR Technology Review, 12.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31"/>
          <p:cNvSpPr/>
          <p:nvPr/>
        </p:nvSpPr>
        <p:spPr>
          <a:xfrm>
            <a:off x="4617720" y="2898648"/>
            <a:ext cx="416052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31"/>
          <p:cNvSpPr/>
          <p:nvPr/>
        </p:nvSpPr>
        <p:spPr>
          <a:xfrm>
            <a:off x="4617720" y="2898648"/>
            <a:ext cx="54864" cy="594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31"/>
          <p:cNvSpPr/>
          <p:nvPr/>
        </p:nvSpPr>
        <p:spPr>
          <a:xfrm>
            <a:off x="4727448" y="2953512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[8] Garcia, R., Martinez, L., &amp; Lopez, F. (2022). Microservices Architecture for Campus Systems. IEEE Software, 39(5).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1"/>
          <p:cNvSpPr/>
          <p:nvPr/>
        </p:nvSpPr>
        <p:spPr>
          <a:xfrm>
            <a:off x="274320" y="3566160"/>
            <a:ext cx="41605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31"/>
          <p:cNvSpPr/>
          <p:nvPr/>
        </p:nvSpPr>
        <p:spPr>
          <a:xfrm>
            <a:off x="274320" y="3566160"/>
            <a:ext cx="54864" cy="594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31"/>
          <p:cNvSpPr/>
          <p:nvPr/>
        </p:nvSpPr>
        <p:spPr>
          <a:xfrm>
            <a:off x="384048" y="3621024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[9] Brown, J., &amp; White, S. (2023). JWT Authentication Security Patterns. International Journal of Security, 18.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31"/>
          <p:cNvSpPr/>
          <p:nvPr/>
        </p:nvSpPr>
        <p:spPr>
          <a:xfrm>
            <a:off x="4617720" y="3566160"/>
            <a:ext cx="416052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31"/>
          <p:cNvSpPr/>
          <p:nvPr/>
        </p:nvSpPr>
        <p:spPr>
          <a:xfrm>
            <a:off x="4617720" y="3566160"/>
            <a:ext cx="54864" cy="594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31"/>
          <p:cNvSpPr/>
          <p:nvPr/>
        </p:nvSpPr>
        <p:spPr>
          <a:xfrm>
            <a:off x="4727448" y="3621024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[10] Martinez, D. (2022). Real-Time Data Synchronization with WebSockets. Web Engineering Journal, 22.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31"/>
          <p:cNvSpPr/>
          <p:nvPr/>
        </p:nvSpPr>
        <p:spPr>
          <a:xfrm>
            <a:off x="274320" y="4233672"/>
            <a:ext cx="4160520" cy="5943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31"/>
          <p:cNvSpPr/>
          <p:nvPr/>
        </p:nvSpPr>
        <p:spPr>
          <a:xfrm>
            <a:off x="274320" y="4233672"/>
            <a:ext cx="54864" cy="594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31"/>
          <p:cNvSpPr/>
          <p:nvPr/>
        </p:nvSpPr>
        <p:spPr>
          <a:xfrm>
            <a:off x="384048" y="4288536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[11] Davis, R., Wilson, K., &amp; Taylor, M. (2023). PostgreSQL Performance Optimization. Database Systems Journal, 14.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1"/>
          <p:cNvSpPr/>
          <p:nvPr/>
        </p:nvSpPr>
        <p:spPr>
          <a:xfrm>
            <a:off x="4617720" y="4233672"/>
            <a:ext cx="4160520" cy="594360"/>
          </a:xfrm>
          <a:prstGeom prst="rect">
            <a:avLst/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31"/>
          <p:cNvSpPr/>
          <p:nvPr/>
        </p:nvSpPr>
        <p:spPr>
          <a:xfrm>
            <a:off x="4617720" y="4233672"/>
            <a:ext cx="54864" cy="59436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31"/>
          <p:cNvSpPr/>
          <p:nvPr/>
        </p:nvSpPr>
        <p:spPr>
          <a:xfrm>
            <a:off x="4727448" y="4288536"/>
            <a:ext cx="3977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[12] Williams, A. (2023). React Query for Server State Management. Frontend Engineering Weekly, Issue 45.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2557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2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3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A1A3A"/>
          </a:solidFill>
          <a:ln cap="flat" cmpd="sng" w="12700">
            <a:solidFill>
              <a:srgbClr val="0A1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32"/>
          <p:cNvSpPr/>
          <p:nvPr/>
        </p:nvSpPr>
        <p:spPr>
          <a:xfrm>
            <a:off x="5943600" y="0"/>
            <a:ext cx="45720" cy="514350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2"/>
          <p:cNvSpPr/>
          <p:nvPr/>
        </p:nvSpPr>
        <p:spPr>
          <a:xfrm>
            <a:off x="640080" y="731520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b="1" i="0" lang="en" sz="6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2"/>
          <p:cNvSpPr/>
          <p:nvPr/>
        </p:nvSpPr>
        <p:spPr>
          <a:xfrm>
            <a:off x="640080" y="16916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Calibri"/>
              <a:buNone/>
            </a:pPr>
            <a:r>
              <a:rPr b="1" i="0" lang="en" sz="2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CampusWise Smart Hub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2"/>
          <p:cNvSpPr/>
          <p:nvPr/>
        </p:nvSpPr>
        <p:spPr>
          <a:xfrm>
            <a:off x="640080" y="2176272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1100"/>
              <a:buFont typeface="Calibri"/>
              <a:buNone/>
            </a:pPr>
            <a:r>
              <a:rPr b="0" i="1" lang="en" sz="11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Integrated Campus Resource &amp; Workforce Management 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2"/>
          <p:cNvSpPr/>
          <p:nvPr/>
        </p:nvSpPr>
        <p:spPr>
          <a:xfrm>
            <a:off x="640080" y="2633472"/>
            <a:ext cx="2743200" cy="36576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32"/>
          <p:cNvSpPr/>
          <p:nvPr/>
        </p:nvSpPr>
        <p:spPr>
          <a:xfrm>
            <a:off x="640080" y="2743200"/>
            <a:ext cx="5120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Department of CSE (AI&amp;DS)  ·  School of Technology</a:t>
            </a:r>
            <a:b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The Apollo University, Chittoor, Andhra Pradesh – 517127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32"/>
          <p:cNvSpPr/>
          <p:nvPr/>
        </p:nvSpPr>
        <p:spPr>
          <a:xfrm>
            <a:off x="640080" y="34747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E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7A9BBE"/>
                </a:solidFill>
                <a:latin typeface="Calibri"/>
                <a:ea typeface="Calibri"/>
                <a:cs typeface="Calibri"/>
                <a:sym typeface="Calibri"/>
              </a:rPr>
              <a:t>BTAP4502 – Project Work  |  </a:t>
            </a:r>
            <a:r>
              <a:rPr lang="en" sz="1000">
                <a:solidFill>
                  <a:srgbClr val="7A9BBE"/>
                </a:solidFill>
                <a:latin typeface="Calibri"/>
                <a:ea typeface="Calibri"/>
                <a:cs typeface="Calibri"/>
                <a:sym typeface="Calibri"/>
              </a:rPr>
              <a:t>Second</a:t>
            </a:r>
            <a:r>
              <a:rPr b="0" i="0" lang="en" sz="1000" u="none" cap="none" strike="noStrike">
                <a:solidFill>
                  <a:srgbClr val="7A9BBE"/>
                </a:solidFill>
                <a:latin typeface="Calibri"/>
                <a:ea typeface="Calibri"/>
                <a:cs typeface="Calibri"/>
                <a:sym typeface="Calibri"/>
              </a:rPr>
              <a:t> Review – February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32"/>
          <p:cNvSpPr/>
          <p:nvPr/>
        </p:nvSpPr>
        <p:spPr>
          <a:xfrm>
            <a:off x="6080760" y="457200"/>
            <a:ext cx="2880360" cy="749808"/>
          </a:xfrm>
          <a:prstGeom prst="rect">
            <a:avLst/>
          </a:prstGeom>
          <a:solidFill>
            <a:srgbClr val="162B4D"/>
          </a:solidFill>
          <a:ln cap="flat" cmpd="sng" w="12700">
            <a:solidFill>
              <a:srgbClr val="1E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32"/>
          <p:cNvSpPr/>
          <p:nvPr/>
        </p:nvSpPr>
        <p:spPr>
          <a:xfrm>
            <a:off x="6172200" y="50292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32"/>
          <p:cNvSpPr/>
          <p:nvPr/>
        </p:nvSpPr>
        <p:spPr>
          <a:xfrm>
            <a:off x="7315200" y="65836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Core Modules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32"/>
          <p:cNvSpPr/>
          <p:nvPr/>
        </p:nvSpPr>
        <p:spPr>
          <a:xfrm>
            <a:off x="6080760" y="1325880"/>
            <a:ext cx="2880360" cy="749808"/>
          </a:xfrm>
          <a:prstGeom prst="rect">
            <a:avLst/>
          </a:prstGeom>
          <a:solidFill>
            <a:srgbClr val="162B4D"/>
          </a:solidFill>
          <a:ln cap="flat" cmpd="sng" w="12700">
            <a:solidFill>
              <a:srgbClr val="1E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32"/>
          <p:cNvSpPr/>
          <p:nvPr/>
        </p:nvSpPr>
        <p:spPr>
          <a:xfrm>
            <a:off x="6172200" y="137160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500+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2"/>
          <p:cNvSpPr/>
          <p:nvPr/>
        </p:nvSpPr>
        <p:spPr>
          <a:xfrm>
            <a:off x="7315200" y="152704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Concurrent Users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2"/>
          <p:cNvSpPr/>
          <p:nvPr/>
        </p:nvSpPr>
        <p:spPr>
          <a:xfrm>
            <a:off x="6080760" y="2194560"/>
            <a:ext cx="2880360" cy="749808"/>
          </a:xfrm>
          <a:prstGeom prst="rect">
            <a:avLst/>
          </a:prstGeom>
          <a:solidFill>
            <a:srgbClr val="162B4D"/>
          </a:solidFill>
          <a:ln cap="flat" cmpd="sng" w="12700">
            <a:solidFill>
              <a:srgbClr val="1E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32"/>
          <p:cNvSpPr/>
          <p:nvPr/>
        </p:nvSpPr>
        <p:spPr>
          <a:xfrm>
            <a:off x="6172200" y="224028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59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2"/>
          <p:cNvSpPr/>
          <p:nvPr/>
        </p:nvSpPr>
        <p:spPr>
          <a:xfrm>
            <a:off x="7315200" y="239572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DB Migrations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2"/>
          <p:cNvSpPr/>
          <p:nvPr/>
        </p:nvSpPr>
        <p:spPr>
          <a:xfrm>
            <a:off x="6080760" y="3063240"/>
            <a:ext cx="2880360" cy="749808"/>
          </a:xfrm>
          <a:prstGeom prst="rect">
            <a:avLst/>
          </a:prstGeom>
          <a:solidFill>
            <a:srgbClr val="162B4D"/>
          </a:solidFill>
          <a:ln cap="flat" cmpd="sng" w="12700">
            <a:solidFill>
              <a:srgbClr val="1E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32"/>
          <p:cNvSpPr/>
          <p:nvPr/>
        </p:nvSpPr>
        <p:spPr>
          <a:xfrm>
            <a:off x="6172200" y="310896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2"/>
          <p:cNvSpPr/>
          <p:nvPr/>
        </p:nvSpPr>
        <p:spPr>
          <a:xfrm>
            <a:off x="7315200" y="326440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Role Dashboards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2"/>
          <p:cNvSpPr/>
          <p:nvPr/>
        </p:nvSpPr>
        <p:spPr>
          <a:xfrm>
            <a:off x="6080760" y="3931920"/>
            <a:ext cx="2880360" cy="749808"/>
          </a:xfrm>
          <a:prstGeom prst="rect">
            <a:avLst/>
          </a:prstGeom>
          <a:solidFill>
            <a:srgbClr val="162B4D"/>
          </a:solidFill>
          <a:ln cap="flat" cmpd="sng" w="12700">
            <a:solidFill>
              <a:srgbClr val="1E3A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32"/>
          <p:cNvSpPr/>
          <p:nvPr/>
        </p:nvSpPr>
        <p:spPr>
          <a:xfrm>
            <a:off x="6172200" y="3977640"/>
            <a:ext cx="10972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2"/>
          <p:cNvSpPr/>
          <p:nvPr/>
        </p:nvSpPr>
        <p:spPr>
          <a:xfrm>
            <a:off x="7315200" y="4133088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0BDD8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A0BDD8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2"/>
          <p:cNvSpPr/>
          <p:nvPr/>
        </p:nvSpPr>
        <p:spPr>
          <a:xfrm>
            <a:off x="640080" y="43891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BBE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7A9BBE"/>
                </a:solidFill>
                <a:latin typeface="Calibri"/>
                <a:ea typeface="Calibri"/>
                <a:cs typeface="Calibri"/>
                <a:sym typeface="Calibri"/>
              </a:rPr>
              <a:t> welcome questions from the review panel.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