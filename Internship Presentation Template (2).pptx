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259" r:id="rId3"/>
    <p:sldId id="260" r:id="rId4"/>
    <p:sldId id="266" r:id="rId5"/>
    <p:sldId id="267" r:id="rId6"/>
    <p:sldId id="261" r:id="rId7"/>
    <p:sldId id="262" r:id="rId8"/>
    <p:sldId id="264" r:id="rId9"/>
    <p:sldId id="263"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0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 S CHARAN" userId="239a13b1e19306cd" providerId="LiveId" clId="{FD678942-02B0-426B-B36C-F87B68FBCEC4}"/>
    <pc:docChg chg="modSld">
      <pc:chgData name="K S CHARAN" userId="239a13b1e19306cd" providerId="LiveId" clId="{FD678942-02B0-426B-B36C-F87B68FBCEC4}" dt="2025-02-02T08:36:21.028" v="1" actId="1076"/>
      <pc:docMkLst>
        <pc:docMk/>
      </pc:docMkLst>
      <pc:sldChg chg="modSp mod">
        <pc:chgData name="K S CHARAN" userId="239a13b1e19306cd" providerId="LiveId" clId="{FD678942-02B0-426B-B36C-F87B68FBCEC4}" dt="2025-02-02T08:35:49.174" v="0" actId="20577"/>
        <pc:sldMkLst>
          <pc:docMk/>
          <pc:sldMk cId="4098786564" sldId="258"/>
        </pc:sldMkLst>
        <pc:spChg chg="mod">
          <ac:chgData name="K S CHARAN" userId="239a13b1e19306cd" providerId="LiveId" clId="{FD678942-02B0-426B-B36C-F87B68FBCEC4}" dt="2025-02-02T08:35:49.174" v="0" actId="20577"/>
          <ac:spMkLst>
            <pc:docMk/>
            <pc:sldMk cId="4098786564" sldId="258"/>
            <ac:spMk id="18" creationId="{67E03381-34DC-BCC7-DAB8-8DF13EE828AC}"/>
          </ac:spMkLst>
        </pc:spChg>
      </pc:sldChg>
      <pc:sldChg chg="modSp mod">
        <pc:chgData name="K S CHARAN" userId="239a13b1e19306cd" providerId="LiveId" clId="{FD678942-02B0-426B-B36C-F87B68FBCEC4}" dt="2025-02-02T08:36:21.028" v="1" actId="1076"/>
        <pc:sldMkLst>
          <pc:docMk/>
          <pc:sldMk cId="251198582" sldId="259"/>
        </pc:sldMkLst>
        <pc:spChg chg="mod">
          <ac:chgData name="K S CHARAN" userId="239a13b1e19306cd" providerId="LiveId" clId="{FD678942-02B0-426B-B36C-F87B68FBCEC4}" dt="2025-02-02T08:36:21.028" v="1" actId="1076"/>
          <ac:spMkLst>
            <pc:docMk/>
            <pc:sldMk cId="251198582" sldId="259"/>
            <ac:spMk id="2" creationId="{DC314204-1463-8AD1-7BB2-38A0B711C6D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9D4EFE-F5B3-4C48-8091-FCC24F80522F}" type="datetimeFigureOut">
              <a:rPr lang="en-IN" smtClean="0"/>
              <a:t>02-02-2025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AB3BF2-2488-45EE-9A2D-5B70C18E443D}" type="slidenum">
              <a:rPr lang="en-IN" smtClean="0"/>
              <a:t>‹#›</a:t>
            </a:fld>
            <a:endParaRPr lang="en-IN"/>
          </a:p>
        </p:txBody>
      </p:sp>
    </p:spTree>
    <p:extLst>
      <p:ext uri="{BB962C8B-B14F-4D97-AF65-F5344CB8AC3E}">
        <p14:creationId xmlns:p14="http://schemas.microsoft.com/office/powerpoint/2010/main" val="3785028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36390-62A5-A092-6F89-62A6672530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55042FB-C04C-9B76-DD65-61B7B4970F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0E4F8E-2DC2-DEF0-DE4A-E30E1B151956}"/>
              </a:ext>
            </a:extLst>
          </p:cNvPr>
          <p:cNvSpPr>
            <a:spLocks noGrp="1"/>
          </p:cNvSpPr>
          <p:nvPr>
            <p:ph type="dt" sz="half" idx="10"/>
          </p:nvPr>
        </p:nvSpPr>
        <p:spPr/>
        <p:txBody>
          <a:bodyPr/>
          <a:lstStyle/>
          <a:p>
            <a:fld id="{6BCB09D1-5F94-4513-BE45-3C21358948F8}" type="datetimeFigureOut">
              <a:rPr lang="en-IN" smtClean="0"/>
              <a:t>02-02-2025</a:t>
            </a:fld>
            <a:endParaRPr lang="en-IN"/>
          </a:p>
        </p:txBody>
      </p:sp>
      <p:sp>
        <p:nvSpPr>
          <p:cNvPr id="5" name="Footer Placeholder 4">
            <a:extLst>
              <a:ext uri="{FF2B5EF4-FFF2-40B4-BE49-F238E27FC236}">
                <a16:creationId xmlns:a16="http://schemas.microsoft.com/office/drawing/2014/main" id="{35B41BE8-E7CC-D613-91E7-0BC0BB8262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5D070F-383E-13A5-72CE-FF96DDBE69D5}"/>
              </a:ext>
            </a:extLst>
          </p:cNvPr>
          <p:cNvSpPr>
            <a:spLocks noGrp="1"/>
          </p:cNvSpPr>
          <p:nvPr>
            <p:ph type="sldNum" sz="quarter" idx="12"/>
          </p:nvPr>
        </p:nvSpPr>
        <p:spPr/>
        <p:txBody>
          <a:bodyPr/>
          <a:lstStyle/>
          <a:p>
            <a:fld id="{3626AED3-D0BC-4928-BBCC-480D302F2E60}" type="slidenum">
              <a:rPr lang="en-IN" smtClean="0"/>
              <a:t>‹#›</a:t>
            </a:fld>
            <a:endParaRPr lang="en-IN"/>
          </a:p>
        </p:txBody>
      </p:sp>
    </p:spTree>
    <p:extLst>
      <p:ext uri="{BB962C8B-B14F-4D97-AF65-F5344CB8AC3E}">
        <p14:creationId xmlns:p14="http://schemas.microsoft.com/office/powerpoint/2010/main" val="3267932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2FE05-6283-BE31-9415-C4A0126D9E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68234B-543C-487C-FB30-6CB822DAFA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78E126-538E-38D8-0630-B465E1A984A4}"/>
              </a:ext>
            </a:extLst>
          </p:cNvPr>
          <p:cNvSpPr>
            <a:spLocks noGrp="1"/>
          </p:cNvSpPr>
          <p:nvPr>
            <p:ph type="dt" sz="half" idx="10"/>
          </p:nvPr>
        </p:nvSpPr>
        <p:spPr/>
        <p:txBody>
          <a:bodyPr/>
          <a:lstStyle/>
          <a:p>
            <a:fld id="{6BCB09D1-5F94-4513-BE45-3C21358948F8}" type="datetimeFigureOut">
              <a:rPr lang="en-IN" smtClean="0"/>
              <a:t>02-02-2025</a:t>
            </a:fld>
            <a:endParaRPr lang="en-IN"/>
          </a:p>
        </p:txBody>
      </p:sp>
      <p:sp>
        <p:nvSpPr>
          <p:cNvPr id="5" name="Footer Placeholder 4">
            <a:extLst>
              <a:ext uri="{FF2B5EF4-FFF2-40B4-BE49-F238E27FC236}">
                <a16:creationId xmlns:a16="http://schemas.microsoft.com/office/drawing/2014/main" id="{8CCFE3CF-9F7A-F93C-D1FC-A132158DC5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6CF92A-9726-E5E3-F78A-F4093CEBEE03}"/>
              </a:ext>
            </a:extLst>
          </p:cNvPr>
          <p:cNvSpPr>
            <a:spLocks noGrp="1"/>
          </p:cNvSpPr>
          <p:nvPr>
            <p:ph type="sldNum" sz="quarter" idx="12"/>
          </p:nvPr>
        </p:nvSpPr>
        <p:spPr/>
        <p:txBody>
          <a:bodyPr/>
          <a:lstStyle/>
          <a:p>
            <a:fld id="{3626AED3-D0BC-4928-BBCC-480D302F2E60}" type="slidenum">
              <a:rPr lang="en-IN" smtClean="0"/>
              <a:t>‹#›</a:t>
            </a:fld>
            <a:endParaRPr lang="en-IN"/>
          </a:p>
        </p:txBody>
      </p:sp>
    </p:spTree>
    <p:extLst>
      <p:ext uri="{BB962C8B-B14F-4D97-AF65-F5344CB8AC3E}">
        <p14:creationId xmlns:p14="http://schemas.microsoft.com/office/powerpoint/2010/main" val="1379686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35155-9927-6D74-5144-CFEDB32654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81E61E3-90AE-334B-3C08-4E456056EC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487666-FD51-13BF-95C4-B6070E7BC42D}"/>
              </a:ext>
            </a:extLst>
          </p:cNvPr>
          <p:cNvSpPr>
            <a:spLocks noGrp="1"/>
          </p:cNvSpPr>
          <p:nvPr>
            <p:ph type="dt" sz="half" idx="10"/>
          </p:nvPr>
        </p:nvSpPr>
        <p:spPr/>
        <p:txBody>
          <a:bodyPr/>
          <a:lstStyle/>
          <a:p>
            <a:fld id="{6BCB09D1-5F94-4513-BE45-3C21358948F8}" type="datetimeFigureOut">
              <a:rPr lang="en-IN" smtClean="0"/>
              <a:t>02-02-2025</a:t>
            </a:fld>
            <a:endParaRPr lang="en-IN"/>
          </a:p>
        </p:txBody>
      </p:sp>
      <p:sp>
        <p:nvSpPr>
          <p:cNvPr id="5" name="Footer Placeholder 4">
            <a:extLst>
              <a:ext uri="{FF2B5EF4-FFF2-40B4-BE49-F238E27FC236}">
                <a16:creationId xmlns:a16="http://schemas.microsoft.com/office/drawing/2014/main" id="{9D0A3BBC-B5C9-BDC2-DCB5-B761C2E9C1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91731C-E5D2-9693-3226-FAC8D4535A93}"/>
              </a:ext>
            </a:extLst>
          </p:cNvPr>
          <p:cNvSpPr>
            <a:spLocks noGrp="1"/>
          </p:cNvSpPr>
          <p:nvPr>
            <p:ph type="sldNum" sz="quarter" idx="12"/>
          </p:nvPr>
        </p:nvSpPr>
        <p:spPr/>
        <p:txBody>
          <a:bodyPr/>
          <a:lstStyle/>
          <a:p>
            <a:fld id="{3626AED3-D0BC-4928-BBCC-480D302F2E60}" type="slidenum">
              <a:rPr lang="en-IN" smtClean="0"/>
              <a:t>‹#›</a:t>
            </a:fld>
            <a:endParaRPr lang="en-IN"/>
          </a:p>
        </p:txBody>
      </p:sp>
    </p:spTree>
    <p:extLst>
      <p:ext uri="{BB962C8B-B14F-4D97-AF65-F5344CB8AC3E}">
        <p14:creationId xmlns:p14="http://schemas.microsoft.com/office/powerpoint/2010/main" val="144795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04C5-CB0F-E4C0-A387-AACD1BD381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17024F-AB39-1BA2-C201-B75FD86364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28726EE-F502-FC68-CD59-C629C2C02F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49D3584-F351-A106-8487-434A889A0634}"/>
              </a:ext>
            </a:extLst>
          </p:cNvPr>
          <p:cNvSpPr>
            <a:spLocks noGrp="1"/>
          </p:cNvSpPr>
          <p:nvPr>
            <p:ph type="dt" sz="half" idx="10"/>
          </p:nvPr>
        </p:nvSpPr>
        <p:spPr/>
        <p:txBody>
          <a:bodyPr/>
          <a:lstStyle/>
          <a:p>
            <a:fld id="{6BCB09D1-5F94-4513-BE45-3C21358948F8}" type="datetimeFigureOut">
              <a:rPr lang="en-IN" smtClean="0"/>
              <a:t>02-02-2025</a:t>
            </a:fld>
            <a:endParaRPr lang="en-IN"/>
          </a:p>
        </p:txBody>
      </p:sp>
      <p:sp>
        <p:nvSpPr>
          <p:cNvPr id="6" name="Footer Placeholder 5">
            <a:extLst>
              <a:ext uri="{FF2B5EF4-FFF2-40B4-BE49-F238E27FC236}">
                <a16:creationId xmlns:a16="http://schemas.microsoft.com/office/drawing/2014/main" id="{A0BA9762-DE15-74FE-C2A7-60B2585BE0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29738D-314A-BCEE-AB91-562FD47C40E8}"/>
              </a:ext>
            </a:extLst>
          </p:cNvPr>
          <p:cNvSpPr>
            <a:spLocks noGrp="1"/>
          </p:cNvSpPr>
          <p:nvPr>
            <p:ph type="sldNum" sz="quarter" idx="12"/>
          </p:nvPr>
        </p:nvSpPr>
        <p:spPr/>
        <p:txBody>
          <a:bodyPr/>
          <a:lstStyle/>
          <a:p>
            <a:fld id="{3626AED3-D0BC-4928-BBCC-480D302F2E60}" type="slidenum">
              <a:rPr lang="en-IN" smtClean="0"/>
              <a:t>‹#›</a:t>
            </a:fld>
            <a:endParaRPr lang="en-IN"/>
          </a:p>
        </p:txBody>
      </p:sp>
    </p:spTree>
    <p:extLst>
      <p:ext uri="{BB962C8B-B14F-4D97-AF65-F5344CB8AC3E}">
        <p14:creationId xmlns:p14="http://schemas.microsoft.com/office/powerpoint/2010/main" val="2483113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1BA8A-0310-FF86-113B-4ED1F748CCF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21D777-E31A-054F-E0FF-0FAA0BDAB2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C89579-DD85-B983-6D66-155AF5CE3B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EAD5ABF-C637-1625-8CCF-9695E06004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BA5FAC-2C35-5D93-A588-6FA77FCB94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084B18-A910-A7B2-9DB2-F0FD2C2244A6}"/>
              </a:ext>
            </a:extLst>
          </p:cNvPr>
          <p:cNvSpPr>
            <a:spLocks noGrp="1"/>
          </p:cNvSpPr>
          <p:nvPr>
            <p:ph type="dt" sz="half" idx="10"/>
          </p:nvPr>
        </p:nvSpPr>
        <p:spPr/>
        <p:txBody>
          <a:bodyPr/>
          <a:lstStyle/>
          <a:p>
            <a:fld id="{6BCB09D1-5F94-4513-BE45-3C21358948F8}" type="datetimeFigureOut">
              <a:rPr lang="en-IN" smtClean="0"/>
              <a:t>02-02-2025</a:t>
            </a:fld>
            <a:endParaRPr lang="en-IN"/>
          </a:p>
        </p:txBody>
      </p:sp>
      <p:sp>
        <p:nvSpPr>
          <p:cNvPr id="8" name="Footer Placeholder 7">
            <a:extLst>
              <a:ext uri="{FF2B5EF4-FFF2-40B4-BE49-F238E27FC236}">
                <a16:creationId xmlns:a16="http://schemas.microsoft.com/office/drawing/2014/main" id="{CB540E4B-63FE-DAD8-B77A-1518131B0DA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B8743C2-E6B2-4D46-2D0C-59D3077A3C35}"/>
              </a:ext>
            </a:extLst>
          </p:cNvPr>
          <p:cNvSpPr>
            <a:spLocks noGrp="1"/>
          </p:cNvSpPr>
          <p:nvPr>
            <p:ph type="sldNum" sz="quarter" idx="12"/>
          </p:nvPr>
        </p:nvSpPr>
        <p:spPr/>
        <p:txBody>
          <a:bodyPr/>
          <a:lstStyle/>
          <a:p>
            <a:fld id="{3626AED3-D0BC-4928-BBCC-480D302F2E60}" type="slidenum">
              <a:rPr lang="en-IN" smtClean="0"/>
              <a:t>‹#›</a:t>
            </a:fld>
            <a:endParaRPr lang="en-IN"/>
          </a:p>
        </p:txBody>
      </p:sp>
    </p:spTree>
    <p:extLst>
      <p:ext uri="{BB962C8B-B14F-4D97-AF65-F5344CB8AC3E}">
        <p14:creationId xmlns:p14="http://schemas.microsoft.com/office/powerpoint/2010/main" val="1424200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28952-4BB1-70CD-FE0A-41AAEA7228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DE3C153-70F2-5ED2-4F02-6410DDFAA408}"/>
              </a:ext>
            </a:extLst>
          </p:cNvPr>
          <p:cNvSpPr>
            <a:spLocks noGrp="1"/>
          </p:cNvSpPr>
          <p:nvPr>
            <p:ph type="dt" sz="half" idx="10"/>
          </p:nvPr>
        </p:nvSpPr>
        <p:spPr/>
        <p:txBody>
          <a:bodyPr/>
          <a:lstStyle/>
          <a:p>
            <a:fld id="{6BCB09D1-5F94-4513-BE45-3C21358948F8}" type="datetimeFigureOut">
              <a:rPr lang="en-IN" smtClean="0"/>
              <a:t>02-02-2025</a:t>
            </a:fld>
            <a:endParaRPr lang="en-IN"/>
          </a:p>
        </p:txBody>
      </p:sp>
      <p:sp>
        <p:nvSpPr>
          <p:cNvPr id="4" name="Footer Placeholder 3">
            <a:extLst>
              <a:ext uri="{FF2B5EF4-FFF2-40B4-BE49-F238E27FC236}">
                <a16:creationId xmlns:a16="http://schemas.microsoft.com/office/drawing/2014/main" id="{4BFECFCA-5FA0-48EB-D117-5DA2A2B13F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D77CDAC-221B-BA9D-3694-80F410F0254F}"/>
              </a:ext>
            </a:extLst>
          </p:cNvPr>
          <p:cNvSpPr>
            <a:spLocks noGrp="1"/>
          </p:cNvSpPr>
          <p:nvPr>
            <p:ph type="sldNum" sz="quarter" idx="12"/>
          </p:nvPr>
        </p:nvSpPr>
        <p:spPr/>
        <p:txBody>
          <a:bodyPr/>
          <a:lstStyle/>
          <a:p>
            <a:fld id="{3626AED3-D0BC-4928-BBCC-480D302F2E60}" type="slidenum">
              <a:rPr lang="en-IN" smtClean="0"/>
              <a:t>‹#›</a:t>
            </a:fld>
            <a:endParaRPr lang="en-IN"/>
          </a:p>
        </p:txBody>
      </p:sp>
    </p:spTree>
    <p:extLst>
      <p:ext uri="{BB962C8B-B14F-4D97-AF65-F5344CB8AC3E}">
        <p14:creationId xmlns:p14="http://schemas.microsoft.com/office/powerpoint/2010/main" val="2156485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0EA450-4078-2DE7-F215-3155AD59D16C}"/>
              </a:ext>
            </a:extLst>
          </p:cNvPr>
          <p:cNvSpPr>
            <a:spLocks noGrp="1"/>
          </p:cNvSpPr>
          <p:nvPr>
            <p:ph type="dt" sz="half" idx="10"/>
          </p:nvPr>
        </p:nvSpPr>
        <p:spPr/>
        <p:txBody>
          <a:bodyPr/>
          <a:lstStyle/>
          <a:p>
            <a:fld id="{6BCB09D1-5F94-4513-BE45-3C21358948F8}" type="datetimeFigureOut">
              <a:rPr lang="en-IN" smtClean="0"/>
              <a:t>02-02-2025</a:t>
            </a:fld>
            <a:endParaRPr lang="en-IN"/>
          </a:p>
        </p:txBody>
      </p:sp>
      <p:sp>
        <p:nvSpPr>
          <p:cNvPr id="3" name="Footer Placeholder 2">
            <a:extLst>
              <a:ext uri="{FF2B5EF4-FFF2-40B4-BE49-F238E27FC236}">
                <a16:creationId xmlns:a16="http://schemas.microsoft.com/office/drawing/2014/main" id="{29B633EC-E6FB-1512-DE8F-C287CA68022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D30996-8B2F-EC27-E146-43F1D2AF105D}"/>
              </a:ext>
            </a:extLst>
          </p:cNvPr>
          <p:cNvSpPr>
            <a:spLocks noGrp="1"/>
          </p:cNvSpPr>
          <p:nvPr>
            <p:ph type="sldNum" sz="quarter" idx="12"/>
          </p:nvPr>
        </p:nvSpPr>
        <p:spPr/>
        <p:txBody>
          <a:bodyPr/>
          <a:lstStyle/>
          <a:p>
            <a:fld id="{3626AED3-D0BC-4928-BBCC-480D302F2E60}" type="slidenum">
              <a:rPr lang="en-IN" smtClean="0"/>
              <a:t>‹#›</a:t>
            </a:fld>
            <a:endParaRPr lang="en-IN"/>
          </a:p>
        </p:txBody>
      </p:sp>
    </p:spTree>
    <p:extLst>
      <p:ext uri="{BB962C8B-B14F-4D97-AF65-F5344CB8AC3E}">
        <p14:creationId xmlns:p14="http://schemas.microsoft.com/office/powerpoint/2010/main" val="2145388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34455-69B8-5191-F110-222FE29F18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949126-C640-5ED5-526C-7C96CED18E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E841D7-3719-18CF-6B93-EEBF252A8F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83C3B5-5C55-3ED9-83F2-5A03BE7566FE}"/>
              </a:ext>
            </a:extLst>
          </p:cNvPr>
          <p:cNvSpPr>
            <a:spLocks noGrp="1"/>
          </p:cNvSpPr>
          <p:nvPr>
            <p:ph type="dt" sz="half" idx="10"/>
          </p:nvPr>
        </p:nvSpPr>
        <p:spPr/>
        <p:txBody>
          <a:bodyPr/>
          <a:lstStyle/>
          <a:p>
            <a:fld id="{6BCB09D1-5F94-4513-BE45-3C21358948F8}" type="datetimeFigureOut">
              <a:rPr lang="en-IN" smtClean="0"/>
              <a:t>02-02-2025</a:t>
            </a:fld>
            <a:endParaRPr lang="en-IN"/>
          </a:p>
        </p:txBody>
      </p:sp>
      <p:sp>
        <p:nvSpPr>
          <p:cNvPr id="6" name="Footer Placeholder 5">
            <a:extLst>
              <a:ext uri="{FF2B5EF4-FFF2-40B4-BE49-F238E27FC236}">
                <a16:creationId xmlns:a16="http://schemas.microsoft.com/office/drawing/2014/main" id="{6E56EF46-D12E-D461-C15C-0736799D5A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578011-73DF-7C0C-D221-C4B850D7F54F}"/>
              </a:ext>
            </a:extLst>
          </p:cNvPr>
          <p:cNvSpPr>
            <a:spLocks noGrp="1"/>
          </p:cNvSpPr>
          <p:nvPr>
            <p:ph type="sldNum" sz="quarter" idx="12"/>
          </p:nvPr>
        </p:nvSpPr>
        <p:spPr/>
        <p:txBody>
          <a:bodyPr/>
          <a:lstStyle/>
          <a:p>
            <a:fld id="{3626AED3-D0BC-4928-BBCC-480D302F2E60}" type="slidenum">
              <a:rPr lang="en-IN" smtClean="0"/>
              <a:t>‹#›</a:t>
            </a:fld>
            <a:endParaRPr lang="en-IN"/>
          </a:p>
        </p:txBody>
      </p:sp>
    </p:spTree>
    <p:extLst>
      <p:ext uri="{BB962C8B-B14F-4D97-AF65-F5344CB8AC3E}">
        <p14:creationId xmlns:p14="http://schemas.microsoft.com/office/powerpoint/2010/main" val="916585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BAE2-DC18-EFFB-E249-8536776A56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BB1566-D4AF-CECD-0510-467730606E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E2DCDB3-AEE0-BEB7-6DAB-602163E744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8202CD-4E23-4829-F875-4A9584022B9C}"/>
              </a:ext>
            </a:extLst>
          </p:cNvPr>
          <p:cNvSpPr>
            <a:spLocks noGrp="1"/>
          </p:cNvSpPr>
          <p:nvPr>
            <p:ph type="dt" sz="half" idx="10"/>
          </p:nvPr>
        </p:nvSpPr>
        <p:spPr/>
        <p:txBody>
          <a:bodyPr/>
          <a:lstStyle/>
          <a:p>
            <a:fld id="{6BCB09D1-5F94-4513-BE45-3C21358948F8}" type="datetimeFigureOut">
              <a:rPr lang="en-IN" smtClean="0"/>
              <a:t>02-02-2025</a:t>
            </a:fld>
            <a:endParaRPr lang="en-IN"/>
          </a:p>
        </p:txBody>
      </p:sp>
      <p:sp>
        <p:nvSpPr>
          <p:cNvPr id="6" name="Footer Placeholder 5">
            <a:extLst>
              <a:ext uri="{FF2B5EF4-FFF2-40B4-BE49-F238E27FC236}">
                <a16:creationId xmlns:a16="http://schemas.microsoft.com/office/drawing/2014/main" id="{E206ABBD-67A0-B1D1-9786-A65A82AFB7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842739-E173-E972-0E43-74F9AADEBE27}"/>
              </a:ext>
            </a:extLst>
          </p:cNvPr>
          <p:cNvSpPr>
            <a:spLocks noGrp="1"/>
          </p:cNvSpPr>
          <p:nvPr>
            <p:ph type="sldNum" sz="quarter" idx="12"/>
          </p:nvPr>
        </p:nvSpPr>
        <p:spPr/>
        <p:txBody>
          <a:bodyPr/>
          <a:lstStyle/>
          <a:p>
            <a:fld id="{3626AED3-D0BC-4928-BBCC-480D302F2E60}" type="slidenum">
              <a:rPr lang="en-IN" smtClean="0"/>
              <a:t>‹#›</a:t>
            </a:fld>
            <a:endParaRPr lang="en-IN"/>
          </a:p>
        </p:txBody>
      </p:sp>
    </p:spTree>
    <p:extLst>
      <p:ext uri="{BB962C8B-B14F-4D97-AF65-F5344CB8AC3E}">
        <p14:creationId xmlns:p14="http://schemas.microsoft.com/office/powerpoint/2010/main" val="1785722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C5043-F7AD-D454-B768-4305462B53E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9DDFDD-0289-7E5D-AB50-519D211E8D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CDD366-CFB1-2D20-2F9B-B3C91E8C9C8B}"/>
              </a:ext>
            </a:extLst>
          </p:cNvPr>
          <p:cNvSpPr>
            <a:spLocks noGrp="1"/>
          </p:cNvSpPr>
          <p:nvPr>
            <p:ph type="dt" sz="half" idx="10"/>
          </p:nvPr>
        </p:nvSpPr>
        <p:spPr/>
        <p:txBody>
          <a:bodyPr/>
          <a:lstStyle/>
          <a:p>
            <a:fld id="{6BCB09D1-5F94-4513-BE45-3C21358948F8}" type="datetimeFigureOut">
              <a:rPr lang="en-IN" smtClean="0"/>
              <a:t>02-02-2025</a:t>
            </a:fld>
            <a:endParaRPr lang="en-IN"/>
          </a:p>
        </p:txBody>
      </p:sp>
      <p:sp>
        <p:nvSpPr>
          <p:cNvPr id="5" name="Footer Placeholder 4">
            <a:extLst>
              <a:ext uri="{FF2B5EF4-FFF2-40B4-BE49-F238E27FC236}">
                <a16:creationId xmlns:a16="http://schemas.microsoft.com/office/drawing/2014/main" id="{9594AC23-8FBB-8BC2-45D5-F788B848AA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86D8A7-A0AF-2A27-88C0-9B1BCC6C312D}"/>
              </a:ext>
            </a:extLst>
          </p:cNvPr>
          <p:cNvSpPr>
            <a:spLocks noGrp="1"/>
          </p:cNvSpPr>
          <p:nvPr>
            <p:ph type="sldNum" sz="quarter" idx="12"/>
          </p:nvPr>
        </p:nvSpPr>
        <p:spPr/>
        <p:txBody>
          <a:bodyPr/>
          <a:lstStyle/>
          <a:p>
            <a:fld id="{3626AED3-D0BC-4928-BBCC-480D302F2E60}" type="slidenum">
              <a:rPr lang="en-IN" smtClean="0"/>
              <a:t>‹#›</a:t>
            </a:fld>
            <a:endParaRPr lang="en-IN"/>
          </a:p>
        </p:txBody>
      </p:sp>
    </p:spTree>
    <p:extLst>
      <p:ext uri="{BB962C8B-B14F-4D97-AF65-F5344CB8AC3E}">
        <p14:creationId xmlns:p14="http://schemas.microsoft.com/office/powerpoint/2010/main" val="3284237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704C06-EEE6-A9A5-D467-783DB0D65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1DC27F-5CE3-0F35-2AD6-F7CFBB7F86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33697B-2D5D-03D3-B111-BFFEC2CDAAFE}"/>
              </a:ext>
            </a:extLst>
          </p:cNvPr>
          <p:cNvSpPr>
            <a:spLocks noGrp="1"/>
          </p:cNvSpPr>
          <p:nvPr>
            <p:ph type="dt" sz="half" idx="10"/>
          </p:nvPr>
        </p:nvSpPr>
        <p:spPr/>
        <p:txBody>
          <a:bodyPr/>
          <a:lstStyle/>
          <a:p>
            <a:fld id="{6BCB09D1-5F94-4513-BE45-3C21358948F8}" type="datetimeFigureOut">
              <a:rPr lang="en-IN" smtClean="0"/>
              <a:t>02-02-2025</a:t>
            </a:fld>
            <a:endParaRPr lang="en-IN"/>
          </a:p>
        </p:txBody>
      </p:sp>
      <p:sp>
        <p:nvSpPr>
          <p:cNvPr id="5" name="Footer Placeholder 4">
            <a:extLst>
              <a:ext uri="{FF2B5EF4-FFF2-40B4-BE49-F238E27FC236}">
                <a16:creationId xmlns:a16="http://schemas.microsoft.com/office/drawing/2014/main" id="{1EBA6FC1-20CE-AEDD-EA45-CAADA9F5D4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27A77E-D80C-24C2-E16B-FD0768FCECAA}"/>
              </a:ext>
            </a:extLst>
          </p:cNvPr>
          <p:cNvSpPr>
            <a:spLocks noGrp="1"/>
          </p:cNvSpPr>
          <p:nvPr>
            <p:ph type="sldNum" sz="quarter" idx="12"/>
          </p:nvPr>
        </p:nvSpPr>
        <p:spPr/>
        <p:txBody>
          <a:bodyPr/>
          <a:lstStyle/>
          <a:p>
            <a:fld id="{3626AED3-D0BC-4928-BBCC-480D302F2E60}" type="slidenum">
              <a:rPr lang="en-IN" smtClean="0"/>
              <a:t>‹#›</a:t>
            </a:fld>
            <a:endParaRPr lang="en-IN"/>
          </a:p>
        </p:txBody>
      </p:sp>
    </p:spTree>
    <p:extLst>
      <p:ext uri="{BB962C8B-B14F-4D97-AF65-F5344CB8AC3E}">
        <p14:creationId xmlns:p14="http://schemas.microsoft.com/office/powerpoint/2010/main" val="3595908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19B1BB-9EBC-2C01-D04E-EFA11B74D9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34038D2-F9EB-6E6C-1021-1180306BE7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EA2DFA-7A2B-4AE5-06D9-3E040A124D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CB09D1-5F94-4513-BE45-3C21358948F8}" type="datetimeFigureOut">
              <a:rPr lang="en-IN" smtClean="0"/>
              <a:t>02-02-2025</a:t>
            </a:fld>
            <a:endParaRPr lang="en-IN"/>
          </a:p>
        </p:txBody>
      </p:sp>
      <p:sp>
        <p:nvSpPr>
          <p:cNvPr id="5" name="Footer Placeholder 4">
            <a:extLst>
              <a:ext uri="{FF2B5EF4-FFF2-40B4-BE49-F238E27FC236}">
                <a16:creationId xmlns:a16="http://schemas.microsoft.com/office/drawing/2014/main" id="{F7940C95-D176-A0B0-6315-67EC287EEC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B7C5C75-3619-D3CC-6E04-73B4D2F18D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26AED3-D0BC-4928-BBCC-480D302F2E60}" type="slidenum">
              <a:rPr lang="en-IN" smtClean="0"/>
              <a:t>‹#›</a:t>
            </a:fld>
            <a:endParaRPr lang="en-IN"/>
          </a:p>
        </p:txBody>
      </p:sp>
    </p:spTree>
    <p:extLst>
      <p:ext uri="{BB962C8B-B14F-4D97-AF65-F5344CB8AC3E}">
        <p14:creationId xmlns:p14="http://schemas.microsoft.com/office/powerpoint/2010/main" val="1149035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23B14C12-32A9-F237-7D57-539BAC6BC797}"/>
              </a:ext>
            </a:extLst>
          </p:cNvPr>
          <p:cNvSpPr>
            <a:spLocks noGrp="1"/>
          </p:cNvSpPr>
          <p:nvPr>
            <p:ph type="title"/>
          </p:nvPr>
        </p:nvSpPr>
        <p:spPr>
          <a:xfrm>
            <a:off x="960120" y="1264443"/>
            <a:ext cx="10515600" cy="493237"/>
          </a:xfrm>
        </p:spPr>
        <p:txBody>
          <a:bodyPr>
            <a:normAutofit fontScale="90000"/>
          </a:bodyPr>
          <a:lstStyle/>
          <a:p>
            <a:pPr algn="ctr"/>
            <a:r>
              <a:rPr lang="en-IN" sz="3200" b="1" dirty="0">
                <a:solidFill>
                  <a:srgbClr val="FF0000"/>
                </a:solidFill>
                <a:latin typeface="Bookman Old Style" panose="02050604050505020204" pitchFamily="18" charset="0"/>
              </a:rPr>
              <a:t>Internship Project Presentation - I</a:t>
            </a:r>
          </a:p>
        </p:txBody>
      </p:sp>
      <p:graphicFrame>
        <p:nvGraphicFramePr>
          <p:cNvPr id="9" name="Content Placeholder 8">
            <a:extLst>
              <a:ext uri="{FF2B5EF4-FFF2-40B4-BE49-F238E27FC236}">
                <a16:creationId xmlns:a16="http://schemas.microsoft.com/office/drawing/2014/main" id="{36806186-4F7B-B0E3-C5D1-A7298E3F22FD}"/>
              </a:ext>
            </a:extLst>
          </p:cNvPr>
          <p:cNvGraphicFramePr>
            <a:graphicFrameLocks noGrp="1"/>
          </p:cNvGraphicFramePr>
          <p:nvPr>
            <p:ph idx="1"/>
            <p:extLst>
              <p:ext uri="{D42A27DB-BD31-4B8C-83A1-F6EECF244321}">
                <p14:modId xmlns:p14="http://schemas.microsoft.com/office/powerpoint/2010/main" val="3040474675"/>
              </p:ext>
            </p:extLst>
          </p:nvPr>
        </p:nvGraphicFramePr>
        <p:xfrm>
          <a:off x="0" y="-28576"/>
          <a:ext cx="12192000" cy="1056639"/>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67487573"/>
                    </a:ext>
                  </a:extLst>
                </a:gridCol>
              </a:tblGrid>
              <a:tr h="1056639">
                <a:tc>
                  <a:txBody>
                    <a:bodyPr/>
                    <a:lstStyle/>
                    <a:p>
                      <a:pPr algn="ctr">
                        <a:lnSpc>
                          <a:spcPct val="100000"/>
                        </a:lnSpc>
                        <a:spcAft>
                          <a:spcPts val="0"/>
                        </a:spcAft>
                      </a:pPr>
                      <a:r>
                        <a:rPr lang="en-IN" sz="24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School of Technology</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Department of Computer Science and Engineering</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Academic Year (2024 – 25)</a:t>
                      </a:r>
                      <a:endParaRPr lang="en-IN" dirty="0"/>
                    </a:p>
                  </a:txBody>
                  <a:tcPr>
                    <a:solidFill>
                      <a:schemeClr val="accent4">
                        <a:lumMod val="60000"/>
                        <a:lumOff val="40000"/>
                      </a:schemeClr>
                    </a:solidFill>
                  </a:tcPr>
                </a:tc>
                <a:extLst>
                  <a:ext uri="{0D108BD9-81ED-4DB2-BD59-A6C34878D82A}">
                    <a16:rowId xmlns:a16="http://schemas.microsoft.com/office/drawing/2014/main" val="3977786082"/>
                  </a:ext>
                </a:extLst>
              </a:tr>
            </a:tbl>
          </a:graphicData>
        </a:graphic>
      </p:graphicFrame>
      <p:pic>
        <p:nvPicPr>
          <p:cNvPr id="12" name="Picture 11">
            <a:extLst>
              <a:ext uri="{FF2B5EF4-FFF2-40B4-BE49-F238E27FC236}">
                <a16:creationId xmlns:a16="http://schemas.microsoft.com/office/drawing/2014/main" id="{1A3CFC8D-DA47-A3AC-1E00-1A6E07F6758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 y="-5080"/>
            <a:ext cx="2956560" cy="1056639"/>
          </a:xfrm>
          <a:prstGeom prst="rect">
            <a:avLst/>
          </a:prstGeom>
          <a:noFill/>
          <a:ln>
            <a:noFill/>
          </a:ln>
        </p:spPr>
      </p:pic>
      <p:sp>
        <p:nvSpPr>
          <p:cNvPr id="14" name="Title 12">
            <a:extLst>
              <a:ext uri="{FF2B5EF4-FFF2-40B4-BE49-F238E27FC236}">
                <a16:creationId xmlns:a16="http://schemas.microsoft.com/office/drawing/2014/main" id="{F6DB29AE-E487-2070-A6C4-EE2EB0DC2B5B}"/>
              </a:ext>
            </a:extLst>
          </p:cNvPr>
          <p:cNvSpPr txBox="1">
            <a:spLocks/>
          </p:cNvSpPr>
          <p:nvPr/>
        </p:nvSpPr>
        <p:spPr>
          <a:xfrm>
            <a:off x="2368296" y="1800482"/>
            <a:ext cx="8963740" cy="8753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80975" marR="323850" algn="ctr">
              <a:lnSpc>
                <a:spcPct val="115000"/>
              </a:lnSpc>
              <a:spcBef>
                <a:spcPts val="560"/>
              </a:spcBef>
              <a:spcAft>
                <a:spcPts val="1000"/>
              </a:spcAft>
            </a:pPr>
            <a:r>
              <a:rPr lang="en-US" sz="1800" b="1" dirty="0">
                <a:solidFill>
                  <a:schemeClr val="accent5"/>
                </a:solidFill>
                <a:effectLst/>
                <a:latin typeface="Times New Roman" panose="02020603050405020304" pitchFamily="18" charset="0"/>
                <a:ea typeface="Times New Roman" panose="02020603050405020304" pitchFamily="18" charset="0"/>
              </a:rPr>
              <a:t>Gene Polymorphisms</a:t>
            </a:r>
            <a:r>
              <a:rPr lang="en-US" sz="1800" b="1" spc="-30" dirty="0">
                <a:solidFill>
                  <a:schemeClr val="accent5"/>
                </a:solidFill>
                <a:effectLst/>
                <a:latin typeface="Times New Roman" panose="02020603050405020304" pitchFamily="18" charset="0"/>
                <a:ea typeface="Times New Roman" panose="02020603050405020304" pitchFamily="18" charset="0"/>
              </a:rPr>
              <a:t> </a:t>
            </a:r>
            <a:r>
              <a:rPr lang="en-US" sz="1800" b="1" dirty="0">
                <a:solidFill>
                  <a:schemeClr val="accent5"/>
                </a:solidFill>
                <a:effectLst/>
                <a:latin typeface="Times New Roman" panose="02020603050405020304" pitchFamily="18" charset="0"/>
                <a:ea typeface="Times New Roman" panose="02020603050405020304" pitchFamily="18" charset="0"/>
              </a:rPr>
              <a:t>and</a:t>
            </a:r>
            <a:r>
              <a:rPr lang="en-US" sz="1800" b="1" spc="-20" dirty="0">
                <a:solidFill>
                  <a:schemeClr val="accent5"/>
                </a:solidFill>
                <a:effectLst/>
                <a:latin typeface="Times New Roman" panose="02020603050405020304" pitchFamily="18" charset="0"/>
                <a:ea typeface="Times New Roman" panose="02020603050405020304" pitchFamily="18" charset="0"/>
              </a:rPr>
              <a:t> </a:t>
            </a:r>
            <a:r>
              <a:rPr lang="en-US" sz="1800" b="1" dirty="0">
                <a:solidFill>
                  <a:schemeClr val="accent5"/>
                </a:solidFill>
                <a:effectLst/>
                <a:latin typeface="Times New Roman" panose="02020603050405020304" pitchFamily="18" charset="0"/>
                <a:ea typeface="Times New Roman" panose="02020603050405020304" pitchFamily="18" charset="0"/>
              </a:rPr>
              <a:t>Serum Markers</a:t>
            </a:r>
            <a:r>
              <a:rPr lang="en-US" sz="1800" b="1" spc="-35" dirty="0">
                <a:solidFill>
                  <a:schemeClr val="accent5"/>
                </a:solidFill>
                <a:effectLst/>
                <a:latin typeface="Times New Roman" panose="02020603050405020304" pitchFamily="18" charset="0"/>
                <a:ea typeface="Times New Roman" panose="02020603050405020304" pitchFamily="18" charset="0"/>
              </a:rPr>
              <a:t> </a:t>
            </a:r>
            <a:r>
              <a:rPr lang="en-US" sz="1800" b="1" dirty="0">
                <a:solidFill>
                  <a:schemeClr val="accent5"/>
                </a:solidFill>
                <a:effectLst/>
                <a:latin typeface="Times New Roman" panose="02020603050405020304" pitchFamily="18" charset="0"/>
                <a:ea typeface="Times New Roman" panose="02020603050405020304" pitchFamily="18" charset="0"/>
              </a:rPr>
              <a:t>in</a:t>
            </a:r>
            <a:r>
              <a:rPr lang="en-US" sz="1800" b="1" spc="-5" dirty="0">
                <a:solidFill>
                  <a:schemeClr val="accent5"/>
                </a:solidFill>
                <a:effectLst/>
                <a:latin typeface="Times New Roman" panose="02020603050405020304" pitchFamily="18" charset="0"/>
                <a:ea typeface="Times New Roman" panose="02020603050405020304" pitchFamily="18" charset="0"/>
              </a:rPr>
              <a:t> </a:t>
            </a:r>
            <a:r>
              <a:rPr lang="en-US" sz="1800" b="1" dirty="0">
                <a:solidFill>
                  <a:schemeClr val="accent5"/>
                </a:solidFill>
                <a:effectLst/>
                <a:latin typeface="Times New Roman" panose="02020603050405020304" pitchFamily="18" charset="0"/>
                <a:ea typeface="Times New Roman" panose="02020603050405020304" pitchFamily="18" charset="0"/>
              </a:rPr>
              <a:t>Kidney</a:t>
            </a:r>
            <a:r>
              <a:rPr lang="en-US" sz="1800" b="1" spc="-20" dirty="0">
                <a:solidFill>
                  <a:schemeClr val="accent5"/>
                </a:solidFill>
                <a:effectLst/>
                <a:latin typeface="Times New Roman" panose="02020603050405020304" pitchFamily="18" charset="0"/>
                <a:ea typeface="Times New Roman" panose="02020603050405020304" pitchFamily="18" charset="0"/>
              </a:rPr>
              <a:t> </a:t>
            </a:r>
            <a:r>
              <a:rPr lang="en-US" sz="1800" b="1" dirty="0">
                <a:solidFill>
                  <a:schemeClr val="accent5"/>
                </a:solidFill>
                <a:effectLst/>
                <a:latin typeface="Times New Roman" panose="02020603050405020304" pitchFamily="18" charset="0"/>
                <a:ea typeface="Times New Roman" panose="02020603050405020304" pitchFamily="18" charset="0"/>
              </a:rPr>
              <a:t>Stone</a:t>
            </a:r>
            <a:r>
              <a:rPr lang="en-US" sz="1800" b="1" spc="-25" dirty="0">
                <a:solidFill>
                  <a:schemeClr val="accent5"/>
                </a:solidFill>
                <a:effectLst/>
                <a:latin typeface="Times New Roman" panose="02020603050405020304" pitchFamily="18" charset="0"/>
                <a:ea typeface="Times New Roman" panose="02020603050405020304" pitchFamily="18" charset="0"/>
              </a:rPr>
              <a:t> </a:t>
            </a:r>
            <a:r>
              <a:rPr lang="en-US" sz="1800" b="1" dirty="0">
                <a:solidFill>
                  <a:schemeClr val="accent5"/>
                </a:solidFill>
                <a:effectLst/>
                <a:latin typeface="Times New Roman" panose="02020603050405020304" pitchFamily="18" charset="0"/>
                <a:ea typeface="Times New Roman" panose="02020603050405020304" pitchFamily="18" charset="0"/>
              </a:rPr>
              <a:t>Disease</a:t>
            </a:r>
            <a:r>
              <a:rPr lang="en-US" sz="1800" b="1" spc="-20" dirty="0">
                <a:solidFill>
                  <a:schemeClr val="accent5"/>
                </a:solidFill>
                <a:effectLst/>
                <a:latin typeface="Times New Roman" panose="02020603050405020304" pitchFamily="18" charset="0"/>
                <a:ea typeface="Times New Roman" panose="02020603050405020304" pitchFamily="18" charset="0"/>
              </a:rPr>
              <a:t> </a:t>
            </a:r>
            <a:r>
              <a:rPr lang="en-US" sz="1800" b="1" dirty="0">
                <a:solidFill>
                  <a:schemeClr val="accent5"/>
                </a:solidFill>
                <a:effectLst/>
                <a:latin typeface="Times New Roman" panose="02020603050405020304" pitchFamily="18" charset="0"/>
                <a:ea typeface="Times New Roman" panose="02020603050405020304" pitchFamily="18" charset="0"/>
              </a:rPr>
              <a:t>to Predict the Disease and Its Severity</a:t>
            </a:r>
            <a:endParaRPr lang="en-US" sz="1800" dirty="0">
              <a:solidFill>
                <a:schemeClr val="accent5"/>
              </a:solidFill>
              <a:effectLst/>
              <a:latin typeface="Times New Roman" panose="02020603050405020304" pitchFamily="18" charset="0"/>
              <a:ea typeface="Times New Roman" panose="02020603050405020304" pitchFamily="18" charset="0"/>
            </a:endParaRPr>
          </a:p>
        </p:txBody>
      </p:sp>
      <p:sp>
        <p:nvSpPr>
          <p:cNvPr id="15" name="TextBox 14">
            <a:extLst>
              <a:ext uri="{FF2B5EF4-FFF2-40B4-BE49-F238E27FC236}">
                <a16:creationId xmlns:a16="http://schemas.microsoft.com/office/drawing/2014/main" id="{9E4B1B49-D7CD-57CD-DFEE-82AD6045DCAF}"/>
              </a:ext>
            </a:extLst>
          </p:cNvPr>
          <p:cNvSpPr txBox="1"/>
          <p:nvPr/>
        </p:nvSpPr>
        <p:spPr>
          <a:xfrm>
            <a:off x="346456" y="5100321"/>
            <a:ext cx="4398264" cy="1354217"/>
          </a:xfrm>
          <a:prstGeom prst="rect">
            <a:avLst/>
          </a:prstGeom>
          <a:noFill/>
        </p:spPr>
        <p:txBody>
          <a:bodyPr wrap="square" rtlCol="0">
            <a:spAutoFit/>
          </a:bodyPr>
          <a:lstStyle/>
          <a:p>
            <a:r>
              <a:rPr lang="en-IN" b="1" dirty="0">
                <a:solidFill>
                  <a:srgbClr val="00B050"/>
                </a:solidFill>
                <a:latin typeface="Bookman Old Style" panose="02050604050505020204" pitchFamily="18" charset="0"/>
              </a:rPr>
              <a:t>Team Members</a:t>
            </a:r>
          </a:p>
          <a:p>
            <a:pPr marL="228600" indent="-228600">
              <a:buFont typeface="+mj-lt"/>
              <a:buAutoNum type="arabicPeriod"/>
            </a:pPr>
            <a:r>
              <a:rPr lang="en-US" sz="1600" dirty="0">
                <a:effectLst/>
                <a:latin typeface="Times New Roman" panose="02020603050405020304" pitchFamily="18" charset="0"/>
                <a:ea typeface="Times New Roman" panose="02020603050405020304" pitchFamily="18" charset="0"/>
              </a:rPr>
              <a:t>H</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DURGA</a:t>
            </a:r>
            <a:r>
              <a:rPr lang="en-US" sz="1600" spc="-10" dirty="0">
                <a:effectLst/>
                <a:latin typeface="Times New Roman" panose="02020603050405020304" pitchFamily="18" charset="0"/>
                <a:ea typeface="Times New Roman" panose="02020603050405020304" pitchFamily="18" charset="0"/>
              </a:rPr>
              <a:t> PRASAD</a:t>
            </a:r>
            <a:r>
              <a:rPr lang="en-US" sz="1600" spc="-10" dirty="0">
                <a:latin typeface="Times New Roman" panose="02020603050405020304" pitchFamily="18" charset="0"/>
                <a:ea typeface="Times New Roman" panose="02020603050405020304" pitchFamily="18" charset="0"/>
              </a:rPr>
              <a:t> – </a:t>
            </a:r>
            <a:r>
              <a:rPr lang="en-US" sz="1600" spc="-10" dirty="0">
                <a:effectLst/>
                <a:latin typeface="Times New Roman" panose="02020603050405020304" pitchFamily="18" charset="0"/>
                <a:ea typeface="Times New Roman" panose="02020603050405020304" pitchFamily="18" charset="0"/>
              </a:rPr>
              <a:t>122210701116</a:t>
            </a:r>
          </a:p>
          <a:p>
            <a:pPr marL="228600" indent="-228600">
              <a:buFont typeface="+mj-lt"/>
              <a:buAutoNum type="arabicPeriod"/>
            </a:pPr>
            <a:r>
              <a:rPr lang="en-US" sz="1600" dirty="0">
                <a:effectLst/>
                <a:latin typeface="Times New Roman" panose="02020603050405020304" pitchFamily="18" charset="0"/>
                <a:ea typeface="Times New Roman" panose="02020603050405020304" pitchFamily="18" charset="0"/>
              </a:rPr>
              <a:t>K</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a:t>
            </a:r>
            <a:r>
              <a:rPr lang="en-US" sz="1600" spc="25" dirty="0">
                <a:effectLst/>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CHARAN           </a:t>
            </a:r>
            <a:r>
              <a:rPr lang="en-US" sz="1600" spc="-10" dirty="0">
                <a:latin typeface="Times New Roman" panose="02020603050405020304" pitchFamily="18" charset="0"/>
                <a:ea typeface="Times New Roman" panose="02020603050405020304" pitchFamily="18" charset="0"/>
              </a:rPr>
              <a:t> – </a:t>
            </a:r>
            <a:r>
              <a:rPr lang="en-US" sz="1600" spc="-10" dirty="0">
                <a:effectLst/>
                <a:latin typeface="Times New Roman" panose="02020603050405020304" pitchFamily="18" charset="0"/>
                <a:ea typeface="Times New Roman" panose="02020603050405020304" pitchFamily="18" charset="0"/>
              </a:rPr>
              <a:t>122210701120</a:t>
            </a:r>
            <a:endParaRPr lang="en-US" sz="1600" spc="-10" dirty="0">
              <a:latin typeface="Times New Roman" panose="02020603050405020304" pitchFamily="18" charset="0"/>
              <a:ea typeface="Times New Roman" panose="02020603050405020304" pitchFamily="18" charset="0"/>
            </a:endParaRPr>
          </a:p>
          <a:p>
            <a:pPr marL="228600" indent="-228600">
              <a:buFont typeface="+mj-lt"/>
              <a:buAutoNum type="arabicPeriod"/>
            </a:pPr>
            <a:r>
              <a:rPr lang="en-US" sz="1600" dirty="0">
                <a:effectLst/>
                <a:latin typeface="Times New Roman" panose="02020603050405020304" pitchFamily="18" charset="0"/>
                <a:ea typeface="Times New Roman" panose="02020603050405020304" pitchFamily="18" charset="0"/>
              </a:rPr>
              <a:t>M</a:t>
            </a:r>
            <a:r>
              <a:rPr lang="en-US" sz="1600" spc="20" dirty="0">
                <a:effectLst/>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CHAITANYA         </a:t>
            </a:r>
            <a:r>
              <a:rPr lang="en-US" sz="1600" spc="-10" dirty="0">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122210701128</a:t>
            </a:r>
            <a:endParaRPr lang="en-US" sz="1600" spc="-10" dirty="0">
              <a:latin typeface="Times New Roman" panose="02020603050405020304" pitchFamily="18" charset="0"/>
              <a:ea typeface="Times New Roman" panose="02020603050405020304" pitchFamily="18" charset="0"/>
            </a:endParaRPr>
          </a:p>
          <a:p>
            <a:pPr marL="228600" indent="-228600">
              <a:buFont typeface="+mj-lt"/>
              <a:buAutoNum type="arabicPeriod"/>
            </a:pPr>
            <a:r>
              <a:rPr lang="en-US" sz="1600" dirty="0">
                <a:effectLst/>
                <a:latin typeface="Times New Roman" panose="02020603050405020304" pitchFamily="18" charset="0"/>
                <a:ea typeface="Times New Roman" panose="02020603050405020304" pitchFamily="18" charset="0"/>
              </a:rPr>
              <a:t>ADABALA</a:t>
            </a:r>
            <a:r>
              <a:rPr lang="en-US" sz="1600" spc="55" dirty="0">
                <a:effectLst/>
                <a:latin typeface="Times New Roman" panose="02020603050405020304" pitchFamily="18" charset="0"/>
                <a:ea typeface="Times New Roman" panose="02020603050405020304" pitchFamily="18" charset="0"/>
              </a:rPr>
              <a:t> </a:t>
            </a:r>
            <a:r>
              <a:rPr lang="en-US" sz="1600" spc="-20" dirty="0">
                <a:effectLst/>
                <a:latin typeface="Times New Roman" panose="02020603050405020304" pitchFamily="18" charset="0"/>
                <a:ea typeface="Times New Roman" panose="02020603050405020304" pitchFamily="18" charset="0"/>
              </a:rPr>
              <a:t>PAVAN    </a:t>
            </a:r>
            <a:r>
              <a:rPr lang="en-US" sz="1600" spc="-20" dirty="0">
                <a:latin typeface="Times New Roman" panose="02020603050405020304" pitchFamily="18" charset="0"/>
                <a:ea typeface="Times New Roman" panose="02020603050405020304" pitchFamily="18" charset="0"/>
              </a:rPr>
              <a:t>- </a:t>
            </a:r>
            <a:r>
              <a:rPr lang="en-US" sz="1600" spc="-10" dirty="0">
                <a:effectLst/>
                <a:latin typeface="Times New Roman" panose="02020603050405020304" pitchFamily="18" charset="0"/>
                <a:ea typeface="Times New Roman" panose="02020603050405020304" pitchFamily="18" charset="0"/>
              </a:rPr>
              <a:t>122210701103</a:t>
            </a:r>
            <a:endParaRPr lang="en-IN" sz="1600" dirty="0">
              <a:latin typeface="Bookman Old Style" panose="02050604050505020204" pitchFamily="18" charset="0"/>
            </a:endParaRPr>
          </a:p>
        </p:txBody>
      </p:sp>
      <p:sp>
        <p:nvSpPr>
          <p:cNvPr id="16" name="TextBox 15">
            <a:extLst>
              <a:ext uri="{FF2B5EF4-FFF2-40B4-BE49-F238E27FC236}">
                <a16:creationId xmlns:a16="http://schemas.microsoft.com/office/drawing/2014/main" id="{AF5C081A-0A61-2FD4-9DE8-1BB9484EB79F}"/>
              </a:ext>
            </a:extLst>
          </p:cNvPr>
          <p:cNvSpPr txBox="1"/>
          <p:nvPr/>
        </p:nvSpPr>
        <p:spPr>
          <a:xfrm>
            <a:off x="9202928" y="5162670"/>
            <a:ext cx="2700100" cy="1077218"/>
          </a:xfrm>
          <a:prstGeom prst="rect">
            <a:avLst/>
          </a:prstGeom>
          <a:noFill/>
        </p:spPr>
        <p:txBody>
          <a:bodyPr wrap="square" rtlCol="0">
            <a:spAutoFit/>
          </a:bodyPr>
          <a:lstStyle/>
          <a:p>
            <a:r>
              <a:rPr lang="en-IN" b="1" dirty="0">
                <a:solidFill>
                  <a:srgbClr val="00B050"/>
                </a:solidFill>
                <a:latin typeface="Bookman Old Style" panose="02050604050505020204" pitchFamily="18" charset="0"/>
              </a:rPr>
              <a:t>Supervised by</a:t>
            </a:r>
            <a:endParaRPr lang="en-IN" sz="1400" b="1" dirty="0">
              <a:solidFill>
                <a:srgbClr val="00B050"/>
              </a:solidFill>
              <a:latin typeface="Bookman Old Style" panose="02050604050505020204" pitchFamily="18" charset="0"/>
            </a:endParaRPr>
          </a:p>
          <a:p>
            <a:r>
              <a:rPr lang="en-US" sz="1400" dirty="0">
                <a:effectLst/>
                <a:latin typeface="Times New Roman" panose="02020603050405020304" pitchFamily="18" charset="0"/>
                <a:ea typeface="Times New Roman" panose="02020603050405020304" pitchFamily="18" charset="0"/>
              </a:rPr>
              <a:t>Dr.</a:t>
            </a:r>
            <a:r>
              <a:rPr lang="en-US" sz="1400" spc="5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VIVEKANANDAN</a:t>
            </a:r>
            <a:r>
              <a:rPr lang="en-US" sz="1400" spc="65" dirty="0">
                <a:effectLst/>
                <a:latin typeface="Times New Roman" panose="02020603050405020304" pitchFamily="18" charset="0"/>
                <a:ea typeface="Times New Roman" panose="02020603050405020304" pitchFamily="18" charset="0"/>
              </a:rPr>
              <a:t> </a:t>
            </a:r>
            <a:r>
              <a:rPr lang="en-US" sz="1400" spc="-50" dirty="0">
                <a:effectLst/>
                <a:latin typeface="Times New Roman" panose="02020603050405020304" pitchFamily="18" charset="0"/>
                <a:ea typeface="Times New Roman" panose="02020603050405020304" pitchFamily="18" charset="0"/>
              </a:rPr>
              <a:t>T</a:t>
            </a:r>
          </a:p>
          <a:p>
            <a:r>
              <a:rPr lang="en-IN" sz="1400" dirty="0">
                <a:latin typeface="Bookman Old Style" panose="02050604050505020204" pitchFamily="18" charset="0"/>
              </a:rPr>
              <a:t>Associate Professor</a:t>
            </a:r>
          </a:p>
          <a:p>
            <a:endParaRPr lang="en-IN" dirty="0">
              <a:latin typeface="Bookman Old Style" panose="02050604050505020204" pitchFamily="18" charset="0"/>
            </a:endParaRPr>
          </a:p>
        </p:txBody>
      </p:sp>
      <p:sp>
        <p:nvSpPr>
          <p:cNvPr id="17" name="TextBox 16">
            <a:extLst>
              <a:ext uri="{FF2B5EF4-FFF2-40B4-BE49-F238E27FC236}">
                <a16:creationId xmlns:a16="http://schemas.microsoft.com/office/drawing/2014/main" id="{14577ADC-1023-6BF1-350B-7C1E3CB80881}"/>
              </a:ext>
            </a:extLst>
          </p:cNvPr>
          <p:cNvSpPr txBox="1"/>
          <p:nvPr/>
        </p:nvSpPr>
        <p:spPr>
          <a:xfrm>
            <a:off x="3618992" y="2934620"/>
            <a:ext cx="5424424" cy="1477328"/>
          </a:xfrm>
          <a:prstGeom prst="rect">
            <a:avLst/>
          </a:prstGeom>
          <a:noFill/>
        </p:spPr>
        <p:txBody>
          <a:bodyPr wrap="square" rtlCol="0">
            <a:spAutoFit/>
          </a:bodyPr>
          <a:lstStyle/>
          <a:p>
            <a:pPr marL="1507490" marR="1517015" algn="ctr">
              <a:spcBef>
                <a:spcPts val="1175"/>
              </a:spcBef>
              <a:spcAft>
                <a:spcPts val="1000"/>
              </a:spcAft>
            </a:pPr>
            <a:r>
              <a:rPr lang="en-US" b="1" dirty="0">
                <a:solidFill>
                  <a:srgbClr val="00B050"/>
                </a:solidFill>
                <a:latin typeface="Times New Roman" panose="02020603050405020304" pitchFamily="18" charset="0"/>
                <a:ea typeface="Times New Roman" panose="02020603050405020304" pitchFamily="18" charset="0"/>
              </a:rPr>
              <a:t>The Apollo University School Of Technology </a:t>
            </a:r>
            <a:r>
              <a:rPr lang="en-US" sz="1800" b="1" dirty="0" err="1">
                <a:solidFill>
                  <a:srgbClr val="00B050"/>
                </a:solidFill>
                <a:effectLst/>
                <a:latin typeface="Times New Roman" panose="02020603050405020304" pitchFamily="18" charset="0"/>
                <a:ea typeface="Times New Roman" panose="02020603050405020304" pitchFamily="18" charset="0"/>
              </a:rPr>
              <a:t>Murukambattu</a:t>
            </a:r>
            <a:r>
              <a:rPr lang="en-US" sz="1800" b="1" dirty="0">
                <a:solidFill>
                  <a:srgbClr val="00B050"/>
                </a:solidFill>
                <a:effectLst/>
                <a:latin typeface="Times New Roman" panose="02020603050405020304" pitchFamily="18" charset="0"/>
                <a:ea typeface="Times New Roman" panose="02020603050405020304" pitchFamily="18" charset="0"/>
              </a:rPr>
              <a:t>, Chittoor – 517127, Andhra Pradesh </a:t>
            </a:r>
            <a:r>
              <a:rPr lang="en-US" sz="1800" b="1" spc="-20" dirty="0">
                <a:solidFill>
                  <a:srgbClr val="00B050"/>
                </a:solidFill>
                <a:effectLst/>
                <a:latin typeface="Times New Roman" panose="02020603050405020304" pitchFamily="18" charset="0"/>
                <a:ea typeface="Times New Roman" panose="02020603050405020304" pitchFamily="18" charset="0"/>
              </a:rPr>
              <a:t>2024</a:t>
            </a:r>
            <a:endParaRPr lang="en-US" sz="1800" dirty="0">
              <a:solidFill>
                <a:srgbClr val="00B050"/>
              </a:solidFill>
              <a:effectLst/>
              <a:latin typeface="Times New Roman" panose="02020603050405020304" pitchFamily="18" charset="0"/>
              <a:ea typeface="Times New Roman" panose="02020603050405020304" pitchFamily="18" charset="0"/>
            </a:endParaRPr>
          </a:p>
        </p:txBody>
      </p:sp>
      <p:sp>
        <p:nvSpPr>
          <p:cNvPr id="18" name="TextBox 17">
            <a:extLst>
              <a:ext uri="{FF2B5EF4-FFF2-40B4-BE49-F238E27FC236}">
                <a16:creationId xmlns:a16="http://schemas.microsoft.com/office/drawing/2014/main" id="{67E03381-34DC-BCC7-DAB8-8DF13EE828AC}"/>
              </a:ext>
            </a:extLst>
          </p:cNvPr>
          <p:cNvSpPr txBox="1"/>
          <p:nvPr/>
        </p:nvSpPr>
        <p:spPr>
          <a:xfrm>
            <a:off x="4744720" y="4640818"/>
            <a:ext cx="3139440" cy="307777"/>
          </a:xfrm>
          <a:prstGeom prst="rect">
            <a:avLst/>
          </a:prstGeom>
          <a:noFill/>
        </p:spPr>
        <p:txBody>
          <a:bodyPr wrap="square" rtlCol="0">
            <a:spAutoFit/>
          </a:bodyPr>
          <a:lstStyle/>
          <a:p>
            <a:pPr algn="ctr"/>
            <a:r>
              <a:rPr lang="en-IN" sz="1400" b="1" dirty="0">
                <a:solidFill>
                  <a:srgbClr val="0070C0"/>
                </a:solidFill>
                <a:latin typeface="Bookman Old Style" panose="02050604050505020204" pitchFamily="18" charset="0"/>
              </a:rPr>
              <a:t>03th February - 2025</a:t>
            </a:r>
            <a:endParaRPr lang="en-IN" sz="1400" dirty="0">
              <a:solidFill>
                <a:srgbClr val="0070C0"/>
              </a:solidFill>
              <a:latin typeface="Bookman Old Style" panose="02050604050505020204" pitchFamily="18" charset="0"/>
            </a:endParaRPr>
          </a:p>
        </p:txBody>
      </p:sp>
    </p:spTree>
    <p:extLst>
      <p:ext uri="{BB962C8B-B14F-4D97-AF65-F5344CB8AC3E}">
        <p14:creationId xmlns:p14="http://schemas.microsoft.com/office/powerpoint/2010/main" val="4098786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23B14C12-32A9-F237-7D57-539BAC6BC797}"/>
              </a:ext>
            </a:extLst>
          </p:cNvPr>
          <p:cNvSpPr>
            <a:spLocks noGrp="1"/>
          </p:cNvSpPr>
          <p:nvPr>
            <p:ph type="title"/>
          </p:nvPr>
        </p:nvSpPr>
        <p:spPr>
          <a:xfrm>
            <a:off x="950976" y="1085215"/>
            <a:ext cx="10515600" cy="493237"/>
          </a:xfrm>
        </p:spPr>
        <p:txBody>
          <a:bodyPr>
            <a:normAutofit fontScale="90000"/>
          </a:bodyPr>
          <a:lstStyle/>
          <a:p>
            <a:pPr algn="ctr"/>
            <a:r>
              <a:rPr lang="en-IN" sz="3200" b="1" dirty="0">
                <a:solidFill>
                  <a:srgbClr val="FF0000"/>
                </a:solidFill>
                <a:latin typeface="Bookman Old Style" panose="02050604050505020204" pitchFamily="18" charset="0"/>
              </a:rPr>
              <a:t>Abstract</a:t>
            </a:r>
          </a:p>
        </p:txBody>
      </p:sp>
      <p:graphicFrame>
        <p:nvGraphicFramePr>
          <p:cNvPr id="9" name="Content Placeholder 8">
            <a:extLst>
              <a:ext uri="{FF2B5EF4-FFF2-40B4-BE49-F238E27FC236}">
                <a16:creationId xmlns:a16="http://schemas.microsoft.com/office/drawing/2014/main" id="{36806186-4F7B-B0E3-C5D1-A7298E3F22FD}"/>
              </a:ext>
            </a:extLst>
          </p:cNvPr>
          <p:cNvGraphicFramePr>
            <a:graphicFrameLocks noGrp="1"/>
          </p:cNvGraphicFramePr>
          <p:nvPr>
            <p:ph idx="1"/>
            <p:extLst>
              <p:ext uri="{D42A27DB-BD31-4B8C-83A1-F6EECF244321}">
                <p14:modId xmlns:p14="http://schemas.microsoft.com/office/powerpoint/2010/main" val="2695320088"/>
              </p:ext>
            </p:extLst>
          </p:nvPr>
        </p:nvGraphicFramePr>
        <p:xfrm>
          <a:off x="0" y="-38736"/>
          <a:ext cx="12192000" cy="1056639"/>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67487573"/>
                    </a:ext>
                  </a:extLst>
                </a:gridCol>
              </a:tblGrid>
              <a:tr h="1056639">
                <a:tc>
                  <a:txBody>
                    <a:bodyPr/>
                    <a:lstStyle/>
                    <a:p>
                      <a:pPr algn="ctr">
                        <a:lnSpc>
                          <a:spcPct val="100000"/>
                        </a:lnSpc>
                        <a:spcAft>
                          <a:spcPts val="0"/>
                        </a:spcAft>
                      </a:pPr>
                      <a:r>
                        <a:rPr lang="en-IN" sz="24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School of Technology</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Department of Computer Science and Engineering</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Academic Year (2024 – 25)</a:t>
                      </a:r>
                      <a:endParaRPr lang="en-IN" dirty="0"/>
                    </a:p>
                  </a:txBody>
                  <a:tcPr>
                    <a:solidFill>
                      <a:schemeClr val="accent4">
                        <a:lumMod val="60000"/>
                        <a:lumOff val="40000"/>
                      </a:schemeClr>
                    </a:solidFill>
                  </a:tcPr>
                </a:tc>
                <a:extLst>
                  <a:ext uri="{0D108BD9-81ED-4DB2-BD59-A6C34878D82A}">
                    <a16:rowId xmlns:a16="http://schemas.microsoft.com/office/drawing/2014/main" val="3977786082"/>
                  </a:ext>
                </a:extLst>
              </a:tr>
            </a:tbl>
          </a:graphicData>
        </a:graphic>
      </p:graphicFrame>
      <p:pic>
        <p:nvPicPr>
          <p:cNvPr id="12" name="Picture 11">
            <a:extLst>
              <a:ext uri="{FF2B5EF4-FFF2-40B4-BE49-F238E27FC236}">
                <a16:creationId xmlns:a16="http://schemas.microsoft.com/office/drawing/2014/main" id="{1A3CFC8D-DA47-A3AC-1E00-1A6E07F6758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 y="-5080"/>
            <a:ext cx="2956560" cy="1056639"/>
          </a:xfrm>
          <a:prstGeom prst="rect">
            <a:avLst/>
          </a:prstGeom>
          <a:noFill/>
          <a:ln>
            <a:noFill/>
          </a:ln>
        </p:spPr>
      </p:pic>
      <p:sp>
        <p:nvSpPr>
          <p:cNvPr id="2" name="TextBox 1">
            <a:extLst>
              <a:ext uri="{FF2B5EF4-FFF2-40B4-BE49-F238E27FC236}">
                <a16:creationId xmlns:a16="http://schemas.microsoft.com/office/drawing/2014/main" id="{DC314204-1463-8AD1-7BB2-38A0B711C6DC}"/>
              </a:ext>
            </a:extLst>
          </p:cNvPr>
          <p:cNvSpPr txBox="1"/>
          <p:nvPr/>
        </p:nvSpPr>
        <p:spPr>
          <a:xfrm>
            <a:off x="443484" y="1538416"/>
            <a:ext cx="11530584" cy="5052665"/>
          </a:xfrm>
          <a:prstGeom prst="rect">
            <a:avLst/>
          </a:prstGeom>
          <a:noFill/>
        </p:spPr>
        <p:txBody>
          <a:bodyPr wrap="square" rtlCol="0">
            <a:spAutoFit/>
          </a:bodyPr>
          <a:lstStyle/>
          <a:p>
            <a:pPr marL="0" marR="0">
              <a:lnSpc>
                <a:spcPct val="115000"/>
              </a:lnSpc>
              <a:spcBef>
                <a:spcPts val="1140"/>
              </a:spcBef>
              <a:spcAft>
                <a:spcPts val="1000"/>
              </a:spcAft>
            </a:pPr>
            <a:r>
              <a:rPr lang="en-US" sz="1800" dirty="0">
                <a:effectLst/>
                <a:latin typeface="Times New Roman" panose="02020603050405020304" pitchFamily="18" charset="0"/>
                <a:ea typeface="Times New Roman" panose="02020603050405020304" pitchFamily="18" charset="0"/>
              </a:rPr>
              <a:t>Kidney stone disease, or nephrolithiasis, is a common health issue caused by the formation of hard mineral deposits in the urinary tract. It leads to severe pain, frequent hospital visits, and high healthcare costs. Current diagnostic methods mainly detect stones after they form, offering little insight into their causes.</a:t>
            </a:r>
          </a:p>
          <a:p>
            <a:pPr marL="0" marR="0">
              <a:lnSpc>
                <a:spcPct val="115000"/>
              </a:lnSpc>
              <a:spcBef>
                <a:spcPts val="1140"/>
              </a:spcBef>
              <a:spcAft>
                <a:spcPts val="1000"/>
              </a:spcAft>
            </a:pPr>
            <a:r>
              <a:rPr lang="en-US" sz="1800" dirty="0">
                <a:effectLst/>
                <a:latin typeface="Times New Roman" panose="02020603050405020304" pitchFamily="18" charset="0"/>
                <a:ea typeface="Times New Roman" panose="02020603050405020304" pitchFamily="18" charset="0"/>
              </a:rPr>
              <a:t>This study aims to predict kidney stone formation by analyzing gene polymorphisms and serum biomarkers. It focuses on genetic variations in CASR and CLDN14 genes, which affect calcium metabolism, and biochemical markers such as serum calcium, oxalate, uric acid, and citrate levels. Machine learning techniques, including Random Forest, Support Vector Machines, and </a:t>
            </a:r>
            <a:r>
              <a:rPr lang="en-US" sz="1800" dirty="0" err="1">
                <a:effectLst/>
                <a:latin typeface="Times New Roman" panose="02020603050405020304" pitchFamily="18" charset="0"/>
                <a:ea typeface="Times New Roman" panose="02020603050405020304" pitchFamily="18" charset="0"/>
              </a:rPr>
              <a:t>XGBoost</a:t>
            </a:r>
            <a:r>
              <a:rPr lang="en-US" sz="1800" dirty="0">
                <a:effectLst/>
                <a:latin typeface="Times New Roman" panose="02020603050405020304" pitchFamily="18" charset="0"/>
                <a:ea typeface="Times New Roman" panose="02020603050405020304" pitchFamily="18" charset="0"/>
              </a:rPr>
              <a:t>, were used to develop predictive models.</a:t>
            </a:r>
          </a:p>
          <a:p>
            <a:pPr marL="0" marR="0">
              <a:lnSpc>
                <a:spcPct val="115000"/>
              </a:lnSpc>
              <a:spcBef>
                <a:spcPts val="1140"/>
              </a:spcBef>
              <a:spcAft>
                <a:spcPts val="1000"/>
              </a:spcAft>
            </a:pPr>
            <a:r>
              <a:rPr lang="en-US" sz="1800" dirty="0">
                <a:effectLst/>
                <a:latin typeface="Times New Roman" panose="02020603050405020304" pitchFamily="18" charset="0"/>
                <a:ea typeface="Times New Roman" panose="02020603050405020304" pitchFamily="18" charset="0"/>
              </a:rPr>
              <a:t>The </a:t>
            </a:r>
            <a:r>
              <a:rPr lang="en-US" sz="1800" dirty="0" err="1">
                <a:effectLst/>
                <a:latin typeface="Times New Roman" panose="02020603050405020304" pitchFamily="18" charset="0"/>
                <a:ea typeface="Times New Roman" panose="02020603050405020304" pitchFamily="18" charset="0"/>
              </a:rPr>
              <a:t>XGBoost</a:t>
            </a:r>
            <a:r>
              <a:rPr lang="en-US" sz="1800" dirty="0">
                <a:effectLst/>
                <a:latin typeface="Times New Roman" panose="02020603050405020304" pitchFamily="18" charset="0"/>
                <a:ea typeface="Times New Roman" panose="02020603050405020304" pitchFamily="18" charset="0"/>
              </a:rPr>
              <a:t> model achieved 95% accuracy, outperforming traditional methods. Combining genetic and biochemical data provided a more comprehensive risk assessment, enabling early identification of high-risk individuals. The study found calcium oxalate levels, urinary pH, and genetic factors to be key contributors to stone formation.</a:t>
            </a:r>
          </a:p>
          <a:p>
            <a:r>
              <a:rPr lang="en-US" sz="1800" dirty="0">
                <a:effectLst/>
                <a:latin typeface="Times New Roman" panose="02020603050405020304" pitchFamily="18" charset="0"/>
                <a:ea typeface="Times New Roman" panose="02020603050405020304" pitchFamily="18" charset="0"/>
              </a:rPr>
              <a:t>This research highlights the potential of integrating genetics and biochemistry for early diagnosis and personalized treatment. Future work includes expanding the dataset and using IoT-based hydration monitoring to further improve predictions. The findings could also benefit other complex diseases, demonstrating the value of combining biomedical research with machine learning for better healthcare solutions.</a:t>
            </a:r>
            <a:endParaRPr lang="en-US" dirty="0"/>
          </a:p>
        </p:txBody>
      </p:sp>
    </p:spTree>
    <p:extLst>
      <p:ext uri="{BB962C8B-B14F-4D97-AF65-F5344CB8AC3E}">
        <p14:creationId xmlns:p14="http://schemas.microsoft.com/office/powerpoint/2010/main" val="251198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23B14C12-32A9-F237-7D57-539BAC6BC797}"/>
              </a:ext>
            </a:extLst>
          </p:cNvPr>
          <p:cNvSpPr>
            <a:spLocks noGrp="1"/>
          </p:cNvSpPr>
          <p:nvPr>
            <p:ph type="title"/>
          </p:nvPr>
        </p:nvSpPr>
        <p:spPr>
          <a:xfrm>
            <a:off x="960120" y="1264443"/>
            <a:ext cx="10515600" cy="493237"/>
          </a:xfrm>
        </p:spPr>
        <p:txBody>
          <a:bodyPr>
            <a:normAutofit fontScale="90000"/>
          </a:bodyPr>
          <a:lstStyle/>
          <a:p>
            <a:pPr algn="ctr"/>
            <a:r>
              <a:rPr lang="en-IN" sz="3200" b="1" dirty="0">
                <a:solidFill>
                  <a:srgbClr val="FF0000"/>
                </a:solidFill>
                <a:latin typeface="Bookman Old Style" panose="02050604050505020204" pitchFamily="18" charset="0"/>
              </a:rPr>
              <a:t>Aim and Objectives</a:t>
            </a:r>
          </a:p>
        </p:txBody>
      </p:sp>
      <p:graphicFrame>
        <p:nvGraphicFramePr>
          <p:cNvPr id="9" name="Content Placeholder 8">
            <a:extLst>
              <a:ext uri="{FF2B5EF4-FFF2-40B4-BE49-F238E27FC236}">
                <a16:creationId xmlns:a16="http://schemas.microsoft.com/office/drawing/2014/main" id="{36806186-4F7B-B0E3-C5D1-A7298E3F22FD}"/>
              </a:ext>
            </a:extLst>
          </p:cNvPr>
          <p:cNvGraphicFramePr>
            <a:graphicFrameLocks noGrp="1"/>
          </p:cNvGraphicFramePr>
          <p:nvPr>
            <p:ph idx="1"/>
            <p:extLst>
              <p:ext uri="{D42A27DB-BD31-4B8C-83A1-F6EECF244321}">
                <p14:modId xmlns:p14="http://schemas.microsoft.com/office/powerpoint/2010/main" val="3407498857"/>
              </p:ext>
            </p:extLst>
          </p:nvPr>
        </p:nvGraphicFramePr>
        <p:xfrm>
          <a:off x="0" y="-38736"/>
          <a:ext cx="12192000" cy="1056639"/>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67487573"/>
                    </a:ext>
                  </a:extLst>
                </a:gridCol>
              </a:tblGrid>
              <a:tr h="1056639">
                <a:tc>
                  <a:txBody>
                    <a:bodyPr/>
                    <a:lstStyle/>
                    <a:p>
                      <a:pPr algn="ctr">
                        <a:lnSpc>
                          <a:spcPct val="100000"/>
                        </a:lnSpc>
                        <a:spcAft>
                          <a:spcPts val="0"/>
                        </a:spcAft>
                      </a:pPr>
                      <a:r>
                        <a:rPr lang="en-IN" sz="24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School of Technology</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Department of Computer Science and Engineering</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Academic Year (2024 – 25)</a:t>
                      </a:r>
                      <a:endParaRPr lang="en-IN" dirty="0"/>
                    </a:p>
                  </a:txBody>
                  <a:tcPr>
                    <a:solidFill>
                      <a:schemeClr val="accent4">
                        <a:lumMod val="60000"/>
                        <a:lumOff val="40000"/>
                      </a:schemeClr>
                    </a:solidFill>
                  </a:tcPr>
                </a:tc>
                <a:extLst>
                  <a:ext uri="{0D108BD9-81ED-4DB2-BD59-A6C34878D82A}">
                    <a16:rowId xmlns:a16="http://schemas.microsoft.com/office/drawing/2014/main" val="3977786082"/>
                  </a:ext>
                </a:extLst>
              </a:tr>
            </a:tbl>
          </a:graphicData>
        </a:graphic>
      </p:graphicFrame>
      <p:pic>
        <p:nvPicPr>
          <p:cNvPr id="12" name="Picture 11">
            <a:extLst>
              <a:ext uri="{FF2B5EF4-FFF2-40B4-BE49-F238E27FC236}">
                <a16:creationId xmlns:a16="http://schemas.microsoft.com/office/drawing/2014/main" id="{1A3CFC8D-DA47-A3AC-1E00-1A6E07F6758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956560" cy="1056639"/>
          </a:xfrm>
          <a:prstGeom prst="rect">
            <a:avLst/>
          </a:prstGeom>
          <a:noFill/>
          <a:ln>
            <a:noFill/>
          </a:ln>
        </p:spPr>
      </p:pic>
      <p:sp>
        <p:nvSpPr>
          <p:cNvPr id="11" name="TextBox 10">
            <a:extLst>
              <a:ext uri="{FF2B5EF4-FFF2-40B4-BE49-F238E27FC236}">
                <a16:creationId xmlns:a16="http://schemas.microsoft.com/office/drawing/2014/main" id="{CFA88238-B435-C1E1-216B-ADE7531222B7}"/>
              </a:ext>
            </a:extLst>
          </p:cNvPr>
          <p:cNvSpPr txBox="1"/>
          <p:nvPr/>
        </p:nvSpPr>
        <p:spPr>
          <a:xfrm>
            <a:off x="185928" y="1854072"/>
            <a:ext cx="12006072" cy="5016758"/>
          </a:xfrm>
          <a:prstGeom prst="rect">
            <a:avLst/>
          </a:prstGeom>
          <a:noFill/>
        </p:spPr>
        <p:txBody>
          <a:bodyPr wrap="square" rtlCol="0">
            <a:spAutoFit/>
          </a:bodyPr>
          <a:lstStyle/>
          <a:p>
            <a:pPr>
              <a:lnSpc>
                <a:spcPct val="150000"/>
              </a:lnSpc>
            </a:pPr>
            <a:r>
              <a:rPr lang="en-US" sz="2000" b="1" dirty="0"/>
              <a:t>Aim :</a:t>
            </a:r>
          </a:p>
          <a:p>
            <a:pPr>
              <a:lnSpc>
                <a:spcPct val="150000"/>
              </a:lnSpc>
            </a:pPr>
            <a:r>
              <a:rPr lang="en-US" sz="2000" dirty="0"/>
              <a:t>To develop an integrated predictive framework using genetic polymorphisms and serum biomarkers for the early detection and assessment of kidney stone disease, enabling personalized treatment and preventive strategies.</a:t>
            </a:r>
            <a:endParaRPr lang="en-US" altLang="en-US" sz="2000" b="1"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Objectives :</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Arial" panose="020B0604020202020204" pitchFamily="34" charset="0"/>
              </a:rPr>
              <a:t>Study Genetic Factors: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Identify specific genetic polymorphisms, such as those in CASR and CLDN14 genes, associated with kidney stone formation.</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Arial" panose="020B0604020202020204" pitchFamily="34" charset="0"/>
              </a:rPr>
              <a:t>Analyze Biochemical Markers: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Examine serum markers like calcium, oxalate, uric acid, and citrate to assess their roles in stone formation.</a:t>
            </a:r>
          </a:p>
          <a:p>
            <a:pPr marL="0" marR="0" lvl="0" indent="0" algn="l" defTabSz="914400" rtl="0" eaLnBrk="0" fontAlgn="base" latinLnBrk="0" hangingPunct="0">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53862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CB240-16B1-45D2-B7C1-68C89F9B07D0}"/>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5398604E-D885-C96E-5DC1-4FB9EB536CC7}"/>
              </a:ext>
            </a:extLst>
          </p:cNvPr>
          <p:cNvSpPr>
            <a:spLocks noGrp="1"/>
          </p:cNvSpPr>
          <p:nvPr>
            <p:ph type="title"/>
          </p:nvPr>
        </p:nvSpPr>
        <p:spPr>
          <a:xfrm>
            <a:off x="960120" y="1264443"/>
            <a:ext cx="10515600" cy="493237"/>
          </a:xfrm>
        </p:spPr>
        <p:txBody>
          <a:bodyPr>
            <a:normAutofit fontScale="90000"/>
          </a:bodyPr>
          <a:lstStyle/>
          <a:p>
            <a:pPr algn="ctr"/>
            <a:r>
              <a:rPr lang="en-IN" sz="3200" b="1" dirty="0">
                <a:solidFill>
                  <a:srgbClr val="FF0000"/>
                </a:solidFill>
                <a:latin typeface="Bookman Old Style" panose="02050604050505020204" pitchFamily="18" charset="0"/>
              </a:rPr>
              <a:t>Aim and Objectives</a:t>
            </a:r>
          </a:p>
        </p:txBody>
      </p:sp>
      <p:graphicFrame>
        <p:nvGraphicFramePr>
          <p:cNvPr id="9" name="Content Placeholder 8">
            <a:extLst>
              <a:ext uri="{FF2B5EF4-FFF2-40B4-BE49-F238E27FC236}">
                <a16:creationId xmlns:a16="http://schemas.microsoft.com/office/drawing/2014/main" id="{19023291-44F1-5D1F-EADD-C17F27D13074}"/>
              </a:ext>
            </a:extLst>
          </p:cNvPr>
          <p:cNvGraphicFramePr>
            <a:graphicFrameLocks noGrp="1"/>
          </p:cNvGraphicFramePr>
          <p:nvPr>
            <p:ph idx="1"/>
          </p:nvPr>
        </p:nvGraphicFramePr>
        <p:xfrm>
          <a:off x="0" y="-38736"/>
          <a:ext cx="12192000" cy="1056639"/>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67487573"/>
                    </a:ext>
                  </a:extLst>
                </a:gridCol>
              </a:tblGrid>
              <a:tr h="1056639">
                <a:tc>
                  <a:txBody>
                    <a:bodyPr/>
                    <a:lstStyle/>
                    <a:p>
                      <a:pPr algn="ctr">
                        <a:lnSpc>
                          <a:spcPct val="100000"/>
                        </a:lnSpc>
                        <a:spcAft>
                          <a:spcPts val="0"/>
                        </a:spcAft>
                      </a:pPr>
                      <a:r>
                        <a:rPr lang="en-IN" sz="24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School of Technology</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Department of Computer Science and Engineering</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Academic Year (2024 – 25)</a:t>
                      </a:r>
                      <a:endParaRPr lang="en-IN" dirty="0"/>
                    </a:p>
                  </a:txBody>
                  <a:tcPr>
                    <a:solidFill>
                      <a:schemeClr val="accent4">
                        <a:lumMod val="60000"/>
                        <a:lumOff val="40000"/>
                      </a:schemeClr>
                    </a:solidFill>
                  </a:tcPr>
                </a:tc>
                <a:extLst>
                  <a:ext uri="{0D108BD9-81ED-4DB2-BD59-A6C34878D82A}">
                    <a16:rowId xmlns:a16="http://schemas.microsoft.com/office/drawing/2014/main" val="3977786082"/>
                  </a:ext>
                </a:extLst>
              </a:tr>
            </a:tbl>
          </a:graphicData>
        </a:graphic>
      </p:graphicFrame>
      <p:pic>
        <p:nvPicPr>
          <p:cNvPr id="12" name="Picture 11">
            <a:extLst>
              <a:ext uri="{FF2B5EF4-FFF2-40B4-BE49-F238E27FC236}">
                <a16:creationId xmlns:a16="http://schemas.microsoft.com/office/drawing/2014/main" id="{427F2EC7-0058-C5F3-E2E8-EAC21A3718A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956560" cy="1056639"/>
          </a:xfrm>
          <a:prstGeom prst="rect">
            <a:avLst/>
          </a:prstGeom>
          <a:noFill/>
          <a:ln>
            <a:noFill/>
          </a:ln>
        </p:spPr>
      </p:pic>
      <p:sp>
        <p:nvSpPr>
          <p:cNvPr id="11" name="TextBox 10">
            <a:extLst>
              <a:ext uri="{FF2B5EF4-FFF2-40B4-BE49-F238E27FC236}">
                <a16:creationId xmlns:a16="http://schemas.microsoft.com/office/drawing/2014/main" id="{873EFB04-31A3-9A3F-D1AD-D3A3241C2B61}"/>
              </a:ext>
            </a:extLst>
          </p:cNvPr>
          <p:cNvSpPr txBox="1"/>
          <p:nvPr/>
        </p:nvSpPr>
        <p:spPr>
          <a:xfrm>
            <a:off x="155448" y="1837944"/>
            <a:ext cx="12036552" cy="3728649"/>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Arial" panose="020B0604020202020204" pitchFamily="34" charset="0"/>
              </a:rPr>
              <a:t>Leverage Machine Learning: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Develop and optimize predictive models (e.g., </a:t>
            </a:r>
            <a:r>
              <a:rPr kumimoji="0" lang="en-US" altLang="en-US" sz="2000" b="0" i="0" u="none" strike="noStrike" cap="none" normalizeH="0" baseline="0" dirty="0" err="1">
                <a:ln>
                  <a:noFill/>
                </a:ln>
                <a:solidFill>
                  <a:schemeClr val="tx1"/>
                </a:solidFill>
                <a:effectLst/>
                <a:latin typeface="Arial" panose="020B0604020202020204" pitchFamily="34" charset="0"/>
              </a:rPr>
              <a:t>XGBoost</a:t>
            </a:r>
            <a:r>
              <a:rPr kumimoji="0" lang="en-US" altLang="en-US" sz="2000" b="0" i="0" u="none" strike="noStrike" cap="none" normalizeH="0" baseline="0" dirty="0">
                <a:ln>
                  <a:noFill/>
                </a:ln>
                <a:solidFill>
                  <a:schemeClr val="tx1"/>
                </a:solidFill>
                <a:effectLst/>
                <a:latin typeface="Arial" panose="020B0604020202020204" pitchFamily="34" charset="0"/>
              </a:rPr>
              <a:t>, Random Forest) to improve diagnostic accuracy and risk assessment.</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2000" b="1" i="0" u="none" strike="noStrike" cap="none" normalizeH="0" baseline="0" dirty="0">
                <a:ln>
                  <a:noFill/>
                </a:ln>
                <a:solidFill>
                  <a:schemeClr val="tx1"/>
                </a:solidFill>
                <a:effectLst/>
                <a:latin typeface="Arial" panose="020B0604020202020204" pitchFamily="34" charset="0"/>
              </a:rPr>
              <a:t>Integrate Data for Prediction: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Combine genetic and biochemical data for a holistic approach to predicting kidney stone risk and severity.</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en-US" sz="2000" b="1" i="0" u="none" strike="noStrike" cap="none" normalizeH="0" baseline="0" dirty="0">
                <a:ln>
                  <a:noFill/>
                </a:ln>
                <a:solidFill>
                  <a:schemeClr val="tx1"/>
                </a:solidFill>
                <a:effectLst/>
                <a:latin typeface="Arial" panose="020B0604020202020204" pitchFamily="34" charset="0"/>
              </a:rPr>
              <a:t>Enable Early Detection: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Identify high-risk individuals proactively to prevent kidney stone formation before symptoms appear.</a:t>
            </a:r>
          </a:p>
        </p:txBody>
      </p:sp>
    </p:spTree>
    <p:extLst>
      <p:ext uri="{BB962C8B-B14F-4D97-AF65-F5344CB8AC3E}">
        <p14:creationId xmlns:p14="http://schemas.microsoft.com/office/powerpoint/2010/main" val="2500946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8F01E-9AAA-74D0-D5C0-B3CB132AA710}"/>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1F4EF9FC-E85E-E65B-EE12-EAAE75929342}"/>
              </a:ext>
            </a:extLst>
          </p:cNvPr>
          <p:cNvSpPr>
            <a:spLocks noGrp="1"/>
          </p:cNvSpPr>
          <p:nvPr>
            <p:ph type="title"/>
          </p:nvPr>
        </p:nvSpPr>
        <p:spPr>
          <a:xfrm>
            <a:off x="960120" y="1264443"/>
            <a:ext cx="10515600" cy="493237"/>
          </a:xfrm>
        </p:spPr>
        <p:txBody>
          <a:bodyPr>
            <a:normAutofit fontScale="90000"/>
          </a:bodyPr>
          <a:lstStyle/>
          <a:p>
            <a:pPr algn="ctr"/>
            <a:r>
              <a:rPr lang="en-IN" sz="3200" b="1" dirty="0">
                <a:solidFill>
                  <a:srgbClr val="FF0000"/>
                </a:solidFill>
                <a:latin typeface="Bookman Old Style" panose="02050604050505020204" pitchFamily="18" charset="0"/>
              </a:rPr>
              <a:t>Aim and Objectives</a:t>
            </a:r>
          </a:p>
        </p:txBody>
      </p:sp>
      <p:graphicFrame>
        <p:nvGraphicFramePr>
          <p:cNvPr id="9" name="Content Placeholder 8">
            <a:extLst>
              <a:ext uri="{FF2B5EF4-FFF2-40B4-BE49-F238E27FC236}">
                <a16:creationId xmlns:a16="http://schemas.microsoft.com/office/drawing/2014/main" id="{AF455B93-D953-38A1-35DB-1F63CB2CB207}"/>
              </a:ext>
            </a:extLst>
          </p:cNvPr>
          <p:cNvGraphicFramePr>
            <a:graphicFrameLocks noGrp="1"/>
          </p:cNvGraphicFramePr>
          <p:nvPr>
            <p:ph idx="1"/>
          </p:nvPr>
        </p:nvGraphicFramePr>
        <p:xfrm>
          <a:off x="0" y="-38736"/>
          <a:ext cx="12192000" cy="1056639"/>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67487573"/>
                    </a:ext>
                  </a:extLst>
                </a:gridCol>
              </a:tblGrid>
              <a:tr h="1056639">
                <a:tc>
                  <a:txBody>
                    <a:bodyPr/>
                    <a:lstStyle/>
                    <a:p>
                      <a:pPr algn="ctr">
                        <a:lnSpc>
                          <a:spcPct val="100000"/>
                        </a:lnSpc>
                        <a:spcAft>
                          <a:spcPts val="0"/>
                        </a:spcAft>
                      </a:pPr>
                      <a:r>
                        <a:rPr lang="en-IN" sz="24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School of Technology</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Department of Computer Science and Engineering</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Academic Year (2024 – 25)</a:t>
                      </a:r>
                      <a:endParaRPr lang="en-IN" dirty="0"/>
                    </a:p>
                  </a:txBody>
                  <a:tcPr>
                    <a:solidFill>
                      <a:schemeClr val="accent4">
                        <a:lumMod val="60000"/>
                        <a:lumOff val="40000"/>
                      </a:schemeClr>
                    </a:solidFill>
                  </a:tcPr>
                </a:tc>
                <a:extLst>
                  <a:ext uri="{0D108BD9-81ED-4DB2-BD59-A6C34878D82A}">
                    <a16:rowId xmlns:a16="http://schemas.microsoft.com/office/drawing/2014/main" val="3977786082"/>
                  </a:ext>
                </a:extLst>
              </a:tr>
            </a:tbl>
          </a:graphicData>
        </a:graphic>
      </p:graphicFrame>
      <p:pic>
        <p:nvPicPr>
          <p:cNvPr id="12" name="Picture 11">
            <a:extLst>
              <a:ext uri="{FF2B5EF4-FFF2-40B4-BE49-F238E27FC236}">
                <a16:creationId xmlns:a16="http://schemas.microsoft.com/office/drawing/2014/main" id="{8E339012-D182-ADEC-D6A8-302A9EF0E42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2956560" cy="1056639"/>
          </a:xfrm>
          <a:prstGeom prst="rect">
            <a:avLst/>
          </a:prstGeom>
          <a:noFill/>
          <a:ln>
            <a:noFill/>
          </a:ln>
        </p:spPr>
      </p:pic>
      <p:sp>
        <p:nvSpPr>
          <p:cNvPr id="11" name="TextBox 10">
            <a:extLst>
              <a:ext uri="{FF2B5EF4-FFF2-40B4-BE49-F238E27FC236}">
                <a16:creationId xmlns:a16="http://schemas.microsoft.com/office/drawing/2014/main" id="{F64F4199-BC25-401E-914A-CCF132CB0FE2}"/>
              </a:ext>
            </a:extLst>
          </p:cNvPr>
          <p:cNvSpPr txBox="1"/>
          <p:nvPr/>
        </p:nvSpPr>
        <p:spPr>
          <a:xfrm>
            <a:off x="155448" y="1837944"/>
            <a:ext cx="12036552" cy="2343655"/>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AutoNum type="arabicPeriod" startAt="6"/>
              <a:tabLst/>
            </a:pPr>
            <a:r>
              <a:rPr kumimoji="0" lang="en-US" altLang="en-US" sz="2000" b="1" i="0" u="none" strike="noStrike" cap="none" normalizeH="0" baseline="0" dirty="0">
                <a:ln>
                  <a:noFill/>
                </a:ln>
                <a:solidFill>
                  <a:schemeClr val="tx1"/>
                </a:solidFill>
                <a:effectLst/>
                <a:latin typeface="Arial" panose="020B0604020202020204" pitchFamily="34" charset="0"/>
              </a:rPr>
              <a:t>Promote Personalized Healthcare: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Tailor treatment plans and preventive measures based on individual genetic and biochemical profiles.</a:t>
            </a:r>
          </a:p>
          <a:p>
            <a:pPr marL="0" marR="0" lvl="0" indent="0" algn="l" defTabSz="914400" rtl="0" eaLnBrk="0" fontAlgn="base" latinLnBrk="0" hangingPunct="0">
              <a:lnSpc>
                <a:spcPct val="150000"/>
              </a:lnSpc>
              <a:spcBef>
                <a:spcPct val="0"/>
              </a:spcBef>
              <a:spcAft>
                <a:spcPct val="0"/>
              </a:spcAft>
              <a:buClrTx/>
              <a:buSzTx/>
              <a:buFontTx/>
              <a:buAutoNum type="arabicPeriod" startAt="7"/>
              <a:tabLst/>
            </a:pPr>
            <a:r>
              <a:rPr kumimoji="0" lang="en-US" altLang="en-US" sz="2000" b="1" i="0" u="none" strike="noStrike" cap="none" normalizeH="0" baseline="0" dirty="0">
                <a:ln>
                  <a:noFill/>
                </a:ln>
                <a:solidFill>
                  <a:schemeClr val="tx1"/>
                </a:solidFill>
                <a:effectLst/>
                <a:latin typeface="Arial" panose="020B0604020202020204" pitchFamily="34" charset="0"/>
              </a:rPr>
              <a:t>Explore Technological Advancements: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Investigate the use of IoT-based hydration monitoring systems for real-time risk management.</a:t>
            </a:r>
          </a:p>
        </p:txBody>
      </p:sp>
    </p:spTree>
    <p:extLst>
      <p:ext uri="{BB962C8B-B14F-4D97-AF65-F5344CB8AC3E}">
        <p14:creationId xmlns:p14="http://schemas.microsoft.com/office/powerpoint/2010/main" val="4036653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23B14C12-32A9-F237-7D57-539BAC6BC797}"/>
              </a:ext>
            </a:extLst>
          </p:cNvPr>
          <p:cNvSpPr>
            <a:spLocks noGrp="1"/>
          </p:cNvSpPr>
          <p:nvPr>
            <p:ph type="title"/>
          </p:nvPr>
        </p:nvSpPr>
        <p:spPr>
          <a:xfrm>
            <a:off x="960120" y="1264443"/>
            <a:ext cx="10515600" cy="493237"/>
          </a:xfrm>
        </p:spPr>
        <p:txBody>
          <a:bodyPr>
            <a:normAutofit fontScale="90000"/>
          </a:bodyPr>
          <a:lstStyle/>
          <a:p>
            <a:pPr algn="ctr"/>
            <a:r>
              <a:rPr lang="en-IN" sz="3200" b="1" dirty="0">
                <a:solidFill>
                  <a:srgbClr val="FF0000"/>
                </a:solidFill>
                <a:latin typeface="Bookman Old Style" panose="02050604050505020204" pitchFamily="18" charset="0"/>
              </a:rPr>
              <a:t>Problem Definition</a:t>
            </a:r>
          </a:p>
        </p:txBody>
      </p:sp>
      <p:graphicFrame>
        <p:nvGraphicFramePr>
          <p:cNvPr id="9" name="Content Placeholder 8">
            <a:extLst>
              <a:ext uri="{FF2B5EF4-FFF2-40B4-BE49-F238E27FC236}">
                <a16:creationId xmlns:a16="http://schemas.microsoft.com/office/drawing/2014/main" id="{36806186-4F7B-B0E3-C5D1-A7298E3F22FD}"/>
              </a:ext>
            </a:extLst>
          </p:cNvPr>
          <p:cNvGraphicFramePr>
            <a:graphicFrameLocks noGrp="1"/>
          </p:cNvGraphicFramePr>
          <p:nvPr>
            <p:ph idx="1"/>
          </p:nvPr>
        </p:nvGraphicFramePr>
        <p:xfrm>
          <a:off x="0" y="-38736"/>
          <a:ext cx="12192000" cy="1056639"/>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67487573"/>
                    </a:ext>
                  </a:extLst>
                </a:gridCol>
              </a:tblGrid>
              <a:tr h="1056639">
                <a:tc>
                  <a:txBody>
                    <a:bodyPr/>
                    <a:lstStyle/>
                    <a:p>
                      <a:pPr algn="ctr">
                        <a:lnSpc>
                          <a:spcPct val="100000"/>
                        </a:lnSpc>
                        <a:spcAft>
                          <a:spcPts val="0"/>
                        </a:spcAft>
                      </a:pPr>
                      <a:r>
                        <a:rPr lang="en-IN" sz="24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School of Technology</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Department of Computer Science and Engineering</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Academic Year (2024 – 25)</a:t>
                      </a:r>
                      <a:endParaRPr lang="en-IN" dirty="0"/>
                    </a:p>
                  </a:txBody>
                  <a:tcPr>
                    <a:solidFill>
                      <a:schemeClr val="accent4">
                        <a:lumMod val="60000"/>
                        <a:lumOff val="40000"/>
                      </a:schemeClr>
                    </a:solidFill>
                  </a:tcPr>
                </a:tc>
                <a:extLst>
                  <a:ext uri="{0D108BD9-81ED-4DB2-BD59-A6C34878D82A}">
                    <a16:rowId xmlns:a16="http://schemas.microsoft.com/office/drawing/2014/main" val="3977786082"/>
                  </a:ext>
                </a:extLst>
              </a:tr>
            </a:tbl>
          </a:graphicData>
        </a:graphic>
      </p:graphicFrame>
      <p:pic>
        <p:nvPicPr>
          <p:cNvPr id="12" name="Picture 11">
            <a:extLst>
              <a:ext uri="{FF2B5EF4-FFF2-40B4-BE49-F238E27FC236}">
                <a16:creationId xmlns:a16="http://schemas.microsoft.com/office/drawing/2014/main" id="{1A3CFC8D-DA47-A3AC-1E00-1A6E07F6758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 y="-5080"/>
            <a:ext cx="2956560" cy="1056639"/>
          </a:xfrm>
          <a:prstGeom prst="rect">
            <a:avLst/>
          </a:prstGeom>
          <a:noFill/>
          <a:ln>
            <a:noFill/>
          </a:ln>
        </p:spPr>
      </p:pic>
      <p:sp>
        <p:nvSpPr>
          <p:cNvPr id="4" name="TextBox 3">
            <a:extLst>
              <a:ext uri="{FF2B5EF4-FFF2-40B4-BE49-F238E27FC236}">
                <a16:creationId xmlns:a16="http://schemas.microsoft.com/office/drawing/2014/main" id="{18876B4A-C693-621E-50C3-04DA5470D722}"/>
              </a:ext>
            </a:extLst>
          </p:cNvPr>
          <p:cNvSpPr txBox="1"/>
          <p:nvPr/>
        </p:nvSpPr>
        <p:spPr>
          <a:xfrm>
            <a:off x="155448" y="1757680"/>
            <a:ext cx="11923776" cy="4939814"/>
          </a:xfrm>
          <a:prstGeom prst="rect">
            <a:avLst/>
          </a:prstGeom>
          <a:noFill/>
        </p:spPr>
        <p:txBody>
          <a:bodyPr wrap="square" rtlCol="0">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a:ln>
                  <a:noFill/>
                </a:ln>
                <a:solidFill>
                  <a:schemeClr val="tx1"/>
                </a:solidFill>
                <a:effectLst/>
                <a:latin typeface="Arial" panose="020B0604020202020204" pitchFamily="34" charset="0"/>
              </a:rPr>
              <a:t>Current Diagnostic Challenges</a:t>
            </a:r>
            <a:endParaRPr kumimoji="0" lang="en-US" altLang="en-US" b="0" i="0" u="none" strike="noStrike" cap="none" normalizeH="0" baseline="0" dirty="0">
              <a:ln>
                <a:noFill/>
              </a:ln>
              <a:solidFill>
                <a:schemeClr val="tx1"/>
              </a:solidFill>
              <a:effectLst/>
              <a:latin typeface="Arial" panose="020B0604020202020204" pitchFamily="34" charset="0"/>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Kidney stone disease is typically diagnosed after symptoms appear. </a:t>
            </a: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methods like </a:t>
            </a:r>
            <a:r>
              <a:rPr kumimoji="0" lang="en-US" altLang="en-US" sz="1800" b="1" i="0" u="none" strike="noStrike" cap="none" normalizeH="0" baseline="0" dirty="0">
                <a:ln>
                  <a:noFill/>
                </a:ln>
                <a:solidFill>
                  <a:schemeClr val="tx1"/>
                </a:solidFill>
                <a:effectLst/>
                <a:latin typeface="Arial" panose="020B0604020202020204" pitchFamily="34" charset="0"/>
              </a:rPr>
              <a:t>CT scans, ultrasounds, and urine tests</a:t>
            </a:r>
            <a:r>
              <a:rPr kumimoji="0" lang="en-US" altLang="en-US" sz="1800" b="0" i="0" u="none" strike="noStrike" cap="none" normalizeH="0" baseline="0" dirty="0">
                <a:ln>
                  <a:noFill/>
                </a:ln>
                <a:solidFill>
                  <a:schemeClr val="tx1"/>
                </a:solidFill>
                <a:effectLst/>
                <a:latin typeface="Arial" panose="020B0604020202020204" pitchFamily="34" charset="0"/>
              </a:rPr>
              <a:t> are reactive rather than predictive.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Limitations of Existing Methods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Late Detection:</a:t>
            </a:r>
            <a:r>
              <a:rPr kumimoji="0" lang="en-US" altLang="en-US" sz="1800" b="0" i="0" u="none" strike="noStrike" cap="none" normalizeH="0" baseline="0" dirty="0">
                <a:ln>
                  <a:noFill/>
                </a:ln>
                <a:solidFill>
                  <a:schemeClr val="tx1"/>
                </a:solidFill>
                <a:effectLst/>
                <a:latin typeface="Arial" panose="020B0604020202020204" pitchFamily="34" charset="0"/>
              </a:rPr>
              <a:t> Diagnosis happens only after the formation of stones. </a:t>
            </a: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Lack of Prevention:</a:t>
            </a:r>
            <a:r>
              <a:rPr kumimoji="0" lang="en-US" altLang="en-US" sz="1800" b="0" i="0" u="none" strike="noStrike" cap="none" normalizeH="0" baseline="0" dirty="0">
                <a:ln>
                  <a:noFill/>
                </a:ln>
                <a:solidFill>
                  <a:schemeClr val="tx1"/>
                </a:solidFill>
                <a:effectLst/>
                <a:latin typeface="Arial" panose="020B0604020202020204" pitchFamily="34" charset="0"/>
              </a:rPr>
              <a:t> No insights into genetic or biochemical risk factors. </a:t>
            </a: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 Costs &amp; Risks:</a:t>
            </a:r>
            <a:r>
              <a:rPr kumimoji="0" lang="en-US" altLang="en-US" sz="1800" b="0" i="0" u="none" strike="noStrike" cap="none" normalizeH="0" baseline="0" dirty="0">
                <a:ln>
                  <a:noFill/>
                </a:ln>
                <a:solidFill>
                  <a:schemeClr val="tx1"/>
                </a:solidFill>
                <a:effectLst/>
                <a:latin typeface="Arial" panose="020B0604020202020204" pitchFamily="34" charset="0"/>
              </a:rPr>
              <a:t> Imaging techniques are expensive and involve radiation exposure.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Need for a Predictive Model</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Identifying high-risk individuals </a:t>
            </a:r>
            <a:r>
              <a:rPr kumimoji="0" lang="en-US" altLang="en-US" sz="1800" b="1" i="0" u="none" strike="noStrike" cap="none" normalizeH="0" baseline="0" dirty="0">
                <a:ln>
                  <a:noFill/>
                </a:ln>
                <a:solidFill>
                  <a:schemeClr val="tx1"/>
                </a:solidFill>
                <a:effectLst/>
                <a:latin typeface="Arial" panose="020B0604020202020204" pitchFamily="34" charset="0"/>
              </a:rPr>
              <a:t>before</a:t>
            </a:r>
            <a:r>
              <a:rPr kumimoji="0" lang="en-US" altLang="en-US" sz="1800" b="0" i="0" u="none" strike="noStrike" cap="none" normalizeH="0" baseline="0" dirty="0">
                <a:ln>
                  <a:noFill/>
                </a:ln>
                <a:solidFill>
                  <a:schemeClr val="tx1"/>
                </a:solidFill>
                <a:effectLst/>
                <a:latin typeface="Arial" panose="020B0604020202020204" pitchFamily="34" charset="0"/>
              </a:rPr>
              <a:t> stone formation. </a:t>
            </a: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Integrating </a:t>
            </a:r>
            <a:r>
              <a:rPr kumimoji="0" lang="en-US" altLang="en-US" sz="1800" b="1" i="0" u="none" strike="noStrike" cap="none" normalizeH="0" baseline="0" dirty="0">
                <a:ln>
                  <a:noFill/>
                </a:ln>
                <a:solidFill>
                  <a:schemeClr val="tx1"/>
                </a:solidFill>
                <a:effectLst/>
                <a:latin typeface="Arial" panose="020B0604020202020204" pitchFamily="34" charset="0"/>
              </a:rPr>
              <a:t>genetic data and serum biomarkers</a:t>
            </a:r>
            <a:r>
              <a:rPr kumimoji="0" lang="en-US" altLang="en-US" sz="1800" b="0" i="0" u="none" strike="noStrike" cap="none" normalizeH="0" baseline="0" dirty="0">
                <a:ln>
                  <a:noFill/>
                </a:ln>
                <a:solidFill>
                  <a:schemeClr val="tx1"/>
                </a:solidFill>
                <a:effectLst/>
                <a:latin typeface="Arial" panose="020B0604020202020204" pitchFamily="34" charset="0"/>
              </a:rPr>
              <a:t> for early risk assessment. </a:t>
            </a: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Applying </a:t>
            </a:r>
            <a:r>
              <a:rPr kumimoji="0" lang="en-US" altLang="en-US" sz="1800" b="1" i="0" u="none" strike="noStrike" cap="none" normalizeH="0" baseline="0" dirty="0">
                <a:ln>
                  <a:noFill/>
                </a:ln>
                <a:solidFill>
                  <a:schemeClr val="tx1"/>
                </a:solidFill>
                <a:effectLst/>
                <a:latin typeface="Arial" panose="020B0604020202020204" pitchFamily="34" charset="0"/>
              </a:rPr>
              <a:t>Machine Learning</a:t>
            </a:r>
            <a:r>
              <a:rPr kumimoji="0" lang="en-US" altLang="en-US" sz="1800" b="0" i="0" u="none" strike="noStrike" cap="none" normalizeH="0" baseline="0" dirty="0">
                <a:ln>
                  <a:noFill/>
                </a:ln>
                <a:solidFill>
                  <a:schemeClr val="tx1"/>
                </a:solidFill>
                <a:effectLst/>
                <a:latin typeface="Arial" panose="020B0604020202020204" pitchFamily="34" charset="0"/>
              </a:rPr>
              <a:t> for accurate and personalized predictions. </a:t>
            </a:r>
          </a:p>
          <a:p>
            <a:endParaRPr lang="en-US" dirty="0"/>
          </a:p>
        </p:txBody>
      </p:sp>
    </p:spTree>
    <p:extLst>
      <p:ext uri="{BB962C8B-B14F-4D97-AF65-F5344CB8AC3E}">
        <p14:creationId xmlns:p14="http://schemas.microsoft.com/office/powerpoint/2010/main" val="2212436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23B14C12-32A9-F237-7D57-539BAC6BC797}"/>
              </a:ext>
            </a:extLst>
          </p:cNvPr>
          <p:cNvSpPr>
            <a:spLocks noGrp="1"/>
          </p:cNvSpPr>
          <p:nvPr>
            <p:ph type="title"/>
          </p:nvPr>
        </p:nvSpPr>
        <p:spPr>
          <a:xfrm>
            <a:off x="926592" y="1017903"/>
            <a:ext cx="10515600" cy="493237"/>
          </a:xfrm>
        </p:spPr>
        <p:txBody>
          <a:bodyPr>
            <a:normAutofit fontScale="90000"/>
          </a:bodyPr>
          <a:lstStyle/>
          <a:p>
            <a:pPr algn="ctr"/>
            <a:r>
              <a:rPr lang="en-IN" sz="3200" b="1" dirty="0">
                <a:solidFill>
                  <a:srgbClr val="FF0000"/>
                </a:solidFill>
                <a:latin typeface="Bookman Old Style" panose="02050604050505020204" pitchFamily="18" charset="0"/>
              </a:rPr>
              <a:t>Proposed Method</a:t>
            </a:r>
          </a:p>
        </p:txBody>
      </p:sp>
      <p:graphicFrame>
        <p:nvGraphicFramePr>
          <p:cNvPr id="9" name="Content Placeholder 8">
            <a:extLst>
              <a:ext uri="{FF2B5EF4-FFF2-40B4-BE49-F238E27FC236}">
                <a16:creationId xmlns:a16="http://schemas.microsoft.com/office/drawing/2014/main" id="{36806186-4F7B-B0E3-C5D1-A7298E3F22FD}"/>
              </a:ext>
            </a:extLst>
          </p:cNvPr>
          <p:cNvGraphicFramePr>
            <a:graphicFrameLocks noGrp="1"/>
          </p:cNvGraphicFramePr>
          <p:nvPr>
            <p:ph idx="1"/>
          </p:nvPr>
        </p:nvGraphicFramePr>
        <p:xfrm>
          <a:off x="0" y="-38736"/>
          <a:ext cx="12192000" cy="1056639"/>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67487573"/>
                    </a:ext>
                  </a:extLst>
                </a:gridCol>
              </a:tblGrid>
              <a:tr h="1056639">
                <a:tc>
                  <a:txBody>
                    <a:bodyPr/>
                    <a:lstStyle/>
                    <a:p>
                      <a:pPr algn="ctr">
                        <a:lnSpc>
                          <a:spcPct val="100000"/>
                        </a:lnSpc>
                        <a:spcAft>
                          <a:spcPts val="0"/>
                        </a:spcAft>
                      </a:pPr>
                      <a:r>
                        <a:rPr lang="en-IN" sz="24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School of Technology</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Department of Computer Science and Engineering</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Academic Year (2024 – 25)</a:t>
                      </a:r>
                      <a:endParaRPr lang="en-IN" dirty="0"/>
                    </a:p>
                  </a:txBody>
                  <a:tcPr>
                    <a:solidFill>
                      <a:schemeClr val="accent4">
                        <a:lumMod val="60000"/>
                        <a:lumOff val="40000"/>
                      </a:schemeClr>
                    </a:solidFill>
                  </a:tcPr>
                </a:tc>
                <a:extLst>
                  <a:ext uri="{0D108BD9-81ED-4DB2-BD59-A6C34878D82A}">
                    <a16:rowId xmlns:a16="http://schemas.microsoft.com/office/drawing/2014/main" val="3977786082"/>
                  </a:ext>
                </a:extLst>
              </a:tr>
            </a:tbl>
          </a:graphicData>
        </a:graphic>
      </p:graphicFrame>
      <p:pic>
        <p:nvPicPr>
          <p:cNvPr id="12" name="Picture 11">
            <a:extLst>
              <a:ext uri="{FF2B5EF4-FFF2-40B4-BE49-F238E27FC236}">
                <a16:creationId xmlns:a16="http://schemas.microsoft.com/office/drawing/2014/main" id="{1A3CFC8D-DA47-A3AC-1E00-1A6E07F6758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 y="-5080"/>
            <a:ext cx="2956560" cy="1056639"/>
          </a:xfrm>
          <a:prstGeom prst="rect">
            <a:avLst/>
          </a:prstGeom>
          <a:noFill/>
          <a:ln>
            <a:noFill/>
          </a:ln>
        </p:spPr>
      </p:pic>
      <p:sp>
        <p:nvSpPr>
          <p:cNvPr id="3" name="TextBox 2">
            <a:extLst>
              <a:ext uri="{FF2B5EF4-FFF2-40B4-BE49-F238E27FC236}">
                <a16:creationId xmlns:a16="http://schemas.microsoft.com/office/drawing/2014/main" id="{DFC347C7-78A8-3A92-6B4A-0048F37551AE}"/>
              </a:ext>
            </a:extLst>
          </p:cNvPr>
          <p:cNvSpPr txBox="1"/>
          <p:nvPr/>
        </p:nvSpPr>
        <p:spPr>
          <a:xfrm>
            <a:off x="213360" y="1294333"/>
            <a:ext cx="11978640" cy="5909310"/>
          </a:xfrm>
          <a:prstGeom prst="rect">
            <a:avLst/>
          </a:prstGeom>
          <a:noFill/>
        </p:spPr>
        <p:txBody>
          <a:bodyPr wrap="square" rtlCol="0">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rPr>
              <a:t>1. Data Collection &amp; Preprocessing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Gather genetic data (</a:t>
            </a:r>
            <a:r>
              <a:rPr kumimoji="0" lang="en-US" altLang="en-US" sz="2000" b="1" i="0" u="none" strike="noStrike" cap="none" normalizeH="0" baseline="0" dirty="0">
                <a:ln>
                  <a:noFill/>
                </a:ln>
                <a:solidFill>
                  <a:schemeClr val="tx1"/>
                </a:solidFill>
                <a:effectLst/>
                <a:latin typeface="Arial" panose="020B0604020202020204" pitchFamily="34" charset="0"/>
              </a:rPr>
              <a:t>CASR, CLDN14 gene polymorphisms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Collect serum biomarkers (</a:t>
            </a:r>
            <a:r>
              <a:rPr kumimoji="0" lang="en-US" altLang="en-US" sz="2000" b="1" i="0" u="none" strike="noStrike" cap="none" normalizeH="0" baseline="0" dirty="0">
                <a:ln>
                  <a:noFill/>
                </a:ln>
                <a:solidFill>
                  <a:schemeClr val="tx1"/>
                </a:solidFill>
                <a:effectLst/>
                <a:latin typeface="Arial" panose="020B0604020202020204" pitchFamily="34" charset="0"/>
              </a:rPr>
              <a:t>calcium, oxalate, uric acid, citrate levels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Normalize and clean the dataset to handle missing values.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2. Feature Selection &amp; Engineering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Identify key features influencing kidney stone formation.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Apply statistical and ML-based feature selection techniques.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3. Machine Learning Model Development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 Algorithms Used:</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 Random Forest</a:t>
            </a:r>
            <a:r>
              <a:rPr kumimoji="0" lang="en-US" altLang="en-US" sz="2000" b="0" i="0" u="none" strike="noStrike" cap="none" normalizeH="0" baseline="0" dirty="0">
                <a:ln>
                  <a:noFill/>
                </a:ln>
                <a:solidFill>
                  <a:schemeClr val="tx1"/>
                </a:solidFill>
                <a:effectLst/>
                <a:latin typeface="Arial" panose="020B0604020202020204" pitchFamily="34" charset="0"/>
              </a:rPr>
              <a:t> – Handles feature interactions.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 SVM (Support Vector Machine)</a:t>
            </a:r>
            <a:r>
              <a:rPr kumimoji="0" lang="en-US" altLang="en-US" sz="2000" b="0" i="0" u="none" strike="noStrike" cap="none" normalizeH="0" baseline="0" dirty="0">
                <a:ln>
                  <a:noFill/>
                </a:ln>
                <a:solidFill>
                  <a:schemeClr val="tx1"/>
                </a:solidFill>
                <a:effectLst/>
                <a:latin typeface="Arial" panose="020B0604020202020204" pitchFamily="34" charset="0"/>
              </a:rPr>
              <a:t> – Suitable for high-dimensional data.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XGBoost</a:t>
            </a:r>
            <a:r>
              <a:rPr kumimoji="0" lang="en-US" altLang="en-US" sz="2000" b="0" i="0" u="none" strike="noStrike" cap="none" normalizeH="0" baseline="0" dirty="0">
                <a:ln>
                  <a:noFill/>
                </a:ln>
                <a:solidFill>
                  <a:schemeClr val="tx1"/>
                </a:solidFill>
                <a:effectLst/>
                <a:latin typeface="Arial" panose="020B0604020202020204" pitchFamily="34" charset="0"/>
              </a:rPr>
              <a:t> – Achieved </a:t>
            </a:r>
            <a:r>
              <a:rPr kumimoji="0" lang="en-US" altLang="en-US" sz="2000" b="1" i="0" u="none" strike="noStrike" cap="none" normalizeH="0" baseline="0" dirty="0">
                <a:ln>
                  <a:noFill/>
                </a:ln>
                <a:solidFill>
                  <a:schemeClr val="tx1"/>
                </a:solidFill>
                <a:effectLst/>
                <a:latin typeface="Arial" panose="020B0604020202020204" pitchFamily="34" charset="0"/>
              </a:rPr>
              <a:t>95% accuracy</a:t>
            </a:r>
            <a:r>
              <a:rPr kumimoji="0" lang="en-US" altLang="en-US" sz="2000" b="0" i="0" u="none" strike="noStrike" cap="none" normalizeH="0" baseline="0" dirty="0">
                <a:ln>
                  <a:noFill/>
                </a:ln>
                <a:solidFill>
                  <a:schemeClr val="tx1"/>
                </a:solidFill>
                <a:effectLst/>
                <a:latin typeface="Arial" panose="020B0604020202020204" pitchFamily="34" charset="0"/>
              </a:rPr>
              <a:t>, best performer.</a:t>
            </a:r>
          </a:p>
          <a:p>
            <a:endParaRPr lang="en-US" dirty="0"/>
          </a:p>
        </p:txBody>
      </p:sp>
    </p:spTree>
    <p:extLst>
      <p:ext uri="{BB962C8B-B14F-4D97-AF65-F5344CB8AC3E}">
        <p14:creationId xmlns:p14="http://schemas.microsoft.com/office/powerpoint/2010/main" val="347585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AB4CF-DD40-0F50-DB71-055CED2AD69E}"/>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6F2CCEB7-F07D-5B35-2057-49E6FB7DEF48}"/>
              </a:ext>
            </a:extLst>
          </p:cNvPr>
          <p:cNvSpPr>
            <a:spLocks noGrp="1"/>
          </p:cNvSpPr>
          <p:nvPr>
            <p:ph type="title"/>
          </p:nvPr>
        </p:nvSpPr>
        <p:spPr>
          <a:xfrm>
            <a:off x="960120" y="1264443"/>
            <a:ext cx="10515600" cy="493237"/>
          </a:xfrm>
        </p:spPr>
        <p:txBody>
          <a:bodyPr>
            <a:normAutofit fontScale="90000"/>
          </a:bodyPr>
          <a:lstStyle/>
          <a:p>
            <a:pPr algn="ctr"/>
            <a:r>
              <a:rPr lang="en-IN" sz="3200" b="1" dirty="0">
                <a:solidFill>
                  <a:srgbClr val="FF0000"/>
                </a:solidFill>
                <a:latin typeface="Bookman Old Style" panose="02050604050505020204" pitchFamily="18" charset="0"/>
              </a:rPr>
              <a:t>Proposed Method</a:t>
            </a:r>
          </a:p>
        </p:txBody>
      </p:sp>
      <p:graphicFrame>
        <p:nvGraphicFramePr>
          <p:cNvPr id="9" name="Content Placeholder 8">
            <a:extLst>
              <a:ext uri="{FF2B5EF4-FFF2-40B4-BE49-F238E27FC236}">
                <a16:creationId xmlns:a16="http://schemas.microsoft.com/office/drawing/2014/main" id="{9B8D0DDA-9D78-BB88-7BC8-A58842C35F73}"/>
              </a:ext>
            </a:extLst>
          </p:cNvPr>
          <p:cNvGraphicFramePr>
            <a:graphicFrameLocks noGrp="1"/>
          </p:cNvGraphicFramePr>
          <p:nvPr>
            <p:ph idx="1"/>
          </p:nvPr>
        </p:nvGraphicFramePr>
        <p:xfrm>
          <a:off x="0" y="-38736"/>
          <a:ext cx="12192000" cy="1056639"/>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67487573"/>
                    </a:ext>
                  </a:extLst>
                </a:gridCol>
              </a:tblGrid>
              <a:tr h="1056639">
                <a:tc>
                  <a:txBody>
                    <a:bodyPr/>
                    <a:lstStyle/>
                    <a:p>
                      <a:pPr algn="ctr">
                        <a:lnSpc>
                          <a:spcPct val="100000"/>
                        </a:lnSpc>
                        <a:spcAft>
                          <a:spcPts val="0"/>
                        </a:spcAft>
                      </a:pPr>
                      <a:r>
                        <a:rPr lang="en-IN" sz="24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School of Technology</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Department of Computer Science and Engineering</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Academic Year (2024 – 25)</a:t>
                      </a:r>
                      <a:endParaRPr lang="en-IN" dirty="0"/>
                    </a:p>
                  </a:txBody>
                  <a:tcPr>
                    <a:solidFill>
                      <a:schemeClr val="accent4">
                        <a:lumMod val="60000"/>
                        <a:lumOff val="40000"/>
                      </a:schemeClr>
                    </a:solidFill>
                  </a:tcPr>
                </a:tc>
                <a:extLst>
                  <a:ext uri="{0D108BD9-81ED-4DB2-BD59-A6C34878D82A}">
                    <a16:rowId xmlns:a16="http://schemas.microsoft.com/office/drawing/2014/main" val="3977786082"/>
                  </a:ext>
                </a:extLst>
              </a:tr>
            </a:tbl>
          </a:graphicData>
        </a:graphic>
      </p:graphicFrame>
      <p:pic>
        <p:nvPicPr>
          <p:cNvPr id="12" name="Picture 11">
            <a:extLst>
              <a:ext uri="{FF2B5EF4-FFF2-40B4-BE49-F238E27FC236}">
                <a16:creationId xmlns:a16="http://schemas.microsoft.com/office/drawing/2014/main" id="{5A6315E7-5403-08FC-ABCC-3110F1A0954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 y="-5080"/>
            <a:ext cx="2956560" cy="1056639"/>
          </a:xfrm>
          <a:prstGeom prst="rect">
            <a:avLst/>
          </a:prstGeom>
          <a:noFill/>
          <a:ln>
            <a:noFill/>
          </a:ln>
        </p:spPr>
      </p:pic>
      <p:sp>
        <p:nvSpPr>
          <p:cNvPr id="3" name="TextBox 2">
            <a:extLst>
              <a:ext uri="{FF2B5EF4-FFF2-40B4-BE49-F238E27FC236}">
                <a16:creationId xmlns:a16="http://schemas.microsoft.com/office/drawing/2014/main" id="{C09891D2-F8AE-6D44-9D35-240806318887}"/>
              </a:ext>
            </a:extLst>
          </p:cNvPr>
          <p:cNvSpPr txBox="1"/>
          <p:nvPr/>
        </p:nvSpPr>
        <p:spPr>
          <a:xfrm>
            <a:off x="91440" y="1757680"/>
            <a:ext cx="12015216" cy="5293757"/>
          </a:xfrm>
          <a:prstGeom prst="rect">
            <a:avLst/>
          </a:prstGeom>
          <a:noFill/>
        </p:spPr>
        <p:txBody>
          <a:bodyPr wrap="square" rtlCol="0">
            <a:spAutoFit/>
          </a:bodyPr>
          <a:lstStyle/>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4. Model Training &amp; Evaluation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Split data into </a:t>
            </a:r>
            <a:r>
              <a:rPr kumimoji="0" lang="en-US" altLang="en-US" sz="2000" b="1" i="0" u="none" strike="noStrike" cap="none" normalizeH="0" baseline="0" dirty="0">
                <a:ln>
                  <a:noFill/>
                </a:ln>
                <a:solidFill>
                  <a:schemeClr val="tx1"/>
                </a:solidFill>
                <a:effectLst/>
                <a:latin typeface="Arial" panose="020B0604020202020204" pitchFamily="34" charset="0"/>
              </a:rPr>
              <a:t>training (70%) &amp; testing (30%)</a:t>
            </a:r>
            <a:r>
              <a:rPr kumimoji="0" lang="en-US" altLang="en-US" sz="2000" b="0" i="0" u="none" strike="noStrike" cap="none" normalizeH="0" baseline="0" dirty="0">
                <a:ln>
                  <a:noFill/>
                </a:ln>
                <a:solidFill>
                  <a:schemeClr val="tx1"/>
                </a:solidFill>
                <a:effectLst/>
                <a:latin typeface="Arial" panose="020B0604020202020204" pitchFamily="34" charset="0"/>
              </a:rPr>
              <a:t> sets.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Use </a:t>
            </a:r>
            <a:r>
              <a:rPr kumimoji="0" lang="en-US" altLang="en-US" sz="2000" b="1" i="0" u="none" strike="noStrike" cap="none" normalizeH="0" baseline="0" dirty="0">
                <a:ln>
                  <a:noFill/>
                </a:ln>
                <a:solidFill>
                  <a:schemeClr val="tx1"/>
                </a:solidFill>
                <a:effectLst/>
                <a:latin typeface="Arial" panose="020B0604020202020204" pitchFamily="34" charset="0"/>
              </a:rPr>
              <a:t>Cross-validation</a:t>
            </a:r>
            <a:r>
              <a:rPr kumimoji="0" lang="en-US" altLang="en-US" sz="2000" b="0" i="0" u="none" strike="noStrike" cap="none" normalizeH="0" baseline="0" dirty="0">
                <a:ln>
                  <a:noFill/>
                </a:ln>
                <a:solidFill>
                  <a:schemeClr val="tx1"/>
                </a:solidFill>
                <a:effectLst/>
                <a:latin typeface="Arial" panose="020B0604020202020204" pitchFamily="34" charset="0"/>
              </a:rPr>
              <a:t> to ensure model generalizability.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Evaluate performance using </a:t>
            </a:r>
            <a:r>
              <a:rPr kumimoji="0" lang="en-US" altLang="en-US" sz="2000" b="1" i="0" u="none" strike="noStrike" cap="none" normalizeH="0" baseline="0" dirty="0">
                <a:ln>
                  <a:noFill/>
                </a:ln>
                <a:solidFill>
                  <a:schemeClr val="tx1"/>
                </a:solidFill>
                <a:effectLst/>
                <a:latin typeface="Arial" panose="020B0604020202020204" pitchFamily="34" charset="0"/>
              </a:rPr>
              <a:t>accuracy, precision, recall, and F1-score</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rPr>
              <a:t>5. Deployment &amp; Application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Implement the model for </a:t>
            </a:r>
            <a:r>
              <a:rPr kumimoji="0" lang="en-US" altLang="en-US" sz="2000" b="1" i="0" u="none" strike="noStrike" cap="none" normalizeH="0" baseline="0" dirty="0">
                <a:ln>
                  <a:noFill/>
                </a:ln>
                <a:solidFill>
                  <a:schemeClr val="tx1"/>
                </a:solidFill>
                <a:effectLst/>
                <a:latin typeface="Arial" panose="020B0604020202020204" pitchFamily="34" charset="0"/>
              </a:rPr>
              <a:t>real-time risk prediction</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Provide personalized prevention strategies based on results</a:t>
            </a:r>
            <a:r>
              <a:rPr kumimoji="0" lang="en-US" altLang="en-US" sz="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2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a:t>
            </a:r>
          </a:p>
          <a:p>
            <a:endParaRPr lang="en-US" dirty="0"/>
          </a:p>
        </p:txBody>
      </p:sp>
    </p:spTree>
    <p:extLst>
      <p:ext uri="{BB962C8B-B14F-4D97-AF65-F5344CB8AC3E}">
        <p14:creationId xmlns:p14="http://schemas.microsoft.com/office/powerpoint/2010/main" val="3227300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23B14C12-32A9-F237-7D57-539BAC6BC797}"/>
              </a:ext>
            </a:extLst>
          </p:cNvPr>
          <p:cNvSpPr>
            <a:spLocks noGrp="1"/>
          </p:cNvSpPr>
          <p:nvPr>
            <p:ph type="title"/>
          </p:nvPr>
        </p:nvSpPr>
        <p:spPr>
          <a:xfrm>
            <a:off x="960120" y="1264443"/>
            <a:ext cx="10515600" cy="493237"/>
          </a:xfrm>
        </p:spPr>
        <p:txBody>
          <a:bodyPr>
            <a:normAutofit fontScale="90000"/>
          </a:bodyPr>
          <a:lstStyle/>
          <a:p>
            <a:pPr algn="ctr"/>
            <a:r>
              <a:rPr lang="en-IN" sz="3200" b="1" dirty="0">
                <a:solidFill>
                  <a:srgbClr val="FF0000"/>
                </a:solidFill>
                <a:latin typeface="Bookman Old Style" panose="02050604050505020204" pitchFamily="18" charset="0"/>
              </a:rPr>
              <a:t>Progress Status</a:t>
            </a:r>
          </a:p>
        </p:txBody>
      </p:sp>
      <p:graphicFrame>
        <p:nvGraphicFramePr>
          <p:cNvPr id="9" name="Content Placeholder 8">
            <a:extLst>
              <a:ext uri="{FF2B5EF4-FFF2-40B4-BE49-F238E27FC236}">
                <a16:creationId xmlns:a16="http://schemas.microsoft.com/office/drawing/2014/main" id="{36806186-4F7B-B0E3-C5D1-A7298E3F22FD}"/>
              </a:ext>
            </a:extLst>
          </p:cNvPr>
          <p:cNvGraphicFramePr>
            <a:graphicFrameLocks noGrp="1"/>
          </p:cNvGraphicFramePr>
          <p:nvPr>
            <p:ph idx="1"/>
          </p:nvPr>
        </p:nvGraphicFramePr>
        <p:xfrm>
          <a:off x="0" y="-38736"/>
          <a:ext cx="12192000" cy="1056639"/>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67487573"/>
                    </a:ext>
                  </a:extLst>
                </a:gridCol>
              </a:tblGrid>
              <a:tr h="1056639">
                <a:tc>
                  <a:txBody>
                    <a:bodyPr/>
                    <a:lstStyle/>
                    <a:p>
                      <a:pPr algn="ctr">
                        <a:lnSpc>
                          <a:spcPct val="100000"/>
                        </a:lnSpc>
                        <a:spcAft>
                          <a:spcPts val="0"/>
                        </a:spcAft>
                      </a:pPr>
                      <a:r>
                        <a:rPr lang="en-IN" sz="24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School of Technology</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Department of Computer Science and Engineering</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Academic Year (2024 – 25)</a:t>
                      </a:r>
                      <a:endParaRPr lang="en-IN" dirty="0"/>
                    </a:p>
                  </a:txBody>
                  <a:tcPr>
                    <a:solidFill>
                      <a:schemeClr val="accent4">
                        <a:lumMod val="60000"/>
                        <a:lumOff val="40000"/>
                      </a:schemeClr>
                    </a:solidFill>
                  </a:tcPr>
                </a:tc>
                <a:extLst>
                  <a:ext uri="{0D108BD9-81ED-4DB2-BD59-A6C34878D82A}">
                    <a16:rowId xmlns:a16="http://schemas.microsoft.com/office/drawing/2014/main" val="3977786082"/>
                  </a:ext>
                </a:extLst>
              </a:tr>
            </a:tbl>
          </a:graphicData>
        </a:graphic>
      </p:graphicFrame>
      <p:pic>
        <p:nvPicPr>
          <p:cNvPr id="12" name="Picture 11">
            <a:extLst>
              <a:ext uri="{FF2B5EF4-FFF2-40B4-BE49-F238E27FC236}">
                <a16:creationId xmlns:a16="http://schemas.microsoft.com/office/drawing/2014/main" id="{1A3CFC8D-DA47-A3AC-1E00-1A6E07F6758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 y="-5080"/>
            <a:ext cx="2956560" cy="1056639"/>
          </a:xfrm>
          <a:prstGeom prst="rect">
            <a:avLst/>
          </a:prstGeom>
          <a:noFill/>
          <a:ln>
            <a:noFill/>
          </a:ln>
        </p:spPr>
      </p:pic>
      <p:sp>
        <p:nvSpPr>
          <p:cNvPr id="2" name="Rectangle 1">
            <a:extLst>
              <a:ext uri="{FF2B5EF4-FFF2-40B4-BE49-F238E27FC236}">
                <a16:creationId xmlns:a16="http://schemas.microsoft.com/office/drawing/2014/main" id="{7858EE3F-993F-8DD3-A6BA-3614D2725E3E}"/>
              </a:ext>
            </a:extLst>
          </p:cNvPr>
          <p:cNvSpPr>
            <a:spLocks noChangeArrowheads="1"/>
          </p:cNvSpPr>
          <p:nvPr/>
        </p:nvSpPr>
        <p:spPr bwMode="auto">
          <a:xfrm>
            <a:off x="164592" y="1695704"/>
            <a:ext cx="12106656" cy="502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1. Data Collection</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Completed</a:t>
            </a: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Genetic &amp; serum biomarker data collected.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Preprocessing &amp; feature selection applied.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2. Model Development</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Completed</a:t>
            </a: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Implemented </a:t>
            </a:r>
            <a:r>
              <a:rPr kumimoji="0" lang="en-US" altLang="en-US" b="1" i="0" u="none" strike="noStrike" cap="none" normalizeH="0" baseline="0" dirty="0">
                <a:ln>
                  <a:noFill/>
                </a:ln>
                <a:solidFill>
                  <a:schemeClr val="tx1"/>
                </a:solidFill>
                <a:effectLst/>
                <a:latin typeface="Arial" panose="020B0604020202020204" pitchFamily="34" charset="0"/>
              </a:rPr>
              <a:t>Random Forest, SVM, and </a:t>
            </a:r>
            <a:r>
              <a:rPr kumimoji="0" lang="en-US" altLang="en-US" b="1" i="0" u="none" strike="noStrike" cap="none" normalizeH="0" baseline="0" dirty="0" err="1">
                <a:ln>
                  <a:noFill/>
                </a:ln>
                <a:solidFill>
                  <a:schemeClr val="tx1"/>
                </a:solidFill>
                <a:effectLst/>
                <a:latin typeface="Arial" panose="020B0604020202020204" pitchFamily="34" charset="0"/>
              </a:rPr>
              <a:t>XGBoost</a:t>
            </a:r>
            <a:r>
              <a:rPr kumimoji="0" lang="en-US" altLang="en-US" b="0" i="0" u="none" strike="noStrike" cap="none" normalizeH="0" baseline="0" dirty="0">
                <a:ln>
                  <a:noFill/>
                </a:ln>
                <a:solidFill>
                  <a:schemeClr val="tx1"/>
                </a:solidFill>
                <a:effectLst/>
                <a:latin typeface="Arial" panose="020B0604020202020204" pitchFamily="34" charset="0"/>
              </a:rPr>
              <a:t> models.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err="1">
                <a:ln>
                  <a:noFill/>
                </a:ln>
                <a:solidFill>
                  <a:schemeClr val="tx1"/>
                </a:solidFill>
                <a:effectLst/>
                <a:latin typeface="Arial" panose="020B0604020202020204" pitchFamily="34" charset="0"/>
              </a:rPr>
              <a:t>XGBoost</a:t>
            </a:r>
            <a:r>
              <a:rPr kumimoji="0" lang="en-US" altLang="en-US" b="0" i="0" u="none" strike="noStrike" cap="none" normalizeH="0" baseline="0" dirty="0">
                <a:ln>
                  <a:noFill/>
                </a:ln>
                <a:solidFill>
                  <a:schemeClr val="tx1"/>
                </a:solidFill>
                <a:effectLst/>
                <a:latin typeface="Arial" panose="020B0604020202020204" pitchFamily="34" charset="0"/>
              </a:rPr>
              <a:t> achieved </a:t>
            </a:r>
            <a:r>
              <a:rPr kumimoji="0" lang="en-US" altLang="en-US" b="1" i="0" u="none" strike="noStrike" cap="none" normalizeH="0" baseline="0" dirty="0">
                <a:ln>
                  <a:noFill/>
                </a:ln>
                <a:solidFill>
                  <a:schemeClr val="tx1"/>
                </a:solidFill>
                <a:effectLst/>
                <a:latin typeface="Arial" panose="020B0604020202020204" pitchFamily="34" charset="0"/>
              </a:rPr>
              <a:t>95% accuracy</a:t>
            </a:r>
            <a:r>
              <a:rPr kumimoji="0" lang="en-US" altLang="en-US" b="0" i="0" u="none" strike="noStrike" cap="none" normalizeH="0" baseline="0" dirty="0">
                <a:ln>
                  <a:noFill/>
                </a:ln>
                <a:solidFill>
                  <a:schemeClr val="tx1"/>
                </a:solidFill>
                <a:effectLst/>
                <a:latin typeface="Arial" panose="020B0604020202020204" pitchFamily="34" charset="0"/>
              </a:rPr>
              <a:t> (best performance).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3. Model Evaluation</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Completed</a:t>
            </a: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Cross-validation applied for model robustness.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Performance metrics analyzed (</a:t>
            </a:r>
            <a:r>
              <a:rPr kumimoji="0" lang="en-US" altLang="en-US" b="1" i="0" u="none" strike="noStrike" cap="none" normalizeH="0" baseline="0" dirty="0">
                <a:ln>
                  <a:noFill/>
                </a:ln>
                <a:solidFill>
                  <a:schemeClr val="tx1"/>
                </a:solidFill>
                <a:effectLst/>
                <a:latin typeface="Arial" panose="020B0604020202020204" pitchFamily="34" charset="0"/>
              </a:rPr>
              <a:t>accuracy, precision, recall, F1-score</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4. Result Analysis</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Completed</a:t>
            </a: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Identified </a:t>
            </a:r>
            <a:r>
              <a:rPr kumimoji="0" lang="en-US" altLang="en-US" b="1" i="0" u="none" strike="noStrike" cap="none" normalizeH="0" baseline="0" dirty="0">
                <a:ln>
                  <a:noFill/>
                </a:ln>
                <a:solidFill>
                  <a:schemeClr val="tx1"/>
                </a:solidFill>
                <a:effectLst/>
                <a:latin typeface="Arial" panose="020B0604020202020204" pitchFamily="34" charset="0"/>
              </a:rPr>
              <a:t>key factors</a:t>
            </a:r>
            <a:r>
              <a:rPr kumimoji="0" lang="en-US" altLang="en-US" b="0" i="0" u="none" strike="noStrike" cap="none" normalizeH="0" baseline="0" dirty="0">
                <a:ln>
                  <a:noFill/>
                </a:ln>
                <a:solidFill>
                  <a:schemeClr val="tx1"/>
                </a:solidFill>
                <a:effectLst/>
                <a:latin typeface="Arial" panose="020B0604020202020204" pitchFamily="34" charset="0"/>
              </a:rPr>
              <a:t> affecting kidney stone formation.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Visualized feature importance &amp; model predictions. </a:t>
            </a:r>
          </a:p>
        </p:txBody>
      </p:sp>
    </p:spTree>
    <p:extLst>
      <p:ext uri="{BB962C8B-B14F-4D97-AF65-F5344CB8AC3E}">
        <p14:creationId xmlns:p14="http://schemas.microsoft.com/office/powerpoint/2010/main" val="3779030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3E5B5-9DD4-0027-AD4E-F30B727E5637}"/>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09CB7169-E673-020A-1B0E-3B065F6F7C5C}"/>
              </a:ext>
            </a:extLst>
          </p:cNvPr>
          <p:cNvSpPr>
            <a:spLocks noGrp="1"/>
          </p:cNvSpPr>
          <p:nvPr>
            <p:ph type="title"/>
          </p:nvPr>
        </p:nvSpPr>
        <p:spPr>
          <a:xfrm>
            <a:off x="960120" y="1264443"/>
            <a:ext cx="10515600" cy="493237"/>
          </a:xfrm>
        </p:spPr>
        <p:txBody>
          <a:bodyPr>
            <a:normAutofit fontScale="90000"/>
          </a:bodyPr>
          <a:lstStyle/>
          <a:p>
            <a:pPr algn="ctr"/>
            <a:r>
              <a:rPr lang="en-IN" sz="3200" b="1" dirty="0">
                <a:solidFill>
                  <a:srgbClr val="FF0000"/>
                </a:solidFill>
                <a:latin typeface="Bookman Old Style" panose="02050604050505020204" pitchFamily="18" charset="0"/>
              </a:rPr>
              <a:t>Progress Status</a:t>
            </a:r>
          </a:p>
        </p:txBody>
      </p:sp>
      <p:graphicFrame>
        <p:nvGraphicFramePr>
          <p:cNvPr id="9" name="Content Placeholder 8">
            <a:extLst>
              <a:ext uri="{FF2B5EF4-FFF2-40B4-BE49-F238E27FC236}">
                <a16:creationId xmlns:a16="http://schemas.microsoft.com/office/drawing/2014/main" id="{3C1F7C08-FB4F-67A4-C757-7208C1694F13}"/>
              </a:ext>
            </a:extLst>
          </p:cNvPr>
          <p:cNvGraphicFramePr>
            <a:graphicFrameLocks noGrp="1"/>
          </p:cNvGraphicFramePr>
          <p:nvPr>
            <p:ph idx="1"/>
          </p:nvPr>
        </p:nvGraphicFramePr>
        <p:xfrm>
          <a:off x="0" y="-38736"/>
          <a:ext cx="12192000" cy="1056639"/>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67487573"/>
                    </a:ext>
                  </a:extLst>
                </a:gridCol>
              </a:tblGrid>
              <a:tr h="1056639">
                <a:tc>
                  <a:txBody>
                    <a:bodyPr/>
                    <a:lstStyle/>
                    <a:p>
                      <a:pPr algn="ctr">
                        <a:lnSpc>
                          <a:spcPct val="100000"/>
                        </a:lnSpc>
                        <a:spcAft>
                          <a:spcPts val="0"/>
                        </a:spcAft>
                      </a:pPr>
                      <a:r>
                        <a:rPr lang="en-IN" sz="24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School of Technology</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Department of Computer Science and Engineering</a:t>
                      </a:r>
                      <a:endParaRPr lang="en-IN"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0000"/>
                        </a:lnSpc>
                        <a:spcAft>
                          <a:spcPts val="0"/>
                        </a:spcAft>
                        <a:tabLst>
                          <a:tab pos="774700" algn="l"/>
                          <a:tab pos="2865755" algn="ctr"/>
                        </a:tabLst>
                      </a:pPr>
                      <a:r>
                        <a:rPr lang="en-IN" sz="1800" kern="100" dirty="0">
                          <a:solidFill>
                            <a:schemeClr val="tx1"/>
                          </a:solidFill>
                          <a:effectLst/>
                          <a:latin typeface="Bookman Old Style" panose="02050604050505020204" pitchFamily="18" charset="0"/>
                          <a:ea typeface="Calibri" panose="020F0502020204030204" pitchFamily="34" charset="0"/>
                          <a:cs typeface="Times New Roman" panose="02020603050405020304" pitchFamily="18" charset="0"/>
                        </a:rPr>
                        <a:t>Academic Year (2024 – 25)</a:t>
                      </a:r>
                      <a:endParaRPr lang="en-IN" dirty="0"/>
                    </a:p>
                  </a:txBody>
                  <a:tcPr>
                    <a:solidFill>
                      <a:schemeClr val="accent4">
                        <a:lumMod val="60000"/>
                        <a:lumOff val="40000"/>
                      </a:schemeClr>
                    </a:solidFill>
                  </a:tcPr>
                </a:tc>
                <a:extLst>
                  <a:ext uri="{0D108BD9-81ED-4DB2-BD59-A6C34878D82A}">
                    <a16:rowId xmlns:a16="http://schemas.microsoft.com/office/drawing/2014/main" val="3977786082"/>
                  </a:ext>
                </a:extLst>
              </a:tr>
            </a:tbl>
          </a:graphicData>
        </a:graphic>
      </p:graphicFrame>
      <p:pic>
        <p:nvPicPr>
          <p:cNvPr id="12" name="Picture 11">
            <a:extLst>
              <a:ext uri="{FF2B5EF4-FFF2-40B4-BE49-F238E27FC236}">
                <a16:creationId xmlns:a16="http://schemas.microsoft.com/office/drawing/2014/main" id="{4BF050FF-B70F-9EC2-8CED-A2D6F79523D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 y="-5080"/>
            <a:ext cx="2956560" cy="1056639"/>
          </a:xfrm>
          <a:prstGeom prst="rect">
            <a:avLst/>
          </a:prstGeom>
          <a:noFill/>
          <a:ln>
            <a:noFill/>
          </a:ln>
        </p:spPr>
      </p:pic>
      <p:sp>
        <p:nvSpPr>
          <p:cNvPr id="2" name="Rectangle 1">
            <a:extLst>
              <a:ext uri="{FF2B5EF4-FFF2-40B4-BE49-F238E27FC236}">
                <a16:creationId xmlns:a16="http://schemas.microsoft.com/office/drawing/2014/main" id="{3717886E-EE9B-AAEC-1171-8B7248023980}"/>
              </a:ext>
            </a:extLst>
          </p:cNvPr>
          <p:cNvSpPr>
            <a:spLocks noChangeArrowheads="1"/>
          </p:cNvSpPr>
          <p:nvPr/>
        </p:nvSpPr>
        <p:spPr bwMode="auto">
          <a:xfrm>
            <a:off x="365760" y="1848519"/>
            <a:ext cx="11923776"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5. Report &amp; Presentation Preparation</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Ongoing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Documenting findings for the final report.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Preparing PowerPoint slides with visuals &amp; insights.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6. Future Work</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Next Steps</a:t>
            </a: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Explore IoT-based hydration monitoring.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Expand dataset for higher generalizability. </a:t>
            </a:r>
          </a:p>
        </p:txBody>
      </p:sp>
    </p:spTree>
    <p:extLst>
      <p:ext uri="{BB962C8B-B14F-4D97-AF65-F5344CB8AC3E}">
        <p14:creationId xmlns:p14="http://schemas.microsoft.com/office/powerpoint/2010/main" val="4093808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776</TotalTime>
  <Words>1088</Words>
  <Application>Microsoft Office PowerPoint</Application>
  <PresentationFormat>Widescreen</PresentationFormat>
  <Paragraphs>121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Bookman Old Style</vt:lpstr>
      <vt:lpstr>Calibri</vt:lpstr>
      <vt:lpstr>Calibri Light</vt:lpstr>
      <vt:lpstr>Times New Roman</vt:lpstr>
      <vt:lpstr>Wingdings</vt:lpstr>
      <vt:lpstr>Office Theme</vt:lpstr>
      <vt:lpstr>Internship Project Presentation - I</vt:lpstr>
      <vt:lpstr>Abstract</vt:lpstr>
      <vt:lpstr>Aim and Objectives</vt:lpstr>
      <vt:lpstr>Aim and Objectives</vt:lpstr>
      <vt:lpstr>Aim and Objectives</vt:lpstr>
      <vt:lpstr>Problem Definition</vt:lpstr>
      <vt:lpstr>Proposed Method</vt:lpstr>
      <vt:lpstr>Proposed Method</vt:lpstr>
      <vt:lpstr>Progress Status</vt:lpstr>
      <vt:lpstr>Progress Status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Jegan J</dc:creator>
  <cp:lastModifiedBy>K S CHARAN</cp:lastModifiedBy>
  <cp:revision>110</cp:revision>
  <dcterms:created xsi:type="dcterms:W3CDTF">2024-07-02T09:50:57Z</dcterms:created>
  <dcterms:modified xsi:type="dcterms:W3CDTF">2025-02-02T08:36:31Z</dcterms:modified>
</cp:coreProperties>
</file>